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here to introduce Climate Action Connect, a platform designed to move the needle from climate necessity to concrete implementation. Today, we invite you to look closely at our demonstrable MVP as we prepare for October 15,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bottleneck in climate action is no longer a lack of data. It is the friction between isolated solutions and real-world execution. We must transform this dispersed information into concrete paths of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that challenge, Climate Action Connect bridges intention and execution by answering a single question: who can help me implement this? We map the journey from challenge to solution, partner, and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need to reinvent the wheel, but rather build upon existing global repositories. The CAC adds a crucial layer of intelligent matchmaking and execution paths to platforms like the UNFCCC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seamless, users enter through four distinct doors based on their immediate intent. Whether looking for a solution, funding, or a partner, they all rely on the same powerful connection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robust platform means balancing public discovery with private action. We designed two distinct interfaces powered by the exact same engine to keep the ecosystem seamlessly connected. Visitors explore solutions freely, while registered organizations manage their contributions and requests. Building on how users enter through our four main portals, this dual experience ensures that discovering a need naturally leads to managing a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overload slows down climate action, but intelligent recommendations cut straight through the noise. We don't just match keywords; our engine calculates a weighted score blending semantic meaning, regional scale, and technological maturity. And we make every match transparent so users immediately understand why a specific partner or funding source is recommended. Building on our integrated platform architecture, this intelligence engine transforms raw data into actionable pathways.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climate actors requires a clear, frictionless pathway from intent to introduction. A user describes a challenge, reviews ranked solutions with precise confidence scores, and initiates contact in just a few clicks. The platform facilitates that crucial digital handshake before stepping aside for direct collaboration. Moving from our intelligent recommendation engine, this step-by-step workflow turns discovery into real-world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Delivering a robust MVP on a tight deadline means ruthless prioritization without compromising core value. We focused exclusively on the essential journey of discovery, matching, and connection while purposefully deferring secondary features to Phase 2. This strict boundary protects our launch timeline while preserving the complete end-to-end demonstration. Building on our streamlined user journey, this focused scope ensures we hit our delivery milestone with absolute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credible network requires built-in safety from day one. We ensure that every organization and piece of content goes through a strict verification flow before going live. By defining clear roles and staged content states, we protect the integrity of the ecosystem. This governance model builds the exact foundation our partners need to collaborate securely.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alone does not solve climate challenges. We measure real progress by how smoothly an introduction turns into a concrete partnership. From initial search and score feedback to accepted handshakes and mobilized capital, every step moves us closer to ground-level impact. And this metric keeps our focus entirely on actionable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robust systems means keeping things pragmatic and lean. We rely on a proven Enterprise JavaScript stack running inside a clean monorepo architecture to move fast without sacrificing reliability. Everything is organized around a unified backend, shared validation contracts, and vector embeddings that power our intelligent matching engine. And because we structured the six-week timeline into strict, functional sprints, we can guarantee a stable, containerized staging environment ready for the October deadline. Let's look at how this strict execution plan unfolds sprint by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Execution speed determines our window of opportunity. We have mapped out a rigorous six-week sprint to deliver a fully functional end-to-end demonstration by mid-October. By keeping our team focused and protecting our core scope, we will prove that this complete cycle works. So let us validate this MVP core and prepare for the October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614363" y="500063"/>
            <a:ext cx="7915275" cy="150019"/>
          </a:xfrm>
          <a:prstGeom prst="rect">
            <a:avLst/>
          </a:prstGeom>
          <a:noFill/>
          <a:ln/>
        </p:spPr>
        <p:txBody>
          <a:bodyPr wrap="square" lIns="0" tIns="0" rIns="0" bIns="0" rtlCol="0" anchor="t">
            <a:spAutoFit/>
          </a:bodyPr>
          <a:lstStyle/>
          <a:p>
            <a:pPr algn="l" indent="0" marL="0">
              <a:buNone/>
            </a:pPr>
            <a:r>
              <a:rPr lang="en-US" sz="900" b="1" spc="2" kern="0" dirty="0">
                <a:solidFill>
                  <a:srgbClr val="A8DADC"/>
                </a:solidFill>
                <a:latin typeface="Arial" pitchFamily="34" charset="0"/>
                <a:ea typeface="Arial" pitchFamily="34" charset="-122"/>
                <a:cs typeface="Arial" pitchFamily="34" charset="-120"/>
              </a:rPr>
              <a:t>MVP DEMONSTRÁVEL · 15 DE OUTUBRO DE 2026</a:t>
            </a:r>
            <a:endParaRPr lang="en-US" sz="900" dirty="0"/>
          </a:p>
        </p:txBody>
      </p:sp>
      <p:sp>
        <p:nvSpPr>
          <p:cNvPr id="5" name="Text 1"/>
          <p:cNvSpPr/>
          <p:nvPr/>
        </p:nvSpPr>
        <p:spPr>
          <a:xfrm>
            <a:off x="614363" y="907256"/>
            <a:ext cx="4643438" cy="1512075"/>
          </a:xfrm>
          <a:prstGeom prst="rect">
            <a:avLst/>
          </a:prstGeom>
          <a:noFill/>
          <a:ln/>
        </p:spPr>
        <p:txBody>
          <a:bodyPr wrap="square" lIns="0" tIns="0" rIns="0" bIns="0" rtlCol="0" anchor="t">
            <a:spAutoFit/>
          </a:bodyPr>
          <a:lstStyle/>
          <a:p>
            <a:pPr algn="l" indent="0" marL="0">
              <a:lnSpc>
                <a:spcPct val="78400"/>
              </a:lnSpc>
              <a:buNone/>
            </a:pPr>
            <a:r>
              <a:rPr lang="en-US" sz="3750" b="1" spc="-2" kern="0" dirty="0">
                <a:solidFill>
                  <a:srgbClr val="FFFFFF"/>
                </a:solidFill>
                <a:latin typeface="Arial" pitchFamily="34" charset="0"/>
                <a:ea typeface="Arial" pitchFamily="34" charset="-122"/>
                <a:cs typeface="Arial" pitchFamily="34" charset="-120"/>
              </a:rPr>
              <a:t>Climate</a:t>
            </a:r>
            <a:r>
              <a:rPr lang="en-US" sz="3750" b="1" spc="-2" kern="0" dirty="0">
                <a:solidFill>
                  <a:srgbClr val="FFFFFF"/>
                </a:solidFill>
                <a:latin typeface="Arial" pitchFamily="34" charset="0"/>
                <a:ea typeface="Arial" pitchFamily="34" charset="-122"/>
                <a:cs typeface="Arial" pitchFamily="34" charset="-120"/>
              </a:rPr>
              <a:t>
</a:t>
            </a:r>
            <a:r>
              <a:rPr lang="en-US" sz="3750" b="1" spc="-2" kern="0" dirty="0">
                <a:solidFill>
                  <a:srgbClr val="FFFFFF"/>
                </a:solidFill>
                <a:latin typeface="Arial" pitchFamily="34" charset="0"/>
                <a:ea typeface="Arial" pitchFamily="34" charset="-122"/>
                <a:cs typeface="Arial" pitchFamily="34" charset="-120"/>
              </a:rPr>
              <a:t>Action</a:t>
            </a:r>
            <a:r>
              <a:rPr lang="en-US" sz="3750" b="1" spc="-2" kern="0" dirty="0">
                <a:solidFill>
                  <a:srgbClr val="FFFFFF"/>
                </a:solidFill>
                <a:latin typeface="Arial" pitchFamily="34" charset="0"/>
                <a:ea typeface="Arial" pitchFamily="34" charset="-122"/>
                <a:cs typeface="Arial" pitchFamily="34" charset="-120"/>
              </a:rPr>
              <a:t>
</a:t>
            </a:r>
            <a:r>
              <a:rPr lang="en-US" sz="3750" b="1" spc="-2" kern="0" dirty="0">
                <a:solidFill>
                  <a:srgbClr val="FFFFFF"/>
                </a:solidFill>
                <a:latin typeface="Arial" pitchFamily="34" charset="0"/>
                <a:ea typeface="Arial" pitchFamily="34" charset="-122"/>
                <a:cs typeface="Arial" pitchFamily="34" charset="-120"/>
              </a:rPr>
              <a:t>Connect</a:t>
            </a:r>
            <a:endParaRPr lang="en-US" sz="3750" dirty="0"/>
          </a:p>
        </p:txBody>
      </p:sp>
      <p:sp>
        <p:nvSpPr>
          <p:cNvPr id="6" name="Text 2"/>
          <p:cNvSpPr/>
          <p:nvPr/>
        </p:nvSpPr>
        <p:spPr>
          <a:xfrm>
            <a:off x="614363" y="2619356"/>
            <a:ext cx="3571875" cy="535781"/>
          </a:xfrm>
          <a:prstGeom prst="rect">
            <a:avLst/>
          </a:prstGeom>
          <a:noFill/>
          <a:ln/>
        </p:spPr>
        <p:txBody>
          <a:bodyPr wrap="square" lIns="0" tIns="0" rIns="0" bIns="0" rtlCol="0" anchor="t">
            <a:spAutoFit/>
          </a:bodyPr>
          <a:lstStyle/>
          <a:p>
            <a:pPr algn="l" indent="0" marL="0">
              <a:lnSpc>
                <a:spcPct val="100000"/>
              </a:lnSpc>
              <a:buNone/>
            </a:pPr>
            <a:r>
              <a:rPr lang="en-US" sz="1600" dirty="0">
                <a:solidFill>
                  <a:srgbClr val="E8F1F2"/>
                </a:solidFill>
                <a:latin typeface="Georgia" pitchFamily="34" charset="0"/>
                <a:ea typeface="Georgia" pitchFamily="34" charset="-122"/>
                <a:cs typeface="Georgia" pitchFamily="34" charset="-120"/>
              </a:rPr>
              <a:t>Da necessidade à implementação climática.</a:t>
            </a:r>
            <a:endParaRPr lang="en-US" sz="1600" dirty="0"/>
          </a:p>
        </p:txBody>
      </p:sp>
      <p:sp>
        <p:nvSpPr>
          <p:cNvPr id="7" name="Shape 3"/>
          <p:cNvSpPr/>
          <p:nvPr/>
        </p:nvSpPr>
        <p:spPr>
          <a:xfrm>
            <a:off x="614363" y="3626625"/>
            <a:ext cx="3429000" cy="478631"/>
          </a:xfrm>
          <a:prstGeom prst="rect">
            <a:avLst/>
          </a:prstGeom>
          <a:solidFill>
            <a:srgbClr val="000000">
              <a:alpha val="0"/>
            </a:srgbClr>
          </a:solidFill>
          <a:ln/>
        </p:spPr>
      </p:sp>
      <p:sp>
        <p:nvSpPr>
          <p:cNvPr id="8" name="Shape 4"/>
          <p:cNvSpPr/>
          <p:nvPr/>
        </p:nvSpPr>
        <p:spPr>
          <a:xfrm>
            <a:off x="614363" y="3626625"/>
            <a:ext cx="3429000" cy="28575"/>
          </a:xfrm>
          <a:prstGeom prst="rect">
            <a:avLst/>
          </a:prstGeom>
          <a:solidFill>
            <a:srgbClr val="F4B942"/>
          </a:solidFill>
          <a:ln/>
        </p:spPr>
      </p:sp>
      <p:sp>
        <p:nvSpPr>
          <p:cNvPr id="9" name="Text 5"/>
          <p:cNvSpPr/>
          <p:nvPr/>
        </p:nvSpPr>
        <p:spPr>
          <a:xfrm>
            <a:off x="614363" y="3626625"/>
            <a:ext cx="3429000" cy="478631"/>
          </a:xfrm>
          <a:prstGeom prst="rect">
            <a:avLst/>
          </a:prstGeom>
          <a:noFill/>
          <a:ln/>
        </p:spPr>
        <p:txBody>
          <a:bodyPr wrap="square" lIns="0" tIns="153035" rIns="0" bIns="0" rtlCol="0" anchor="t">
            <a:spAutoFit/>
          </a:bodyPr>
          <a:lstStyle/>
          <a:p>
            <a:pPr algn="l" indent="0" marL="0">
              <a:buNone/>
            </a:pPr>
            <a:r>
              <a:rPr lang="en-US" sz="1050" dirty="0">
                <a:solidFill>
                  <a:srgbClr val="D9E5EE"/>
                </a:solidFill>
                <a:latin typeface="Arial" pitchFamily="34" charset="0"/>
                <a:ea typeface="Arial" pitchFamily="34" charset="-122"/>
                <a:cs typeface="Arial" pitchFamily="34" charset="-120"/>
              </a:rPr>
              <a:t>Uma plataforma global de matchmaking para agricultura, sistemas alimentares e ação climática.</a:t>
            </a:r>
            <a:endParaRPr lang="en-US" sz="1050" dirty="0"/>
          </a:p>
        </p:txBody>
      </p:sp>
      <p:sp>
        <p:nvSpPr>
          <p:cNvPr id="10" name="Shape 6"/>
          <p:cNvSpPr/>
          <p:nvPr/>
        </p:nvSpPr>
        <p:spPr>
          <a:xfrm>
            <a:off x="5893594" y="1593056"/>
            <a:ext cx="1357313" cy="1357313"/>
          </a:xfrm>
          <a:prstGeom prst="ellipse">
            <a:avLst/>
          </a:prstGeom>
          <a:solidFill>
            <a:srgbClr val="167D7F"/>
          </a:solidFill>
          <a:ln w="18288">
            <a:solidFill>
              <a:srgbClr val="A8DADC">
                <a:alpha val="70000"/>
              </a:srgbClr>
            </a:solidFill>
            <a:prstDash val="solid"/>
          </a:ln>
        </p:spPr>
      </p:sp>
      <p:sp>
        <p:nvSpPr>
          <p:cNvPr id="11" name="Text 7"/>
          <p:cNvSpPr/>
          <p:nvPr/>
        </p:nvSpPr>
        <p:spPr>
          <a:xfrm>
            <a:off x="5893594" y="1593056"/>
            <a:ext cx="1357313" cy="1357313"/>
          </a:xfrm>
          <a:prstGeom prst="rect">
            <a:avLst/>
          </a:prstGeom>
          <a:noFill/>
          <a:ln/>
        </p:spPr>
        <p:txBody>
          <a:bodyPr wrap="square" lIns="0" tIns="0" rIns="0" bIns="0" rtlCol="0" anchor="ctr">
            <a:sp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AÇÃO</a:t>
            </a:r>
            <a:endParaRPr lang="en-US" sz="1200" dirty="0"/>
          </a:p>
        </p:txBody>
      </p:sp>
      <p:sp>
        <p:nvSpPr>
          <p:cNvPr id="12" name="Shape 8"/>
          <p:cNvSpPr/>
          <p:nvPr/>
        </p:nvSpPr>
        <p:spPr>
          <a:xfrm>
            <a:off x="5036344" y="1057275"/>
            <a:ext cx="821531" cy="821531"/>
          </a:xfrm>
          <a:prstGeom prst="ellipse">
            <a:avLst/>
          </a:prstGeom>
          <a:solidFill>
            <a:srgbClr val="00B4D8"/>
          </a:solidFill>
          <a:ln w="18288">
            <a:solidFill>
              <a:srgbClr val="A8DADC">
                <a:alpha val="70000"/>
              </a:srgbClr>
            </a:solidFill>
            <a:prstDash val="solid"/>
          </a:ln>
        </p:spPr>
      </p:sp>
      <p:sp>
        <p:nvSpPr>
          <p:cNvPr id="13" name="Text 9"/>
          <p:cNvSpPr/>
          <p:nvPr/>
        </p:nvSpPr>
        <p:spPr>
          <a:xfrm>
            <a:off x="5036344" y="1057275"/>
            <a:ext cx="821531" cy="821531"/>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DESAFIO</a:t>
            </a:r>
            <a:endParaRPr lang="en-US" sz="800" dirty="0"/>
          </a:p>
        </p:txBody>
      </p:sp>
      <p:sp>
        <p:nvSpPr>
          <p:cNvPr id="14" name="Shape 10"/>
          <p:cNvSpPr/>
          <p:nvPr/>
        </p:nvSpPr>
        <p:spPr>
          <a:xfrm>
            <a:off x="7465219" y="1307306"/>
            <a:ext cx="892969" cy="892969"/>
          </a:xfrm>
          <a:prstGeom prst="ellipse">
            <a:avLst/>
          </a:prstGeom>
          <a:solidFill>
            <a:srgbClr val="355C7D"/>
          </a:solidFill>
          <a:ln w="18288">
            <a:solidFill>
              <a:srgbClr val="A8DADC">
                <a:alpha val="70000"/>
              </a:srgbClr>
            </a:solidFill>
            <a:prstDash val="solid"/>
          </a:ln>
        </p:spPr>
      </p:sp>
      <p:sp>
        <p:nvSpPr>
          <p:cNvPr id="15" name="Text 11"/>
          <p:cNvSpPr/>
          <p:nvPr/>
        </p:nvSpPr>
        <p:spPr>
          <a:xfrm>
            <a:off x="7465219" y="1307306"/>
            <a:ext cx="892969" cy="892969"/>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SOLUÇÃO</a:t>
            </a:r>
            <a:endParaRPr lang="en-US" sz="800" dirty="0"/>
          </a:p>
        </p:txBody>
      </p:sp>
      <p:sp>
        <p:nvSpPr>
          <p:cNvPr id="16" name="Shape 12"/>
          <p:cNvSpPr/>
          <p:nvPr/>
        </p:nvSpPr>
        <p:spPr>
          <a:xfrm>
            <a:off x="5179219" y="3164681"/>
            <a:ext cx="785813" cy="785813"/>
          </a:xfrm>
          <a:prstGeom prst="ellipse">
            <a:avLst/>
          </a:prstGeom>
          <a:solidFill>
            <a:srgbClr val="F4B942"/>
          </a:solidFill>
          <a:ln w="18288">
            <a:solidFill>
              <a:srgbClr val="A8DADC">
                <a:alpha val="70000"/>
              </a:srgbClr>
            </a:solidFill>
            <a:prstDash val="solid"/>
          </a:ln>
        </p:spPr>
      </p:sp>
      <p:sp>
        <p:nvSpPr>
          <p:cNvPr id="17" name="Text 13"/>
          <p:cNvSpPr/>
          <p:nvPr/>
        </p:nvSpPr>
        <p:spPr>
          <a:xfrm>
            <a:off x="5179219" y="3164681"/>
            <a:ext cx="785813" cy="785813"/>
          </a:xfrm>
          <a:prstGeom prst="rect">
            <a:avLst/>
          </a:prstGeom>
          <a:noFill/>
          <a:ln/>
        </p:spPr>
        <p:txBody>
          <a:bodyPr wrap="none" lIns="0" tIns="0" rIns="0" bIns="0" rtlCol="0" anchor="ctr">
            <a:spAutoFit/>
          </a:bodyPr>
          <a:lstStyle/>
          <a:p>
            <a:pPr algn="ctr" indent="0" marL="0">
              <a:buNone/>
            </a:pPr>
            <a:r>
              <a:rPr lang="en-US" sz="800" b="1" dirty="0">
                <a:solidFill>
                  <a:srgbClr val="0B1D51"/>
                </a:solidFill>
                <a:latin typeface="Arial" pitchFamily="34" charset="0"/>
                <a:ea typeface="Arial" pitchFamily="34" charset="-122"/>
                <a:cs typeface="Arial" pitchFamily="34" charset="-120"/>
              </a:rPr>
              <a:t>PARCEIRO</a:t>
            </a:r>
            <a:endParaRPr lang="en-US" sz="800" dirty="0"/>
          </a:p>
        </p:txBody>
      </p:sp>
      <p:sp>
        <p:nvSpPr>
          <p:cNvPr id="18" name="Shape 14"/>
          <p:cNvSpPr/>
          <p:nvPr/>
        </p:nvSpPr>
        <p:spPr>
          <a:xfrm>
            <a:off x="7286625" y="3236119"/>
            <a:ext cx="857250" cy="857250"/>
          </a:xfrm>
          <a:prstGeom prst="ellipse">
            <a:avLst/>
          </a:prstGeom>
          <a:solidFill>
            <a:srgbClr val="2A9D8F"/>
          </a:solidFill>
          <a:ln w="18288">
            <a:solidFill>
              <a:srgbClr val="A8DADC">
                <a:alpha val="70000"/>
              </a:srgbClr>
            </a:solidFill>
            <a:prstDash val="solid"/>
          </a:ln>
        </p:spPr>
      </p:sp>
      <p:sp>
        <p:nvSpPr>
          <p:cNvPr id="19" name="Text 15"/>
          <p:cNvSpPr/>
          <p:nvPr/>
        </p:nvSpPr>
        <p:spPr>
          <a:xfrm>
            <a:off x="7286625" y="3236119"/>
            <a:ext cx="857250" cy="85725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RECURSO</a:t>
            </a:r>
            <a:endParaRPr lang="en-US" sz="800" dirty="0"/>
          </a:p>
        </p:txBody>
      </p:sp>
      <p:sp>
        <p:nvSpPr>
          <p:cNvPr id="20" name="Text 16"/>
          <p:cNvSpPr/>
          <p:nvPr/>
        </p:nvSpPr>
        <p:spPr>
          <a:xfrm>
            <a:off x="614363" y="4739878"/>
            <a:ext cx="2797727" cy="132159"/>
          </a:xfrm>
          <a:prstGeom prst="rect">
            <a:avLst/>
          </a:prstGeom>
          <a:noFill/>
          <a:ln/>
        </p:spPr>
        <p:txBody>
          <a:bodyPr wrap="square" lIns="0" tIns="0" rIns="0" bIns="0" rtlCol="0" anchor="t">
            <a:spAutoFit/>
          </a:bodyPr>
          <a:lstStyle/>
          <a:p>
            <a:pPr algn="l" indent="0" marL="0">
              <a:buNone/>
            </a:pPr>
            <a:r>
              <a:rPr lang="en-US" sz="850" spc="1" kern="0" dirty="0">
                <a:solidFill>
                  <a:srgbClr val="A8DADC"/>
                </a:solidFill>
                <a:latin typeface="Arial" pitchFamily="34" charset="0"/>
                <a:ea typeface="Arial" pitchFamily="34" charset="-122"/>
                <a:cs typeface="Arial" pitchFamily="34" charset="-120"/>
              </a:rPr>
              <a:t>EMBRAPA · VALIDAÇÃO COM STAKEHOLDERS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385763"/>
            <a:ext cx="8029575" cy="132159"/>
          </a:xfrm>
          <a:prstGeom prst="rect">
            <a:avLst/>
          </a:prstGeom>
          <a:noFill/>
          <a:ln/>
        </p:spPr>
        <p:txBody>
          <a:bodyPr wrap="square" lIns="0" tIns="0" rIns="0" bIns="0" rtlCol="0" anchor="t">
            <a:spAutoFit/>
          </a:bodyPr>
          <a:lstStyle/>
          <a:p>
            <a:pPr algn="l" indent="0" marL="0">
              <a:buNone/>
            </a:pPr>
            <a:r>
              <a:rPr lang="en-US" sz="800" b="1" spc="2" kern="0" dirty="0">
                <a:solidFill>
                  <a:srgbClr val="167D7F"/>
                </a:solidFill>
                <a:latin typeface="Arial" pitchFamily="34" charset="0"/>
                <a:ea typeface="Arial" pitchFamily="34" charset="-122"/>
                <a:cs typeface="Arial" pitchFamily="34" charset="-120"/>
              </a:rPr>
              <a:t>01 · O PROBLEMA</a:t>
            </a:r>
            <a:endParaRPr lang="en-US" sz="800" dirty="0"/>
          </a:p>
        </p:txBody>
      </p:sp>
      <p:sp>
        <p:nvSpPr>
          <p:cNvPr id="5" name="Text 1"/>
          <p:cNvSpPr/>
          <p:nvPr/>
        </p:nvSpPr>
        <p:spPr>
          <a:xfrm>
            <a:off x="557213" y="632222"/>
            <a:ext cx="6429375" cy="675084"/>
          </a:xfrm>
          <a:prstGeom prst="rect">
            <a:avLst/>
          </a:prstGeom>
          <a:noFill/>
          <a:ln/>
        </p:spPr>
        <p:txBody>
          <a:bodyPr wrap="square" lIns="0" tIns="0" rIns="0" bIns="0" rtlCol="0" anchor="t">
            <a:spAutoFit/>
          </a:bodyPr>
          <a:lstStyle/>
          <a:p>
            <a:pPr algn="l" indent="0" marL="0">
              <a:lnSpc>
                <a:spcPct val="84000"/>
              </a:lnSpc>
              <a:buNone/>
            </a:pPr>
            <a:r>
              <a:rPr lang="en-US" sz="2300" b="1" spc="-1" kern="0" dirty="0">
                <a:solidFill>
                  <a:srgbClr val="0B1D51"/>
                </a:solidFill>
                <a:latin typeface="Arial" pitchFamily="34" charset="0"/>
                <a:ea typeface="Arial" pitchFamily="34" charset="-122"/>
                <a:cs typeface="Arial" pitchFamily="34" charset="-120"/>
              </a:rPr>
              <a:t>O desafio não é falta de informação — é falta de conexão</a:t>
            </a:r>
            <a:endParaRPr lang="en-US" sz="2300" dirty="0"/>
          </a:p>
        </p:txBody>
      </p:sp>
      <p:sp>
        <p:nvSpPr>
          <p:cNvPr id="6" name="Shape 2"/>
          <p:cNvSpPr/>
          <p:nvPr/>
        </p:nvSpPr>
        <p:spPr>
          <a:xfrm>
            <a:off x="557213" y="1621631"/>
            <a:ext cx="2581238" cy="1562305"/>
          </a:xfrm>
          <a:prstGeom prst="rect">
            <a:avLst/>
          </a:prstGeom>
          <a:solidFill>
            <a:srgbClr val="FFFFFF"/>
          </a:solidFill>
          <a:ln/>
        </p:spPr>
      </p:sp>
      <p:sp>
        <p:nvSpPr>
          <p:cNvPr id="7" name="Shape 3"/>
          <p:cNvSpPr/>
          <p:nvPr/>
        </p:nvSpPr>
        <p:spPr>
          <a:xfrm>
            <a:off x="557213" y="1621631"/>
            <a:ext cx="2581238" cy="42863"/>
          </a:xfrm>
          <a:prstGeom prst="rect">
            <a:avLst/>
          </a:prstGeom>
          <a:solidFill>
            <a:srgbClr val="00B4D8"/>
          </a:solidFill>
          <a:ln/>
        </p:spPr>
      </p:sp>
      <p:sp>
        <p:nvSpPr>
          <p:cNvPr id="8" name="Text 4"/>
          <p:cNvSpPr/>
          <p:nvPr/>
        </p:nvSpPr>
        <p:spPr>
          <a:xfrm>
            <a:off x="728663" y="1800225"/>
            <a:ext cx="2238338" cy="310753"/>
          </a:xfrm>
          <a:prstGeom prst="rect">
            <a:avLst/>
          </a:prstGeom>
          <a:noFill/>
          <a:ln/>
        </p:spPr>
        <p:txBody>
          <a:bodyPr wrap="square" lIns="0" tIns="0" rIns="0" bIns="0" rtlCol="0" anchor="t">
            <a:spAutoFit/>
          </a:bodyPr>
          <a:lstStyle/>
          <a:p>
            <a:pPr algn="l" indent="0" marL="0">
              <a:buNone/>
            </a:pPr>
            <a:r>
              <a:rPr lang="en-US" sz="1900" b="1" dirty="0">
                <a:solidFill>
                  <a:srgbClr val="F4B942"/>
                </a:solidFill>
                <a:latin typeface="Arial" pitchFamily="34" charset="0"/>
                <a:ea typeface="Arial" pitchFamily="34" charset="-122"/>
                <a:cs typeface="Arial" pitchFamily="34" charset="-120"/>
              </a:rPr>
              <a:t>01</a:t>
            </a:r>
            <a:endParaRPr lang="en-US" sz="1900" dirty="0"/>
          </a:p>
        </p:txBody>
      </p:sp>
      <p:sp>
        <p:nvSpPr>
          <p:cNvPr id="9" name="Text 5"/>
          <p:cNvSpPr/>
          <p:nvPr/>
        </p:nvSpPr>
        <p:spPr>
          <a:xfrm>
            <a:off x="728663" y="2210991"/>
            <a:ext cx="2238338"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Informação dispersa</a:t>
            </a:r>
            <a:endParaRPr lang="en-US" sz="1100" dirty="0"/>
          </a:p>
        </p:txBody>
      </p:sp>
      <p:sp>
        <p:nvSpPr>
          <p:cNvPr id="10" name="Text 6"/>
          <p:cNvSpPr/>
          <p:nvPr/>
        </p:nvSpPr>
        <p:spPr>
          <a:xfrm>
            <a:off x="728663" y="2461022"/>
            <a:ext cx="2238338" cy="501458"/>
          </a:xfrm>
          <a:prstGeom prst="rect">
            <a:avLst/>
          </a:prstGeom>
          <a:noFill/>
          <a:ln/>
        </p:spPr>
        <p:txBody>
          <a:bodyPr wrap="square" lIns="0" tIns="0" rIns="0" bIns="0" rtlCol="0" anchor="t">
            <a:spAutoFit/>
          </a:bodyPr>
          <a:lstStyle/>
          <a:p>
            <a:pPr algn="l" indent="0" marL="0">
              <a:lnSpc>
                <a:spcPct val="104000"/>
              </a:lnSpc>
              <a:buNone/>
            </a:pPr>
            <a:r>
              <a:rPr lang="en-US" sz="950" dirty="0">
                <a:solidFill>
                  <a:srgbClr val="4A5568"/>
                </a:solidFill>
                <a:latin typeface="Georgia" pitchFamily="34" charset="0"/>
                <a:ea typeface="Georgia" pitchFamily="34" charset="-122"/>
                <a:cs typeface="Georgia" pitchFamily="34" charset="-120"/>
              </a:rPr>
              <a:t>Planilhas, repositórios e formulários registram dados, mas não aproximam quem precisa de quem resolve.</a:t>
            </a:r>
            <a:endParaRPr lang="en-US" sz="950" dirty="0"/>
          </a:p>
        </p:txBody>
      </p:sp>
      <p:sp>
        <p:nvSpPr>
          <p:cNvPr id="11" name="Shape 7"/>
          <p:cNvSpPr/>
          <p:nvPr/>
        </p:nvSpPr>
        <p:spPr>
          <a:xfrm>
            <a:off x="3281325" y="1621631"/>
            <a:ext cx="2581294" cy="1562305"/>
          </a:xfrm>
          <a:prstGeom prst="rect">
            <a:avLst/>
          </a:prstGeom>
          <a:solidFill>
            <a:srgbClr val="FFFFFF"/>
          </a:solidFill>
          <a:ln/>
        </p:spPr>
      </p:sp>
      <p:sp>
        <p:nvSpPr>
          <p:cNvPr id="12" name="Shape 8"/>
          <p:cNvSpPr/>
          <p:nvPr/>
        </p:nvSpPr>
        <p:spPr>
          <a:xfrm>
            <a:off x="3281325" y="1621631"/>
            <a:ext cx="2581294" cy="42863"/>
          </a:xfrm>
          <a:prstGeom prst="rect">
            <a:avLst/>
          </a:prstGeom>
          <a:solidFill>
            <a:srgbClr val="00B4D8"/>
          </a:solidFill>
          <a:ln/>
        </p:spPr>
      </p:sp>
      <p:sp>
        <p:nvSpPr>
          <p:cNvPr id="13" name="Text 9"/>
          <p:cNvSpPr/>
          <p:nvPr/>
        </p:nvSpPr>
        <p:spPr>
          <a:xfrm>
            <a:off x="3452775" y="1800225"/>
            <a:ext cx="2238394" cy="310753"/>
          </a:xfrm>
          <a:prstGeom prst="rect">
            <a:avLst/>
          </a:prstGeom>
          <a:noFill/>
          <a:ln/>
        </p:spPr>
        <p:txBody>
          <a:bodyPr wrap="square" lIns="0" tIns="0" rIns="0" bIns="0" rtlCol="0" anchor="t">
            <a:spAutoFit/>
          </a:bodyPr>
          <a:lstStyle/>
          <a:p>
            <a:pPr algn="l" indent="0" marL="0">
              <a:buNone/>
            </a:pPr>
            <a:r>
              <a:rPr lang="en-US" sz="1900" b="1" dirty="0">
                <a:solidFill>
                  <a:srgbClr val="F4B942"/>
                </a:solidFill>
                <a:latin typeface="Arial" pitchFamily="34" charset="0"/>
                <a:ea typeface="Arial" pitchFamily="34" charset="-122"/>
                <a:cs typeface="Arial" pitchFamily="34" charset="-120"/>
              </a:rPr>
              <a:t>02</a:t>
            </a:r>
            <a:endParaRPr lang="en-US" sz="1900" dirty="0"/>
          </a:p>
        </p:txBody>
      </p:sp>
      <p:sp>
        <p:nvSpPr>
          <p:cNvPr id="14" name="Text 10"/>
          <p:cNvSpPr/>
          <p:nvPr/>
        </p:nvSpPr>
        <p:spPr>
          <a:xfrm>
            <a:off x="3452775" y="2210991"/>
            <a:ext cx="2238394"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Vitrines sem contexto</a:t>
            </a:r>
            <a:endParaRPr lang="en-US" sz="1100" dirty="0"/>
          </a:p>
        </p:txBody>
      </p:sp>
      <p:sp>
        <p:nvSpPr>
          <p:cNvPr id="15" name="Text 11"/>
          <p:cNvSpPr/>
          <p:nvPr/>
        </p:nvSpPr>
        <p:spPr>
          <a:xfrm>
            <a:off x="3452775" y="2461022"/>
            <a:ext cx="2238394" cy="501458"/>
          </a:xfrm>
          <a:prstGeom prst="rect">
            <a:avLst/>
          </a:prstGeom>
          <a:noFill/>
          <a:ln/>
        </p:spPr>
        <p:txBody>
          <a:bodyPr wrap="square" lIns="0" tIns="0" rIns="0" bIns="0" rtlCol="0" anchor="t">
            <a:spAutoFit/>
          </a:bodyPr>
          <a:lstStyle/>
          <a:p>
            <a:pPr algn="l" indent="0" marL="0">
              <a:lnSpc>
                <a:spcPct val="104000"/>
              </a:lnSpc>
              <a:buNone/>
            </a:pPr>
            <a:r>
              <a:rPr lang="en-US" sz="950" dirty="0">
                <a:solidFill>
                  <a:srgbClr val="4A5568"/>
                </a:solidFill>
                <a:latin typeface="Georgia" pitchFamily="34" charset="0"/>
                <a:ea typeface="Georgia" pitchFamily="34" charset="-122"/>
                <a:cs typeface="Georgia" pitchFamily="34" charset="-120"/>
              </a:rPr>
              <a:t>Listam tecnologias e ofertas, porém não começam pela necessidade real de implementação.</a:t>
            </a:r>
            <a:endParaRPr lang="en-US" sz="950" dirty="0"/>
          </a:p>
        </p:txBody>
      </p:sp>
      <p:sp>
        <p:nvSpPr>
          <p:cNvPr id="16" name="Shape 12"/>
          <p:cNvSpPr/>
          <p:nvPr/>
        </p:nvSpPr>
        <p:spPr>
          <a:xfrm>
            <a:off x="6005494" y="1621631"/>
            <a:ext cx="2581294" cy="1562305"/>
          </a:xfrm>
          <a:prstGeom prst="rect">
            <a:avLst/>
          </a:prstGeom>
          <a:solidFill>
            <a:srgbClr val="FFFFFF"/>
          </a:solidFill>
          <a:ln/>
        </p:spPr>
      </p:sp>
      <p:sp>
        <p:nvSpPr>
          <p:cNvPr id="17" name="Shape 13"/>
          <p:cNvSpPr/>
          <p:nvPr/>
        </p:nvSpPr>
        <p:spPr>
          <a:xfrm>
            <a:off x="6005494" y="1621631"/>
            <a:ext cx="2581294" cy="42863"/>
          </a:xfrm>
          <a:prstGeom prst="rect">
            <a:avLst/>
          </a:prstGeom>
          <a:solidFill>
            <a:srgbClr val="00B4D8"/>
          </a:solidFill>
          <a:ln/>
        </p:spPr>
      </p:sp>
      <p:sp>
        <p:nvSpPr>
          <p:cNvPr id="18" name="Text 14"/>
          <p:cNvSpPr/>
          <p:nvPr/>
        </p:nvSpPr>
        <p:spPr>
          <a:xfrm>
            <a:off x="6176944" y="1800225"/>
            <a:ext cx="2238394" cy="310753"/>
          </a:xfrm>
          <a:prstGeom prst="rect">
            <a:avLst/>
          </a:prstGeom>
          <a:noFill/>
          <a:ln/>
        </p:spPr>
        <p:txBody>
          <a:bodyPr wrap="square" lIns="0" tIns="0" rIns="0" bIns="0" rtlCol="0" anchor="t">
            <a:spAutoFit/>
          </a:bodyPr>
          <a:lstStyle/>
          <a:p>
            <a:pPr algn="l" indent="0" marL="0">
              <a:buNone/>
            </a:pPr>
            <a:r>
              <a:rPr lang="en-US" sz="1900" b="1" dirty="0">
                <a:solidFill>
                  <a:srgbClr val="F4B942"/>
                </a:solidFill>
                <a:latin typeface="Arial" pitchFamily="34" charset="0"/>
                <a:ea typeface="Arial" pitchFamily="34" charset="-122"/>
                <a:cs typeface="Arial" pitchFamily="34" charset="-120"/>
              </a:rPr>
              <a:t>03</a:t>
            </a:r>
            <a:endParaRPr lang="en-US" sz="1900" dirty="0"/>
          </a:p>
        </p:txBody>
      </p:sp>
      <p:sp>
        <p:nvSpPr>
          <p:cNvPr id="19" name="Text 15"/>
          <p:cNvSpPr/>
          <p:nvPr/>
        </p:nvSpPr>
        <p:spPr>
          <a:xfrm>
            <a:off x="6176944" y="2210991"/>
            <a:ext cx="2238394"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Projetos isolados</a:t>
            </a:r>
            <a:endParaRPr lang="en-US" sz="1100" dirty="0"/>
          </a:p>
        </p:txBody>
      </p:sp>
      <p:sp>
        <p:nvSpPr>
          <p:cNvPr id="20" name="Text 16"/>
          <p:cNvSpPr/>
          <p:nvPr/>
        </p:nvSpPr>
        <p:spPr>
          <a:xfrm>
            <a:off x="6176944" y="2461022"/>
            <a:ext cx="2238394" cy="501458"/>
          </a:xfrm>
          <a:prstGeom prst="rect">
            <a:avLst/>
          </a:prstGeom>
          <a:noFill/>
          <a:ln/>
        </p:spPr>
        <p:txBody>
          <a:bodyPr wrap="square" lIns="0" tIns="0" rIns="0" bIns="0" rtlCol="0" anchor="t">
            <a:spAutoFit/>
          </a:bodyPr>
          <a:lstStyle/>
          <a:p>
            <a:pPr algn="l" indent="0" marL="0">
              <a:lnSpc>
                <a:spcPct val="104000"/>
              </a:lnSpc>
              <a:buNone/>
            </a:pPr>
            <a:r>
              <a:rPr lang="en-US" sz="950" dirty="0">
                <a:solidFill>
                  <a:srgbClr val="4A5568"/>
                </a:solidFill>
                <a:latin typeface="Georgia" pitchFamily="34" charset="0"/>
                <a:ea typeface="Georgia" pitchFamily="34" charset="-122"/>
                <a:cs typeface="Georgia" pitchFamily="34" charset="-120"/>
              </a:rPr>
              <a:t>Mostram “tenho um projeto”, em vez de perguntar “tenho um desafio — quem pode ajudar?”.</a:t>
            </a:r>
            <a:endParaRPr lang="en-US" sz="950" dirty="0"/>
          </a:p>
        </p:txBody>
      </p:sp>
      <p:sp>
        <p:nvSpPr>
          <p:cNvPr id="21" name="Shape 17"/>
          <p:cNvSpPr/>
          <p:nvPr/>
        </p:nvSpPr>
        <p:spPr>
          <a:xfrm>
            <a:off x="557213" y="3341098"/>
            <a:ext cx="8029575" cy="546497"/>
          </a:xfrm>
          <a:prstGeom prst="rect">
            <a:avLst/>
          </a:prstGeom>
          <a:solidFill>
            <a:srgbClr val="0B1D51"/>
          </a:solidFill>
          <a:ln/>
        </p:spPr>
      </p:sp>
      <p:sp>
        <p:nvSpPr>
          <p:cNvPr id="22" name="Text 18"/>
          <p:cNvSpPr/>
          <p:nvPr/>
        </p:nvSpPr>
        <p:spPr>
          <a:xfrm>
            <a:off x="757238" y="3498261"/>
            <a:ext cx="2267806" cy="232172"/>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Arial" pitchFamily="34" charset="0"/>
                <a:ea typeface="Arial" pitchFamily="34" charset="-122"/>
                <a:cs typeface="Arial" pitchFamily="34" charset="-120"/>
              </a:rPr>
              <a:t>Da informação dispersa</a:t>
            </a:r>
            <a:endParaRPr lang="en-US" sz="1400" dirty="0"/>
          </a:p>
        </p:txBody>
      </p:sp>
      <p:sp>
        <p:nvSpPr>
          <p:cNvPr id="23" name="Text 19"/>
          <p:cNvSpPr/>
          <p:nvPr/>
        </p:nvSpPr>
        <p:spPr>
          <a:xfrm>
            <a:off x="4524728" y="3528622"/>
            <a:ext cx="150019" cy="171450"/>
          </a:xfrm>
          <a:prstGeom prst="rect">
            <a:avLst/>
          </a:prstGeom>
          <a:noFill/>
          <a:ln/>
        </p:spPr>
        <p:txBody>
          <a:bodyPr wrap="none" lIns="0" tIns="0" rIns="0" bIns="0" rtlCol="0" anchor="t">
            <a:spAutoFit/>
          </a:bodyPr>
          <a:lstStyle/>
          <a:p>
            <a:pPr algn="l" indent="0" marL="0">
              <a:buNone/>
            </a:pPr>
            <a:r>
              <a:rPr lang="en-US" sz="1100" dirty="0">
                <a:solidFill>
                  <a:srgbClr val="D9E5EE"/>
                </a:solidFill>
                <a:latin typeface="Georgia" pitchFamily="34" charset="0"/>
                <a:ea typeface="Georgia" pitchFamily="34" charset="-122"/>
                <a:cs typeface="Georgia" pitchFamily="34" charset="-120"/>
              </a:rPr>
              <a:t>→</a:t>
            </a:r>
            <a:endParaRPr lang="en-US" sz="1100" dirty="0"/>
          </a:p>
        </p:txBody>
      </p:sp>
      <p:sp>
        <p:nvSpPr>
          <p:cNvPr id="24" name="Text 20"/>
          <p:cNvSpPr/>
          <p:nvPr/>
        </p:nvSpPr>
        <p:spPr>
          <a:xfrm>
            <a:off x="6174432" y="3498261"/>
            <a:ext cx="2212330" cy="232172"/>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Arial" pitchFamily="34" charset="0"/>
                <a:ea typeface="Arial" pitchFamily="34" charset="-122"/>
                <a:cs typeface="Arial" pitchFamily="34" charset="-120"/>
              </a:rPr>
              <a:t>para caminhos de ação</a:t>
            </a:r>
            <a:endParaRPr lang="en-US" sz="1400" dirty="0"/>
          </a:p>
        </p:txBody>
      </p:sp>
      <p:sp>
        <p:nvSpPr>
          <p:cNvPr id="25" name="Text 21"/>
          <p:cNvSpPr/>
          <p:nvPr/>
        </p:nvSpPr>
        <p:spPr>
          <a:xfrm>
            <a:off x="557213" y="4087620"/>
            <a:ext cx="8029575" cy="150019"/>
          </a:xfrm>
          <a:prstGeom prst="rect">
            <a:avLst/>
          </a:prstGeom>
          <a:noFill/>
          <a:ln/>
        </p:spPr>
        <p:txBody>
          <a:bodyPr wrap="square" lIns="0" tIns="0" rIns="0" bIns="0" rtlCol="0" anchor="t">
            <a:spAutoFit/>
          </a:bodyPr>
          <a:lstStyle/>
          <a:p>
            <a:pPr algn="l" indent="0" marL="0">
              <a:buNone/>
            </a:pPr>
            <a:r>
              <a:rPr lang="en-US" sz="900" b="1" spc="1" kern="0" dirty="0">
                <a:solidFill>
                  <a:srgbClr val="167D7F"/>
                </a:solidFill>
                <a:latin typeface="Arial" pitchFamily="34" charset="0"/>
                <a:ea typeface="Arial" pitchFamily="34" charset="-122"/>
                <a:cs typeface="Arial" pitchFamily="34" charset="-120"/>
              </a:rPr>
              <a:t>DESAFIO · SOLUÇÃO · PARCEIRO · FINANCIAMENTO · IMPLEMENTAÇÃO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385763"/>
            <a:ext cx="8029575" cy="132159"/>
          </a:xfrm>
          <a:prstGeom prst="rect">
            <a:avLst/>
          </a:prstGeom>
          <a:noFill/>
          <a:ln/>
        </p:spPr>
        <p:txBody>
          <a:bodyPr wrap="square" lIns="0" tIns="0" rIns="0" bIns="0" rtlCol="0" anchor="t">
            <a:spAutoFit/>
          </a:bodyPr>
          <a:lstStyle/>
          <a:p>
            <a:pPr algn="l" indent="0" marL="0">
              <a:buNone/>
            </a:pPr>
            <a:r>
              <a:rPr lang="en-US" sz="800" b="1" spc="2" kern="0" dirty="0">
                <a:solidFill>
                  <a:srgbClr val="167D7F"/>
                </a:solidFill>
                <a:latin typeface="Arial" pitchFamily="34" charset="0"/>
                <a:ea typeface="Arial" pitchFamily="34" charset="-122"/>
                <a:cs typeface="Arial" pitchFamily="34" charset="-120"/>
              </a:rPr>
              <a:t>02 · A PROPOSTA</a:t>
            </a:r>
            <a:endParaRPr lang="en-US" sz="800" dirty="0"/>
          </a:p>
        </p:txBody>
      </p:sp>
      <p:sp>
        <p:nvSpPr>
          <p:cNvPr id="5" name="Text 1"/>
          <p:cNvSpPr/>
          <p:nvPr/>
        </p:nvSpPr>
        <p:spPr>
          <a:xfrm>
            <a:off x="557213" y="632222"/>
            <a:ext cx="8029575" cy="367903"/>
          </a:xfrm>
          <a:prstGeom prst="rect">
            <a:avLst/>
          </a:prstGeom>
          <a:noFill/>
          <a:ln/>
        </p:spPr>
        <p:txBody>
          <a:bodyPr wrap="square" lIns="0" tIns="0" rIns="0" bIns="0" rtlCol="0" anchor="t">
            <a:spAutoFit/>
          </a:bodyPr>
          <a:lstStyle/>
          <a:p>
            <a:pPr algn="l" indent="0" marL="0">
              <a:buNone/>
            </a:pPr>
            <a:r>
              <a:rPr lang="en-US" sz="2300" b="1" spc="-1" kern="0" dirty="0">
                <a:solidFill>
                  <a:srgbClr val="0B1D51"/>
                </a:solidFill>
                <a:latin typeface="Arial" pitchFamily="34" charset="0"/>
                <a:ea typeface="Arial" pitchFamily="34" charset="-122"/>
                <a:cs typeface="Arial" pitchFamily="34" charset="-120"/>
              </a:rPr>
              <a:t>Uma plataforma para transformar intenção em ação</a:t>
            </a:r>
            <a:endParaRPr lang="en-US" sz="2300" dirty="0"/>
          </a:p>
        </p:txBody>
      </p:sp>
      <p:sp>
        <p:nvSpPr>
          <p:cNvPr id="6" name="Text 2"/>
          <p:cNvSpPr/>
          <p:nvPr/>
        </p:nvSpPr>
        <p:spPr>
          <a:xfrm>
            <a:off x="557213" y="1214438"/>
            <a:ext cx="7000875" cy="514350"/>
          </a:xfrm>
          <a:prstGeom prst="rect">
            <a:avLst/>
          </a:prstGeom>
          <a:noFill/>
          <a:ln/>
        </p:spPr>
        <p:txBody>
          <a:bodyPr wrap="square" lIns="0" tIns="0" rIns="0" bIns="0" rtlCol="0" anchor="t">
            <a:spAutoFit/>
          </a:bodyPr>
          <a:lstStyle/>
          <a:p>
            <a:pPr algn="l" indent="0" marL="0">
              <a:lnSpc>
                <a:spcPct val="96000"/>
              </a:lnSpc>
              <a:buNone/>
            </a:pPr>
            <a:r>
              <a:rPr lang="en-US" sz="1600" dirty="0">
                <a:solidFill>
                  <a:srgbClr val="355C7D"/>
                </a:solidFill>
                <a:latin typeface="Georgia" pitchFamily="34" charset="0"/>
                <a:ea typeface="Georgia" pitchFamily="34" charset="-122"/>
                <a:cs typeface="Georgia" pitchFamily="34" charset="-120"/>
              </a:rPr>
              <a:t>“Tenho um desafio, uma solução, um projeto ou recursos — quem no mundo pode me ajudar a implementar?”</a:t>
            </a:r>
            <a:endParaRPr lang="en-US" sz="1600" dirty="0"/>
          </a:p>
        </p:txBody>
      </p:sp>
      <p:sp>
        <p:nvSpPr>
          <p:cNvPr id="7" name="Shape 3"/>
          <p:cNvSpPr/>
          <p:nvPr/>
        </p:nvSpPr>
        <p:spPr>
          <a:xfrm>
            <a:off x="557213" y="2071688"/>
            <a:ext cx="1278731" cy="842963"/>
          </a:xfrm>
          <a:prstGeom prst="rect">
            <a:avLst/>
          </a:prstGeom>
          <a:solidFill>
            <a:srgbClr val="0B1D51"/>
          </a:solidFill>
          <a:ln/>
        </p:spPr>
      </p:sp>
      <p:sp>
        <p:nvSpPr>
          <p:cNvPr id="8" name="Text 4"/>
          <p:cNvSpPr/>
          <p:nvPr/>
        </p:nvSpPr>
        <p:spPr>
          <a:xfrm>
            <a:off x="664369"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Desafio</a:t>
            </a:r>
            <a:endParaRPr lang="en-US" sz="1000" dirty="0"/>
          </a:p>
        </p:txBody>
      </p:sp>
      <p:sp>
        <p:nvSpPr>
          <p:cNvPr id="9" name="Text 5"/>
          <p:cNvSpPr/>
          <p:nvPr/>
        </p:nvSpPr>
        <p:spPr>
          <a:xfrm>
            <a:off x="664369" y="2461022"/>
            <a:ext cx="772753"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Necessidade real</a:t>
            </a:r>
            <a:endParaRPr lang="en-US" sz="750" dirty="0"/>
          </a:p>
        </p:txBody>
      </p:sp>
      <p:sp>
        <p:nvSpPr>
          <p:cNvPr id="10" name="Shape 6"/>
          <p:cNvSpPr/>
          <p:nvPr/>
        </p:nvSpPr>
        <p:spPr>
          <a:xfrm>
            <a:off x="1907381" y="2071688"/>
            <a:ext cx="1278731" cy="842963"/>
          </a:xfrm>
          <a:prstGeom prst="rect">
            <a:avLst/>
          </a:prstGeom>
          <a:solidFill>
            <a:srgbClr val="167D7F"/>
          </a:solidFill>
          <a:ln/>
        </p:spPr>
      </p:sp>
      <p:sp>
        <p:nvSpPr>
          <p:cNvPr id="11" name="Text 7"/>
          <p:cNvSpPr/>
          <p:nvPr/>
        </p:nvSpPr>
        <p:spPr>
          <a:xfrm>
            <a:off x="2014538"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Solução</a:t>
            </a:r>
            <a:endParaRPr lang="en-US" sz="1000" dirty="0"/>
          </a:p>
        </p:txBody>
      </p:sp>
      <p:sp>
        <p:nvSpPr>
          <p:cNvPr id="12" name="Text 8"/>
          <p:cNvSpPr/>
          <p:nvPr/>
        </p:nvSpPr>
        <p:spPr>
          <a:xfrm>
            <a:off x="2014538" y="2461022"/>
            <a:ext cx="700534"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Oferta aderente</a:t>
            </a:r>
            <a:endParaRPr lang="en-US" sz="750" dirty="0"/>
          </a:p>
        </p:txBody>
      </p:sp>
      <p:sp>
        <p:nvSpPr>
          <p:cNvPr id="13" name="Shape 9"/>
          <p:cNvSpPr/>
          <p:nvPr/>
        </p:nvSpPr>
        <p:spPr>
          <a:xfrm>
            <a:off x="3257550" y="2071688"/>
            <a:ext cx="1278731" cy="842963"/>
          </a:xfrm>
          <a:prstGeom prst="rect">
            <a:avLst/>
          </a:prstGeom>
          <a:solidFill>
            <a:srgbClr val="0B1D51"/>
          </a:solidFill>
          <a:ln/>
        </p:spPr>
      </p:sp>
      <p:sp>
        <p:nvSpPr>
          <p:cNvPr id="14" name="Text 10"/>
          <p:cNvSpPr/>
          <p:nvPr/>
        </p:nvSpPr>
        <p:spPr>
          <a:xfrm>
            <a:off x="3364706"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Projeto</a:t>
            </a:r>
            <a:endParaRPr lang="en-US" sz="1000" dirty="0"/>
          </a:p>
        </p:txBody>
      </p:sp>
      <p:sp>
        <p:nvSpPr>
          <p:cNvPr id="15" name="Text 11"/>
          <p:cNvSpPr/>
          <p:nvPr/>
        </p:nvSpPr>
        <p:spPr>
          <a:xfrm>
            <a:off x="3364706" y="2461022"/>
            <a:ext cx="639533"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Plano de ação</a:t>
            </a:r>
            <a:endParaRPr lang="en-US" sz="750" dirty="0"/>
          </a:p>
        </p:txBody>
      </p:sp>
      <p:sp>
        <p:nvSpPr>
          <p:cNvPr id="16" name="Shape 12"/>
          <p:cNvSpPr/>
          <p:nvPr/>
        </p:nvSpPr>
        <p:spPr>
          <a:xfrm>
            <a:off x="4607719" y="2071688"/>
            <a:ext cx="1278731" cy="842963"/>
          </a:xfrm>
          <a:prstGeom prst="rect">
            <a:avLst/>
          </a:prstGeom>
          <a:solidFill>
            <a:srgbClr val="167D7F"/>
          </a:solidFill>
          <a:ln/>
        </p:spPr>
      </p:sp>
      <p:sp>
        <p:nvSpPr>
          <p:cNvPr id="17" name="Text 13"/>
          <p:cNvSpPr/>
          <p:nvPr/>
        </p:nvSpPr>
        <p:spPr>
          <a:xfrm>
            <a:off x="4714875"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Parceiro</a:t>
            </a:r>
            <a:endParaRPr lang="en-US" sz="1000" dirty="0"/>
          </a:p>
        </p:txBody>
      </p:sp>
      <p:sp>
        <p:nvSpPr>
          <p:cNvPr id="18" name="Text 14"/>
          <p:cNvSpPr/>
          <p:nvPr/>
        </p:nvSpPr>
        <p:spPr>
          <a:xfrm>
            <a:off x="4714875" y="2461022"/>
            <a:ext cx="672852"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Capacidade de</a:t>
            </a:r>
            <a:endParaRPr lang="en-US" sz="750" dirty="0"/>
          </a:p>
        </p:txBody>
      </p:sp>
      <p:sp>
        <p:nvSpPr>
          <p:cNvPr id="19" name="Text 15"/>
          <p:cNvSpPr/>
          <p:nvPr/>
        </p:nvSpPr>
        <p:spPr>
          <a:xfrm>
            <a:off x="4714875" y="2593181"/>
            <a:ext cx="383642"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executar</a:t>
            </a:r>
            <a:endParaRPr lang="en-US" sz="750" dirty="0"/>
          </a:p>
        </p:txBody>
      </p:sp>
      <p:sp>
        <p:nvSpPr>
          <p:cNvPr id="20" name="Shape 16"/>
          <p:cNvSpPr/>
          <p:nvPr/>
        </p:nvSpPr>
        <p:spPr>
          <a:xfrm>
            <a:off x="5957888" y="2071688"/>
            <a:ext cx="1278731" cy="842963"/>
          </a:xfrm>
          <a:prstGeom prst="rect">
            <a:avLst/>
          </a:prstGeom>
          <a:solidFill>
            <a:srgbClr val="0B1D51"/>
          </a:solidFill>
          <a:ln/>
        </p:spPr>
      </p:sp>
      <p:sp>
        <p:nvSpPr>
          <p:cNvPr id="21" name="Text 17"/>
          <p:cNvSpPr/>
          <p:nvPr/>
        </p:nvSpPr>
        <p:spPr>
          <a:xfrm>
            <a:off x="6065044"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Financiamento</a:t>
            </a:r>
            <a:endParaRPr lang="en-US" sz="1000" dirty="0"/>
          </a:p>
        </p:txBody>
      </p:sp>
      <p:sp>
        <p:nvSpPr>
          <p:cNvPr id="22" name="Text 18"/>
          <p:cNvSpPr/>
          <p:nvPr/>
        </p:nvSpPr>
        <p:spPr>
          <a:xfrm>
            <a:off x="6065044" y="2461022"/>
            <a:ext cx="878402" cy="110728"/>
          </a:xfrm>
          <a:prstGeom prst="rect">
            <a:avLst/>
          </a:prstGeom>
          <a:noFill/>
          <a:ln/>
        </p:spPr>
        <p:txBody>
          <a:bodyPr wrap="none" lIns="0" tIns="0" rIns="0" bIns="0" rtlCol="0" anchor="t">
            <a:spAutoFit/>
          </a:bodyPr>
          <a:lstStyle/>
          <a:p>
            <a:pPr algn="l" indent="0" marL="0">
              <a:buNone/>
            </a:pPr>
            <a:r>
              <a:rPr lang="en-US" sz="750" dirty="0">
                <a:solidFill>
                  <a:srgbClr val="D9E5EE"/>
                </a:solidFill>
                <a:latin typeface="Arial" pitchFamily="34" charset="0"/>
                <a:ea typeface="Arial" pitchFamily="34" charset="-122"/>
                <a:cs typeface="Arial" pitchFamily="34" charset="-120"/>
              </a:rPr>
              <a:t>Recursos alinhados</a:t>
            </a:r>
            <a:endParaRPr lang="en-US" sz="750" dirty="0"/>
          </a:p>
        </p:txBody>
      </p:sp>
      <p:sp>
        <p:nvSpPr>
          <p:cNvPr id="23" name="Shape 19"/>
          <p:cNvSpPr/>
          <p:nvPr/>
        </p:nvSpPr>
        <p:spPr>
          <a:xfrm>
            <a:off x="7308056" y="2071688"/>
            <a:ext cx="1278731" cy="842963"/>
          </a:xfrm>
          <a:prstGeom prst="rect">
            <a:avLst/>
          </a:prstGeom>
          <a:solidFill>
            <a:srgbClr val="F4B942"/>
          </a:solidFill>
          <a:ln/>
        </p:spPr>
      </p:sp>
      <p:sp>
        <p:nvSpPr>
          <p:cNvPr id="24" name="Text 20"/>
          <p:cNvSpPr/>
          <p:nvPr/>
        </p:nvSpPr>
        <p:spPr>
          <a:xfrm>
            <a:off x="7415213" y="2200275"/>
            <a:ext cx="1064419" cy="160734"/>
          </a:xfrm>
          <a:prstGeom prst="rect">
            <a:avLst/>
          </a:prstGeom>
          <a:noFill/>
          <a:ln/>
        </p:spPr>
        <p:txBody>
          <a:bodyPr wrap="non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Implementação</a:t>
            </a:r>
            <a:endParaRPr lang="en-US" sz="1000" dirty="0"/>
          </a:p>
        </p:txBody>
      </p:sp>
      <p:sp>
        <p:nvSpPr>
          <p:cNvPr id="25" name="Text 21"/>
          <p:cNvSpPr/>
          <p:nvPr/>
        </p:nvSpPr>
        <p:spPr>
          <a:xfrm>
            <a:off x="7415213" y="2461022"/>
            <a:ext cx="983996" cy="110728"/>
          </a:xfrm>
          <a:prstGeom prst="rect">
            <a:avLst/>
          </a:prstGeom>
          <a:noFill/>
          <a:ln/>
        </p:spPr>
        <p:txBody>
          <a:bodyPr wrap="none" lIns="0" tIns="0" rIns="0" bIns="0" rtlCol="0" anchor="t">
            <a:spAutoFit/>
          </a:bodyPr>
          <a:lstStyle/>
          <a:p>
            <a:pPr algn="l" indent="0" marL="0">
              <a:buNone/>
            </a:pPr>
            <a:r>
              <a:rPr lang="en-US" sz="750" dirty="0">
                <a:solidFill>
                  <a:srgbClr val="0B1D51"/>
                </a:solidFill>
                <a:latin typeface="Arial" pitchFamily="34" charset="0"/>
                <a:ea typeface="Arial" pitchFamily="34" charset="-122"/>
                <a:cs typeface="Arial" pitchFamily="34" charset="-120"/>
              </a:rPr>
              <a:t>Resultado no território</a:t>
            </a:r>
            <a:endParaRPr lang="en-US" sz="750" dirty="0"/>
          </a:p>
        </p:txBody>
      </p:sp>
      <p:sp>
        <p:nvSpPr>
          <p:cNvPr id="26" name="Text 22"/>
          <p:cNvSpPr/>
          <p:nvPr/>
        </p:nvSpPr>
        <p:spPr>
          <a:xfrm>
            <a:off x="557213" y="3386138"/>
            <a:ext cx="890122" cy="460772"/>
          </a:xfrm>
          <a:prstGeom prst="rect">
            <a:avLst/>
          </a:prstGeom>
          <a:noFill/>
          <a:ln/>
        </p:spPr>
        <p:txBody>
          <a:bodyPr wrap="non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Demandantes</a:t>
            </a:r>
            <a:endParaRPr lang="en-US" sz="950" dirty="0"/>
          </a:p>
        </p:txBody>
      </p:sp>
      <p:sp>
        <p:nvSpPr>
          <p:cNvPr id="27" name="Text 23"/>
          <p:cNvSpPr/>
          <p:nvPr/>
        </p:nvSpPr>
        <p:spPr>
          <a:xfrm>
            <a:off x="1790235" y="3386138"/>
            <a:ext cx="1373777" cy="460772"/>
          </a:xfrm>
          <a:prstGeom prst="rect">
            <a:avLst/>
          </a:prstGeom>
          <a:noFill/>
          <a:ln/>
        </p:spPr>
        <p:txBody>
          <a:bodyPr wrap="square" lIns="0" tIns="0" rIns="0" bIns="0" rtlCol="0" anchor="t">
            <a:spAutoFit/>
          </a:bodyPr>
          <a:lstStyle/>
          <a:p>
            <a:pPr algn="l" indent="0" marL="0">
              <a:buNone/>
            </a:pPr>
            <a:r>
              <a:rPr lang="en-US" sz="950" b="1" dirty="0">
                <a:solidFill>
                  <a:srgbClr val="4A5568"/>
                </a:solidFill>
                <a:latin typeface="Arial" pitchFamily="34" charset="0"/>
                <a:ea typeface="Arial" pitchFamily="34" charset="-122"/>
                <a:cs typeface="Arial" pitchFamily="34" charset="-120"/>
              </a:rPr>
              <a:t>Governos · ONGs · implementadores</a:t>
            </a:r>
            <a:endParaRPr lang="en-US" sz="950" dirty="0"/>
          </a:p>
        </p:txBody>
      </p:sp>
      <p:sp>
        <p:nvSpPr>
          <p:cNvPr id="28" name="Text 24"/>
          <p:cNvSpPr/>
          <p:nvPr/>
        </p:nvSpPr>
        <p:spPr>
          <a:xfrm>
            <a:off x="3506912" y="3386138"/>
            <a:ext cx="678879" cy="460772"/>
          </a:xfrm>
          <a:prstGeom prst="rect">
            <a:avLst/>
          </a:prstGeom>
          <a:noFill/>
          <a:ln/>
        </p:spPr>
        <p:txBody>
          <a:bodyPr wrap="non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Ofertantes</a:t>
            </a:r>
            <a:endParaRPr lang="en-US" sz="950" dirty="0"/>
          </a:p>
        </p:txBody>
      </p:sp>
      <p:sp>
        <p:nvSpPr>
          <p:cNvPr id="29" name="Text 25"/>
          <p:cNvSpPr/>
          <p:nvPr/>
        </p:nvSpPr>
        <p:spPr>
          <a:xfrm>
            <a:off x="4528691" y="3386138"/>
            <a:ext cx="1365349" cy="460772"/>
          </a:xfrm>
          <a:prstGeom prst="rect">
            <a:avLst/>
          </a:prstGeom>
          <a:noFill/>
          <a:ln/>
        </p:spPr>
        <p:txBody>
          <a:bodyPr wrap="square" lIns="0" tIns="0" rIns="0" bIns="0" rtlCol="0" anchor="t">
            <a:spAutoFit/>
          </a:bodyPr>
          <a:lstStyle/>
          <a:p>
            <a:pPr algn="l" indent="0" marL="0">
              <a:buNone/>
            </a:pPr>
            <a:r>
              <a:rPr lang="en-US" sz="950" b="1" dirty="0">
                <a:solidFill>
                  <a:srgbClr val="4A5568"/>
                </a:solidFill>
                <a:latin typeface="Arial" pitchFamily="34" charset="0"/>
                <a:ea typeface="Arial" pitchFamily="34" charset="-122"/>
                <a:cs typeface="Arial" pitchFamily="34" charset="-120"/>
              </a:rPr>
              <a:t>Embrapa · universidades · empresas</a:t>
            </a:r>
            <a:endParaRPr lang="en-US" sz="950" dirty="0"/>
          </a:p>
        </p:txBody>
      </p:sp>
      <p:sp>
        <p:nvSpPr>
          <p:cNvPr id="30" name="Text 26"/>
          <p:cNvSpPr/>
          <p:nvPr/>
        </p:nvSpPr>
        <p:spPr>
          <a:xfrm>
            <a:off x="6236940" y="3386138"/>
            <a:ext cx="920260" cy="460772"/>
          </a:xfrm>
          <a:prstGeom prst="rect">
            <a:avLst/>
          </a:prstGeom>
          <a:noFill/>
          <a:ln/>
        </p:spPr>
        <p:txBody>
          <a:bodyPr wrap="non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Financiadores</a:t>
            </a:r>
            <a:endParaRPr lang="en-US" sz="950" dirty="0"/>
          </a:p>
        </p:txBody>
      </p:sp>
      <p:sp>
        <p:nvSpPr>
          <p:cNvPr id="31" name="Text 27"/>
          <p:cNvSpPr/>
          <p:nvPr/>
        </p:nvSpPr>
        <p:spPr>
          <a:xfrm>
            <a:off x="7500100" y="3386138"/>
            <a:ext cx="1086687" cy="460772"/>
          </a:xfrm>
          <a:prstGeom prst="rect">
            <a:avLst/>
          </a:prstGeom>
          <a:noFill/>
          <a:ln/>
        </p:spPr>
        <p:txBody>
          <a:bodyPr wrap="none" lIns="0" tIns="0" rIns="0" bIns="0" rtlCol="0" anchor="t">
            <a:spAutoFit/>
          </a:bodyPr>
          <a:lstStyle/>
          <a:p>
            <a:pPr algn="l" indent="0" marL="0">
              <a:buNone/>
            </a:pPr>
            <a:r>
              <a:rPr lang="en-US" sz="950" b="1" dirty="0">
                <a:solidFill>
                  <a:srgbClr val="4A5568"/>
                </a:solidFill>
                <a:latin typeface="Arial" pitchFamily="34" charset="0"/>
                <a:ea typeface="Arial" pitchFamily="34" charset="-122"/>
                <a:cs typeface="Arial" pitchFamily="34" charset="-120"/>
              </a:rPr>
              <a:t>Fundos · bancos · fundações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03 · POSICIONAMENTO</a:t>
            </a:r>
            <a:endParaRPr lang="en-US" sz="900" dirty="0"/>
          </a:p>
        </p:txBody>
      </p:sp>
      <p:sp>
        <p:nvSpPr>
          <p:cNvPr id="5" name="Text 1"/>
          <p:cNvSpPr/>
          <p:nvPr/>
        </p:nvSpPr>
        <p:spPr>
          <a:xfrm>
            <a:off x="571500" y="685800"/>
            <a:ext cx="7143750" cy="754335"/>
          </a:xfrm>
          <a:prstGeom prst="rect">
            <a:avLst/>
          </a:prstGeom>
          <a:noFill/>
          <a:ln/>
        </p:spPr>
        <p:txBody>
          <a:bodyPr wrap="square" lIns="0" tIns="0" rIns="0" bIns="0" rtlCol="0" anchor="t">
            <a:spAutoFit/>
          </a:bodyPr>
          <a:lstStyle/>
          <a:p>
            <a:pPr algn="l" indent="0" marL="0">
              <a:lnSpc>
                <a:spcPct val="88000"/>
              </a:lnSpc>
              <a:buNone/>
            </a:pPr>
            <a:r>
              <a:rPr lang="en-US" sz="2450" b="1" spc="-1" kern="0" dirty="0">
                <a:solidFill>
                  <a:srgbClr val="0B1D51"/>
                </a:solidFill>
                <a:latin typeface="Arial" pitchFamily="34" charset="0"/>
                <a:ea typeface="Arial" pitchFamily="34" charset="-122"/>
                <a:cs typeface="Arial" pitchFamily="34" charset="-120"/>
              </a:rPr>
              <a:t>O CAC adiciona uma camada de implementação ao ecossistema existente</a:t>
            </a:r>
            <a:endParaRPr lang="en-US" sz="2450" dirty="0"/>
          </a:p>
        </p:txBody>
      </p:sp>
      <p:sp>
        <p:nvSpPr>
          <p:cNvPr id="6" name="Shape 2"/>
          <p:cNvSpPr/>
          <p:nvPr/>
        </p:nvSpPr>
        <p:spPr>
          <a:xfrm>
            <a:off x="571500" y="1761604"/>
            <a:ext cx="2666963" cy="500063"/>
          </a:xfrm>
          <a:prstGeom prst="rect">
            <a:avLst/>
          </a:prstGeom>
          <a:solidFill>
            <a:srgbClr val="0B1D51"/>
          </a:solidFill>
          <a:ln/>
        </p:spPr>
      </p:sp>
      <p:sp>
        <p:nvSpPr>
          <p:cNvPr id="7" name="Shape 3"/>
          <p:cNvSpPr/>
          <p:nvPr/>
        </p:nvSpPr>
        <p:spPr>
          <a:xfrm>
            <a:off x="3224175" y="1761604"/>
            <a:ext cx="14288" cy="500063"/>
          </a:xfrm>
          <a:prstGeom prst="rect">
            <a:avLst/>
          </a:prstGeom>
          <a:solidFill>
            <a:srgbClr val="FFFFFF"/>
          </a:solidFill>
          <a:ln/>
        </p:spPr>
      </p:sp>
      <p:sp>
        <p:nvSpPr>
          <p:cNvPr id="8" name="Text 4"/>
          <p:cNvSpPr/>
          <p:nvPr/>
        </p:nvSpPr>
        <p:spPr>
          <a:xfrm>
            <a:off x="571500" y="1761604"/>
            <a:ext cx="2666963" cy="500063"/>
          </a:xfrm>
          <a:prstGeom prst="rect">
            <a:avLst/>
          </a:prstGeom>
          <a:noFill/>
          <a:ln/>
        </p:spPr>
        <p:txBody>
          <a:bodyPr wrap="square" lIns="212598" tIns="170053" rIns="0" bIns="0" rtlCol="0" anchor="ctr">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Referência</a:t>
            </a:r>
            <a:endParaRPr lang="en-US" sz="1000" dirty="0"/>
          </a:p>
        </p:txBody>
      </p:sp>
      <p:sp>
        <p:nvSpPr>
          <p:cNvPr id="9" name="Shape 5"/>
          <p:cNvSpPr/>
          <p:nvPr/>
        </p:nvSpPr>
        <p:spPr>
          <a:xfrm>
            <a:off x="3238463" y="1761604"/>
            <a:ext cx="2666963" cy="500063"/>
          </a:xfrm>
          <a:prstGeom prst="rect">
            <a:avLst/>
          </a:prstGeom>
          <a:solidFill>
            <a:srgbClr val="0B1D51"/>
          </a:solidFill>
          <a:ln/>
        </p:spPr>
      </p:sp>
      <p:sp>
        <p:nvSpPr>
          <p:cNvPr id="10" name="Shape 6"/>
          <p:cNvSpPr/>
          <p:nvPr/>
        </p:nvSpPr>
        <p:spPr>
          <a:xfrm>
            <a:off x="5891138" y="1761604"/>
            <a:ext cx="14288" cy="500063"/>
          </a:xfrm>
          <a:prstGeom prst="rect">
            <a:avLst/>
          </a:prstGeom>
          <a:solidFill>
            <a:srgbClr val="FFFFFF"/>
          </a:solidFill>
          <a:ln/>
        </p:spPr>
      </p:sp>
      <p:sp>
        <p:nvSpPr>
          <p:cNvPr id="11" name="Text 7"/>
          <p:cNvSpPr/>
          <p:nvPr/>
        </p:nvSpPr>
        <p:spPr>
          <a:xfrm>
            <a:off x="3238463" y="1761604"/>
            <a:ext cx="2666963" cy="500063"/>
          </a:xfrm>
          <a:prstGeom prst="rect">
            <a:avLst/>
          </a:prstGeom>
          <a:noFill/>
          <a:ln/>
        </p:spPr>
        <p:txBody>
          <a:bodyPr wrap="square" lIns="212598" tIns="170053" rIns="0" bIns="0" rtlCol="0" anchor="ctr">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O que oferece</a:t>
            </a:r>
            <a:endParaRPr lang="en-US" sz="1000" dirty="0"/>
          </a:p>
        </p:txBody>
      </p:sp>
      <p:sp>
        <p:nvSpPr>
          <p:cNvPr id="12" name="Shape 8"/>
          <p:cNvSpPr/>
          <p:nvPr/>
        </p:nvSpPr>
        <p:spPr>
          <a:xfrm>
            <a:off x="5905426" y="1761604"/>
            <a:ext cx="2667074" cy="500063"/>
          </a:xfrm>
          <a:prstGeom prst="rect">
            <a:avLst/>
          </a:prstGeom>
          <a:solidFill>
            <a:srgbClr val="00B4D8"/>
          </a:solidFill>
          <a:ln/>
        </p:spPr>
      </p:sp>
      <p:sp>
        <p:nvSpPr>
          <p:cNvPr id="13" name="Text 9"/>
          <p:cNvSpPr/>
          <p:nvPr/>
        </p:nvSpPr>
        <p:spPr>
          <a:xfrm>
            <a:off x="5905426" y="1761604"/>
            <a:ext cx="2667074" cy="500063"/>
          </a:xfrm>
          <a:prstGeom prst="rect">
            <a:avLst/>
          </a:prstGeom>
          <a:noFill/>
          <a:ln/>
        </p:spPr>
        <p:txBody>
          <a:bodyPr wrap="square" lIns="212598" tIns="170053" rIns="0" bIns="0" rtlCol="0" anchor="ctr">
            <a:spAutoFit/>
          </a:bodyPr>
          <a:lstStyle/>
          <a:p>
            <a:pPr algn="l" indent="0" marL="0">
              <a:buNone/>
            </a:pPr>
            <a:r>
              <a:rPr lang="en-US" sz="1000" b="1" dirty="0">
                <a:solidFill>
                  <a:srgbClr val="FFFFFF"/>
                </a:solidFill>
                <a:latin typeface="Arial" pitchFamily="34" charset="0"/>
                <a:ea typeface="Arial" pitchFamily="34" charset="-122"/>
                <a:cs typeface="Arial" pitchFamily="34" charset="-120"/>
              </a:rPr>
              <a:t>O que o CAC acrescenta</a:t>
            </a:r>
            <a:endParaRPr lang="en-US" sz="1000" dirty="0"/>
          </a:p>
        </p:txBody>
      </p:sp>
      <p:sp>
        <p:nvSpPr>
          <p:cNvPr id="14" name="Text 10"/>
          <p:cNvSpPr/>
          <p:nvPr/>
        </p:nvSpPr>
        <p:spPr>
          <a:xfrm>
            <a:off x="714375" y="2390254"/>
            <a:ext cx="2381213"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Portal Sharm el-Sheikh</a:t>
            </a:r>
            <a:endParaRPr lang="en-US" sz="900" dirty="0"/>
          </a:p>
        </p:txBody>
      </p:sp>
      <p:sp>
        <p:nvSpPr>
          <p:cNvPr id="15" name="Text 11"/>
          <p:cNvSpPr/>
          <p:nvPr/>
        </p:nvSpPr>
        <p:spPr>
          <a:xfrm>
            <a:off x="714375" y="2661717"/>
            <a:ext cx="1071730" cy="14644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UNFCCC / COP27</a:t>
            </a:r>
            <a:endParaRPr lang="en-US" sz="950" dirty="0"/>
          </a:p>
        </p:txBody>
      </p:sp>
      <p:sp>
        <p:nvSpPr>
          <p:cNvPr id="16" name="Text 12"/>
          <p:cNvSpPr/>
          <p:nvPr/>
        </p:nvSpPr>
        <p:spPr>
          <a:xfrm>
            <a:off x="3238463" y="2261667"/>
            <a:ext cx="2666963" cy="700088"/>
          </a:xfrm>
          <a:prstGeom prst="rect">
            <a:avLst/>
          </a:prstGeom>
          <a:noFill/>
          <a:ln/>
        </p:spPr>
        <p:txBody>
          <a:bodyPr wrap="square" lIns="170053" tIns="153035" rIns="170053"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Repositório global de projetos, políticas e iniciativas climáticas.</a:t>
            </a:r>
            <a:endParaRPr lang="en-US" sz="950" dirty="0"/>
          </a:p>
        </p:txBody>
      </p:sp>
      <p:sp>
        <p:nvSpPr>
          <p:cNvPr id="17" name="Text 13"/>
          <p:cNvSpPr/>
          <p:nvPr/>
        </p:nvSpPr>
        <p:spPr>
          <a:xfrm>
            <a:off x="5905426" y="2261667"/>
            <a:ext cx="2667074" cy="700088"/>
          </a:xfrm>
          <a:prstGeom prst="rect">
            <a:avLst/>
          </a:prstGeom>
          <a:noFill/>
          <a:ln/>
        </p:spPr>
        <p:txBody>
          <a:bodyPr wrap="square" lIns="170053" tIns="153035" rIns="170053"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Matchmaking inteligente orientado diretamente ao desafio do usuário.</a:t>
            </a:r>
            <a:endParaRPr lang="en-US" sz="900" dirty="0"/>
          </a:p>
        </p:txBody>
      </p:sp>
      <p:sp>
        <p:nvSpPr>
          <p:cNvPr id="18" name="Text 14"/>
          <p:cNvSpPr/>
          <p:nvPr/>
        </p:nvSpPr>
        <p:spPr>
          <a:xfrm>
            <a:off x="714375" y="3093913"/>
            <a:ext cx="2381213"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Vitrines de Ecossistema</a:t>
            </a:r>
            <a:endParaRPr lang="en-US" sz="900" dirty="0"/>
          </a:p>
        </p:txBody>
      </p:sp>
      <p:sp>
        <p:nvSpPr>
          <p:cNvPr id="19" name="Text 15"/>
          <p:cNvSpPr/>
          <p:nvPr/>
        </p:nvSpPr>
        <p:spPr>
          <a:xfrm>
            <a:off x="714375" y="3365376"/>
            <a:ext cx="1222251" cy="14644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Startup Nation Finder</a:t>
            </a:r>
            <a:endParaRPr lang="en-US" sz="950" dirty="0"/>
          </a:p>
        </p:txBody>
      </p:sp>
      <p:sp>
        <p:nvSpPr>
          <p:cNvPr id="20" name="Text 16"/>
          <p:cNvSpPr/>
          <p:nvPr/>
        </p:nvSpPr>
        <p:spPr>
          <a:xfrm>
            <a:off x="3238463" y="2961754"/>
            <a:ext cx="2666963" cy="700088"/>
          </a:xfrm>
          <a:prstGeom prst="rect">
            <a:avLst/>
          </a:prstGeom>
          <a:noFill/>
          <a:ln/>
        </p:spPr>
        <p:txBody>
          <a:bodyPr wrap="square" lIns="170053" tIns="153035" rIns="170053"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Perfis estruturados, filtros avançados e descoberta de atores.</a:t>
            </a:r>
            <a:endParaRPr lang="en-US" sz="950" dirty="0"/>
          </a:p>
        </p:txBody>
      </p:sp>
      <p:sp>
        <p:nvSpPr>
          <p:cNvPr id="21" name="Text 17"/>
          <p:cNvSpPr/>
          <p:nvPr/>
        </p:nvSpPr>
        <p:spPr>
          <a:xfrm>
            <a:off x="5905426" y="2961754"/>
            <a:ext cx="2667074" cy="700088"/>
          </a:xfrm>
          <a:prstGeom prst="rect">
            <a:avLst/>
          </a:prstGeom>
          <a:noFill/>
          <a:ln/>
        </p:spPr>
        <p:txBody>
          <a:bodyPr wrap="square" lIns="170053" tIns="153035" rIns="170053"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Score de aderência percentual com explicação clara dos fatores de match.</a:t>
            </a:r>
            <a:endParaRPr lang="en-US" sz="900" dirty="0"/>
          </a:p>
        </p:txBody>
      </p:sp>
      <p:sp>
        <p:nvSpPr>
          <p:cNvPr id="22" name="Text 18"/>
          <p:cNvSpPr/>
          <p:nvPr/>
        </p:nvSpPr>
        <p:spPr>
          <a:xfrm>
            <a:off x="714375" y="3794001"/>
            <a:ext cx="2381213"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Inventários e Metas</a:t>
            </a:r>
            <a:endParaRPr lang="en-US" sz="900" dirty="0"/>
          </a:p>
        </p:txBody>
      </p:sp>
      <p:sp>
        <p:nvSpPr>
          <p:cNvPr id="23" name="Text 19"/>
          <p:cNvSpPr/>
          <p:nvPr/>
        </p:nvSpPr>
        <p:spPr>
          <a:xfrm>
            <a:off x="714375" y="4065463"/>
            <a:ext cx="1100696" cy="146447"/>
          </a:xfrm>
          <a:prstGeom prst="rect">
            <a:avLst/>
          </a:prstGeom>
          <a:noFill/>
          <a:ln/>
        </p:spPr>
        <p:txBody>
          <a:bodyPr wrap="none" lIns="0" tIns="0" rIns="0"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Net Zero / Carbono</a:t>
            </a:r>
            <a:endParaRPr lang="en-US" sz="950" dirty="0"/>
          </a:p>
        </p:txBody>
      </p:sp>
      <p:sp>
        <p:nvSpPr>
          <p:cNvPr id="24" name="Text 20"/>
          <p:cNvSpPr/>
          <p:nvPr/>
        </p:nvSpPr>
        <p:spPr>
          <a:xfrm>
            <a:off x="3238463" y="3661842"/>
            <a:ext cx="2666963" cy="700088"/>
          </a:xfrm>
          <a:prstGeom prst="rect">
            <a:avLst/>
          </a:prstGeom>
          <a:noFill/>
          <a:ln/>
        </p:spPr>
        <p:txBody>
          <a:bodyPr wrap="square" lIns="170053" tIns="153035" rIns="170053" bIns="0" rtlCol="0" anchor="t">
            <a:spAutoFit/>
          </a:bodyPr>
          <a:lstStyle/>
          <a:p>
            <a:pPr algn="l" indent="0" marL="0">
              <a:lnSpc>
                <a:spcPct val="120000"/>
              </a:lnSpc>
              <a:buNone/>
            </a:pPr>
            <a:r>
              <a:rPr lang="en-US" sz="950" dirty="0">
                <a:solidFill>
                  <a:srgbClr val="4A5568"/>
                </a:solidFill>
                <a:latin typeface="Arial" pitchFamily="34" charset="0"/>
                <a:ea typeface="Arial" pitchFamily="34" charset="-122"/>
                <a:cs typeface="Arial" pitchFamily="34" charset="-120"/>
              </a:rPr>
              <a:t>Foco em medição, acompanhamento e inventários de emissões.</a:t>
            </a:r>
            <a:endParaRPr lang="en-US" sz="950" dirty="0"/>
          </a:p>
        </p:txBody>
      </p:sp>
      <p:sp>
        <p:nvSpPr>
          <p:cNvPr id="25" name="Text 21"/>
          <p:cNvSpPr/>
          <p:nvPr/>
        </p:nvSpPr>
        <p:spPr>
          <a:xfrm>
            <a:off x="5905426" y="3661842"/>
            <a:ext cx="2667074" cy="700088"/>
          </a:xfrm>
          <a:prstGeom prst="rect">
            <a:avLst/>
          </a:prstGeom>
          <a:noFill/>
          <a:ln/>
        </p:spPr>
        <p:txBody>
          <a:bodyPr wrap="square" lIns="170053" tIns="153035" rIns="170053" bIns="0" rtlCol="0" anchor="t">
            <a:spAutoFit/>
          </a:bodyPr>
          <a:lstStyle/>
          <a:p>
            <a:pPr algn="l" indent="0" marL="0">
              <a:lnSpc>
                <a:spcPct val="120000"/>
              </a:lnSpc>
              <a:buNone/>
            </a:pPr>
            <a:r>
              <a:rPr lang="en-US" sz="900" b="1" dirty="0">
                <a:solidFill>
                  <a:srgbClr val="0B1D51"/>
                </a:solidFill>
                <a:latin typeface="Arial" pitchFamily="34" charset="0"/>
                <a:ea typeface="Arial" pitchFamily="34" charset="-122"/>
                <a:cs typeface="Arial" pitchFamily="34" charset="-120"/>
              </a:rPr>
              <a:t>Caminho prático até parceiros e financiamento para execução.</a:t>
            </a:r>
            <a:endParaRPr lang="en-US" sz="900" dirty="0"/>
          </a:p>
        </p:txBody>
      </p:sp>
      <p:sp>
        <p:nvSpPr>
          <p:cNvPr id="26" name="Text 22"/>
          <p:cNvSpPr/>
          <p:nvPr/>
        </p:nvSpPr>
        <p:spPr>
          <a:xfrm>
            <a:off x="571500" y="4651251"/>
            <a:ext cx="8001000" cy="471488"/>
          </a:xfrm>
          <a:prstGeom prst="rect">
            <a:avLst/>
          </a:prstGeom>
          <a:noFill/>
          <a:ln/>
        </p:spPr>
        <p:txBody>
          <a:bodyPr wrap="square" lIns="0" tIns="170053" rIns="0" bIns="0" rtlCol="0" anchor="t">
            <a:spAutoFit/>
          </a:bodyPr>
          <a:lstStyle/>
          <a:p>
            <a:pPr algn="l" indent="0" marL="0">
              <a:buNone/>
            </a:pPr>
            <a:r>
              <a:rPr lang="en-US" sz="950" i="1" dirty="0">
                <a:solidFill>
                  <a:srgbClr val="718096"/>
                </a:solidFill>
                <a:latin typeface="Georgia" pitchFamily="34" charset="0"/>
                <a:ea typeface="Georgia" pitchFamily="34" charset="-122"/>
                <a:cs typeface="Georgia" pitchFamily="34" charset="-120"/>
              </a:rPr>
              <a:t>O Climate Action Connect complementa, não substitui, o Portal Sharm el-Sheikh. A proposta é aproximar o conhecimento e a política global da implementação concreta no território.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ESTRUTURA DE ACESSO</a:t>
            </a:r>
            <a:endParaRPr lang="en-US" sz="900" dirty="0"/>
          </a:p>
        </p:txBody>
      </p:sp>
      <p:sp>
        <p:nvSpPr>
          <p:cNvPr id="5" name="Text 1"/>
          <p:cNvSpPr/>
          <p:nvPr/>
        </p:nvSpPr>
        <p:spPr>
          <a:xfrm>
            <a:off x="571500" y="650081"/>
            <a:ext cx="8572500" cy="880021"/>
          </a:xfrm>
          <a:prstGeom prst="rect">
            <a:avLst/>
          </a:prstGeom>
          <a:noFill/>
          <a:ln/>
        </p:spPr>
        <p:txBody>
          <a:bodyPr wrap="square" lIns="0" tIns="0" rIns="0" bIns="0" rtlCol="0" anchor="t">
            <a:spAutoFit/>
          </a:bodyPr>
          <a:lstStyle/>
          <a:p>
            <a:pPr algn="l" indent="0" marL="0">
              <a:lnSpc>
                <a:spcPct val="88000"/>
              </a:lnSpc>
              <a:buNone/>
            </a:pPr>
            <a:r>
              <a:rPr lang="en-US" sz="2850" b="1" spc="-1" kern="0" dirty="0">
                <a:solidFill>
                  <a:srgbClr val="0B1D51"/>
                </a:solidFill>
                <a:latin typeface="Arial" pitchFamily="34" charset="0"/>
                <a:ea typeface="Arial" pitchFamily="34" charset="-122"/>
                <a:cs typeface="Arial" pitchFamily="34" charset="-120"/>
              </a:rPr>
              <a:t>Quatro portas de entrada,</a:t>
            </a:r>
            <a:r>
              <a:rPr lang="en-US" sz="2850" b="1" spc="-1" kern="0" dirty="0">
                <a:solidFill>
                  <a:srgbClr val="0B1D51"/>
                </a:solidFill>
                <a:latin typeface="Arial" pitchFamily="34" charset="0"/>
                <a:ea typeface="Arial" pitchFamily="34" charset="-122"/>
                <a:cs typeface="Arial" pitchFamily="34" charset="-120"/>
              </a:rPr>
              <a:t>
</a:t>
            </a:r>
            <a:r>
              <a:rPr lang="en-US" sz="2850" b="1" spc="-1" kern="0" dirty="0">
                <a:solidFill>
                  <a:srgbClr val="0B1D51"/>
                </a:solidFill>
                <a:latin typeface="Arial" pitchFamily="34" charset="0"/>
                <a:ea typeface="Arial" pitchFamily="34" charset="-122"/>
                <a:cs typeface="Arial" pitchFamily="34" charset="-120"/>
              </a:rPr>
              <a:t>um mesmo motor de conexão</a:t>
            </a:r>
            <a:endParaRPr lang="en-US" sz="2850" dirty="0"/>
          </a:p>
        </p:txBody>
      </p:sp>
      <p:sp>
        <p:nvSpPr>
          <p:cNvPr id="6" name="Shape 2"/>
          <p:cNvSpPr/>
          <p:nvPr/>
        </p:nvSpPr>
        <p:spPr>
          <a:xfrm>
            <a:off x="0" y="1744414"/>
            <a:ext cx="9144000" cy="196453"/>
          </a:xfrm>
          <a:prstGeom prst="rect">
            <a:avLst/>
          </a:prstGeom>
          <a:solidFill>
            <a:srgbClr val="000000">
              <a:alpha val="0"/>
            </a:srgbClr>
          </a:solidFill>
          <a:ln/>
        </p:spPr>
      </p:sp>
      <p:sp>
        <p:nvSpPr>
          <p:cNvPr id="7" name="Shape 3"/>
          <p:cNvSpPr/>
          <p:nvPr/>
        </p:nvSpPr>
        <p:spPr>
          <a:xfrm>
            <a:off x="0" y="1744414"/>
            <a:ext cx="35719" cy="196453"/>
          </a:xfrm>
          <a:prstGeom prst="rect">
            <a:avLst/>
          </a:prstGeom>
          <a:solidFill>
            <a:srgbClr val="F4B942"/>
          </a:solidFill>
          <a:ln/>
        </p:spPr>
      </p:sp>
      <p:sp>
        <p:nvSpPr>
          <p:cNvPr id="8" name="Text 4"/>
          <p:cNvSpPr/>
          <p:nvPr/>
        </p:nvSpPr>
        <p:spPr>
          <a:xfrm>
            <a:off x="0" y="1744414"/>
            <a:ext cx="9144000" cy="196453"/>
          </a:xfrm>
          <a:prstGeom prst="rect">
            <a:avLst/>
          </a:prstGeom>
          <a:noFill/>
          <a:ln/>
        </p:spPr>
        <p:txBody>
          <a:bodyPr wrap="square" lIns="680339" tIns="0" rIns="0" bIns="0" rtlCol="0" anchor="t">
            <a:spAutoFit/>
          </a:bodyPr>
          <a:lstStyle/>
          <a:p>
            <a:pPr algn="l" indent="0" marL="0">
              <a:buNone/>
            </a:pPr>
            <a:r>
              <a:rPr lang="en-US" sz="1250" dirty="0">
                <a:solidFill>
                  <a:srgbClr val="0B1D51"/>
                </a:solidFill>
                <a:latin typeface="Georgia" pitchFamily="34" charset="0"/>
                <a:ea typeface="Georgia" pitchFamily="34" charset="-122"/>
                <a:cs typeface="Georgia" pitchFamily="34" charset="-120"/>
              </a:rPr>
              <a:t>Na home, a barra central reforça a pergunta: </a:t>
            </a:r>
            <a:r>
              <a:rPr lang="en-US" sz="1200" b="1" dirty="0">
                <a:solidFill>
                  <a:srgbClr val="0B1D51"/>
                </a:solidFill>
                <a:latin typeface="Georgia" pitchFamily="34" charset="0"/>
                <a:ea typeface="Georgia" pitchFamily="34" charset="-122"/>
                <a:cs typeface="Georgia" pitchFamily="34" charset="-120"/>
              </a:rPr>
              <a:t>"O que você está procurando?"</a:t>
            </a:r>
            <a:endParaRPr lang="en-US" sz="1250" dirty="0"/>
          </a:p>
        </p:txBody>
      </p:sp>
      <p:sp>
        <p:nvSpPr>
          <p:cNvPr id="9" name="Shape 5"/>
          <p:cNvSpPr/>
          <p:nvPr/>
        </p:nvSpPr>
        <p:spPr>
          <a:xfrm>
            <a:off x="571500" y="2226618"/>
            <a:ext cx="3929063" cy="1321594"/>
          </a:xfrm>
          <a:prstGeom prst="rect">
            <a:avLst/>
          </a:prstGeom>
          <a:solidFill>
            <a:srgbClr val="F7FAFC"/>
          </a:solidFill>
          <a:ln w="9144">
            <a:solidFill>
              <a:srgbClr val="E2E8F0"/>
            </a:solidFill>
            <a:prstDash val="solid"/>
          </a:ln>
        </p:spPr>
      </p:sp>
      <p:pic>
        <p:nvPicPr>
          <p:cNvPr id="10" name="Image 1" descr="preencoded.png">    </p:cNvPr>
          <p:cNvPicPr>
            <a:picLocks noChangeAspect="1"/>
          </p:cNvPicPr>
          <p:nvPr/>
        </p:nvPicPr>
        <p:blipFill>
          <a:blip r:embed="rId2"/>
          <a:stretch>
            <a:fillRect/>
          </a:stretch>
        </p:blipFill>
        <p:spPr>
          <a:xfrm>
            <a:off x="785813" y="2440930"/>
            <a:ext cx="3500438" cy="228600"/>
          </a:xfrm>
          <a:prstGeom prst="rect">
            <a:avLst/>
          </a:prstGeom>
        </p:spPr>
      </p:pic>
      <p:sp>
        <p:nvSpPr>
          <p:cNvPr id="11" name="Text 6"/>
          <p:cNvSpPr/>
          <p:nvPr/>
        </p:nvSpPr>
        <p:spPr>
          <a:xfrm>
            <a:off x="785813" y="2776686"/>
            <a:ext cx="3500438" cy="196453"/>
          </a:xfrm>
          <a:prstGeom prst="rect">
            <a:avLst/>
          </a:prstGeom>
          <a:noFill/>
          <a:ln/>
        </p:spPr>
        <p:txBody>
          <a:bodyPr wrap="square" lIns="0" tIns="0" rIns="0" bIns="0" rtlCol="0" anchor="t">
            <a:spAutoFit/>
          </a:bodyPr>
          <a:lstStyle/>
          <a:p>
            <a:pPr algn="l" indent="0" marL="0">
              <a:buNone/>
            </a:pPr>
            <a:r>
              <a:rPr lang="en-US" sz="1200" b="1" dirty="0">
                <a:solidFill>
                  <a:srgbClr val="0B1D51"/>
                </a:solidFill>
                <a:latin typeface="Arial" pitchFamily="34" charset="0"/>
                <a:ea typeface="Arial" pitchFamily="34" charset="-122"/>
                <a:cs typeface="Arial" pitchFamily="34" charset="-120"/>
              </a:rPr>
              <a:t>ENCONTRAR UMA SOLUÇÃO</a:t>
            </a:r>
            <a:endParaRPr lang="en-US" sz="1200" dirty="0"/>
          </a:p>
        </p:txBody>
      </p:sp>
      <p:sp>
        <p:nvSpPr>
          <p:cNvPr id="12" name="Text 7"/>
          <p:cNvSpPr/>
          <p:nvPr/>
        </p:nvSpPr>
        <p:spPr>
          <a:xfrm>
            <a:off x="785813" y="3044577"/>
            <a:ext cx="3500438"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Tecnologia, prática ou conhecimento para um problema</a:t>
            </a:r>
            <a:endParaRPr lang="en-US" sz="950" dirty="0"/>
          </a:p>
        </p:txBody>
      </p:sp>
      <p:sp>
        <p:nvSpPr>
          <p:cNvPr id="13" name="Text 8"/>
          <p:cNvSpPr/>
          <p:nvPr/>
        </p:nvSpPr>
        <p:spPr>
          <a:xfrm>
            <a:off x="785813" y="3251746"/>
            <a:ext cx="3500438" cy="132159"/>
          </a:xfrm>
          <a:prstGeom prst="rect">
            <a:avLst/>
          </a:prstGeom>
          <a:noFill/>
          <a:ln/>
        </p:spPr>
        <p:txBody>
          <a:bodyPr wrap="square" lIns="0" tIns="0" rIns="0" bIns="0" rtlCol="0" anchor="t">
            <a:spAutoFit/>
          </a:bodyPr>
          <a:lstStyle/>
          <a:p>
            <a:pPr algn="l" indent="0" marL="0">
              <a:buNone/>
            </a:pPr>
            <a:r>
              <a:rPr lang="en-US" sz="850" i="1" dirty="0">
                <a:solidFill>
                  <a:srgbClr val="718096"/>
                </a:solidFill>
                <a:latin typeface="Georgia" pitchFamily="34" charset="0"/>
                <a:ea typeface="Georgia" pitchFamily="34" charset="-122"/>
                <a:cs typeface="Georgia" pitchFamily="34" charset="-120"/>
              </a:rPr>
              <a:t>"Tecnologia para reduzir emissões na pecuária"</a:t>
            </a:r>
            <a:endParaRPr lang="en-US" sz="850" dirty="0"/>
          </a:p>
        </p:txBody>
      </p:sp>
      <p:sp>
        <p:nvSpPr>
          <p:cNvPr id="14" name="Shape 9"/>
          <p:cNvSpPr/>
          <p:nvPr/>
        </p:nvSpPr>
        <p:spPr>
          <a:xfrm>
            <a:off x="4643438" y="2226618"/>
            <a:ext cx="3929063" cy="1321594"/>
          </a:xfrm>
          <a:prstGeom prst="rect">
            <a:avLst/>
          </a:prstGeom>
          <a:solidFill>
            <a:srgbClr val="F7FAFC"/>
          </a:solidFill>
          <a:ln w="9144">
            <a:solidFill>
              <a:srgbClr val="E2E8F0"/>
            </a:solidFill>
            <a:prstDash val="solid"/>
          </a:ln>
        </p:spPr>
      </p:sp>
      <p:pic>
        <p:nvPicPr>
          <p:cNvPr id="15" name="Image 2" descr="preencoded.png">    </p:cNvPr>
          <p:cNvPicPr>
            <a:picLocks noChangeAspect="1"/>
          </p:cNvPicPr>
          <p:nvPr/>
        </p:nvPicPr>
        <p:blipFill>
          <a:blip r:embed="rId3"/>
          <a:stretch>
            <a:fillRect/>
          </a:stretch>
        </p:blipFill>
        <p:spPr>
          <a:xfrm>
            <a:off x="4857750" y="2440930"/>
            <a:ext cx="3500438" cy="228600"/>
          </a:xfrm>
          <a:prstGeom prst="rect">
            <a:avLst/>
          </a:prstGeom>
        </p:spPr>
      </p:pic>
      <p:sp>
        <p:nvSpPr>
          <p:cNvPr id="16" name="Text 10"/>
          <p:cNvSpPr/>
          <p:nvPr/>
        </p:nvSpPr>
        <p:spPr>
          <a:xfrm>
            <a:off x="4857750" y="2776686"/>
            <a:ext cx="3500438" cy="196453"/>
          </a:xfrm>
          <a:prstGeom prst="rect">
            <a:avLst/>
          </a:prstGeom>
          <a:noFill/>
          <a:ln/>
        </p:spPr>
        <p:txBody>
          <a:bodyPr wrap="square" lIns="0" tIns="0" rIns="0" bIns="0" rtlCol="0" anchor="t">
            <a:spAutoFit/>
          </a:bodyPr>
          <a:lstStyle/>
          <a:p>
            <a:pPr algn="l" indent="0" marL="0">
              <a:buNone/>
            </a:pPr>
            <a:r>
              <a:rPr lang="en-US" sz="1200" b="1" dirty="0">
                <a:solidFill>
                  <a:srgbClr val="0B1D51"/>
                </a:solidFill>
                <a:latin typeface="Arial" pitchFamily="34" charset="0"/>
                <a:ea typeface="Arial" pitchFamily="34" charset="-122"/>
                <a:cs typeface="Arial" pitchFamily="34" charset="-120"/>
              </a:rPr>
              <a:t>ENCONTRAR FINANCIAMENTO</a:t>
            </a:r>
            <a:endParaRPr lang="en-US" sz="1200" dirty="0"/>
          </a:p>
        </p:txBody>
      </p:sp>
      <p:sp>
        <p:nvSpPr>
          <p:cNvPr id="17" name="Text 11"/>
          <p:cNvSpPr/>
          <p:nvPr/>
        </p:nvSpPr>
        <p:spPr>
          <a:xfrm>
            <a:off x="4857750" y="3044577"/>
            <a:ext cx="3500438"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Recursos para implementar um projeto</a:t>
            </a:r>
            <a:endParaRPr lang="en-US" sz="950" dirty="0"/>
          </a:p>
        </p:txBody>
      </p:sp>
      <p:sp>
        <p:nvSpPr>
          <p:cNvPr id="18" name="Text 12"/>
          <p:cNvSpPr/>
          <p:nvPr/>
        </p:nvSpPr>
        <p:spPr>
          <a:xfrm>
            <a:off x="4857750" y="3251746"/>
            <a:ext cx="3500438" cy="132159"/>
          </a:xfrm>
          <a:prstGeom prst="rect">
            <a:avLst/>
          </a:prstGeom>
          <a:noFill/>
          <a:ln/>
        </p:spPr>
        <p:txBody>
          <a:bodyPr wrap="square" lIns="0" tIns="0" rIns="0" bIns="0" rtlCol="0" anchor="t">
            <a:spAutoFit/>
          </a:bodyPr>
          <a:lstStyle/>
          <a:p>
            <a:pPr algn="l" indent="0" marL="0">
              <a:buNone/>
            </a:pPr>
            <a:r>
              <a:rPr lang="en-US" sz="850" i="1" dirty="0">
                <a:solidFill>
                  <a:srgbClr val="718096"/>
                </a:solidFill>
                <a:latin typeface="Georgia" pitchFamily="34" charset="0"/>
                <a:ea typeface="Georgia" pitchFamily="34" charset="-122"/>
                <a:cs typeface="Georgia" pitchFamily="34" charset="-120"/>
              </a:rPr>
              <a:t>"Fundo para adaptação climática na agricultura familiar"</a:t>
            </a:r>
            <a:endParaRPr lang="en-US" sz="850" dirty="0"/>
          </a:p>
        </p:txBody>
      </p:sp>
      <p:sp>
        <p:nvSpPr>
          <p:cNvPr id="19" name="Shape 13"/>
          <p:cNvSpPr/>
          <p:nvPr/>
        </p:nvSpPr>
        <p:spPr>
          <a:xfrm>
            <a:off x="571500" y="3691086"/>
            <a:ext cx="3929063" cy="1321594"/>
          </a:xfrm>
          <a:prstGeom prst="rect">
            <a:avLst/>
          </a:prstGeom>
          <a:solidFill>
            <a:srgbClr val="F7FAFC"/>
          </a:solidFill>
          <a:ln w="9144">
            <a:solidFill>
              <a:srgbClr val="E2E8F0"/>
            </a:solidFill>
            <a:prstDash val="solid"/>
          </a:ln>
        </p:spPr>
      </p:sp>
      <p:pic>
        <p:nvPicPr>
          <p:cNvPr id="20" name="Image 3" descr="preencoded.png">    </p:cNvPr>
          <p:cNvPicPr>
            <a:picLocks noChangeAspect="1"/>
          </p:cNvPicPr>
          <p:nvPr/>
        </p:nvPicPr>
        <p:blipFill>
          <a:blip r:embed="rId4"/>
          <a:stretch>
            <a:fillRect/>
          </a:stretch>
        </p:blipFill>
        <p:spPr>
          <a:xfrm>
            <a:off x="785813" y="3891111"/>
            <a:ext cx="3500438" cy="228600"/>
          </a:xfrm>
          <a:prstGeom prst="rect">
            <a:avLst/>
          </a:prstGeom>
        </p:spPr>
      </p:pic>
      <p:sp>
        <p:nvSpPr>
          <p:cNvPr id="21" name="Text 14"/>
          <p:cNvSpPr/>
          <p:nvPr/>
        </p:nvSpPr>
        <p:spPr>
          <a:xfrm>
            <a:off x="785813" y="4226868"/>
            <a:ext cx="3500438" cy="196453"/>
          </a:xfrm>
          <a:prstGeom prst="rect">
            <a:avLst/>
          </a:prstGeom>
          <a:noFill/>
          <a:ln/>
        </p:spPr>
        <p:txBody>
          <a:bodyPr wrap="square" lIns="0" tIns="0" rIns="0" bIns="0" rtlCol="0" anchor="t">
            <a:spAutoFit/>
          </a:bodyPr>
          <a:lstStyle/>
          <a:p>
            <a:pPr algn="l" indent="0" marL="0">
              <a:buNone/>
            </a:pPr>
            <a:r>
              <a:rPr lang="en-US" sz="1200" b="1" dirty="0">
                <a:solidFill>
                  <a:srgbClr val="0B1D51"/>
                </a:solidFill>
                <a:latin typeface="Arial" pitchFamily="34" charset="0"/>
                <a:ea typeface="Arial" pitchFamily="34" charset="-122"/>
                <a:cs typeface="Arial" pitchFamily="34" charset="-120"/>
              </a:rPr>
              <a:t>ENCONTRAR UM PARCEIRO</a:t>
            </a:r>
            <a:endParaRPr lang="en-US" sz="1200" dirty="0"/>
          </a:p>
        </p:txBody>
      </p:sp>
      <p:sp>
        <p:nvSpPr>
          <p:cNvPr id="22" name="Text 15"/>
          <p:cNvSpPr/>
          <p:nvPr/>
        </p:nvSpPr>
        <p:spPr>
          <a:xfrm>
            <a:off x="785813" y="4494758"/>
            <a:ext cx="3500438" cy="300038"/>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Instituição para implementar, pesquisar ou transferir tecnologia</a:t>
            </a:r>
            <a:endParaRPr lang="en-US" sz="950" dirty="0"/>
          </a:p>
        </p:txBody>
      </p:sp>
      <p:sp>
        <p:nvSpPr>
          <p:cNvPr id="23" name="Text 16"/>
          <p:cNvSpPr/>
          <p:nvPr/>
        </p:nvSpPr>
        <p:spPr>
          <a:xfrm>
            <a:off x="785813" y="4851946"/>
            <a:ext cx="3500438" cy="132159"/>
          </a:xfrm>
          <a:prstGeom prst="rect">
            <a:avLst/>
          </a:prstGeom>
          <a:noFill/>
          <a:ln/>
        </p:spPr>
        <p:txBody>
          <a:bodyPr wrap="square" lIns="0" tIns="0" rIns="0" bIns="0" rtlCol="0" anchor="t">
            <a:spAutoFit/>
          </a:bodyPr>
          <a:lstStyle/>
          <a:p>
            <a:pPr algn="l" indent="0" marL="0">
              <a:buNone/>
            </a:pPr>
            <a:r>
              <a:rPr lang="en-US" sz="850" i="1" dirty="0">
                <a:solidFill>
                  <a:srgbClr val="718096"/>
                </a:solidFill>
                <a:latin typeface="Georgia" pitchFamily="34" charset="0"/>
                <a:ea typeface="Georgia" pitchFamily="34" charset="-122"/>
                <a:cs typeface="Georgia" pitchFamily="34" charset="-120"/>
              </a:rPr>
              <a:t>"Universidade para cooperação em segurança hídrica"</a:t>
            </a:r>
            <a:endParaRPr lang="en-US" sz="850" dirty="0"/>
          </a:p>
        </p:txBody>
      </p:sp>
      <p:sp>
        <p:nvSpPr>
          <p:cNvPr id="24" name="Shape 17"/>
          <p:cNvSpPr/>
          <p:nvPr/>
        </p:nvSpPr>
        <p:spPr>
          <a:xfrm>
            <a:off x="4643438" y="3676799"/>
            <a:ext cx="3929063" cy="1307306"/>
          </a:xfrm>
          <a:prstGeom prst="rect">
            <a:avLst/>
          </a:prstGeom>
          <a:solidFill>
            <a:srgbClr val="F7FAFC"/>
          </a:solidFill>
          <a:ln w="9144">
            <a:solidFill>
              <a:srgbClr val="E2E8F0"/>
            </a:solidFill>
            <a:prstDash val="solid"/>
          </a:ln>
        </p:spPr>
      </p:sp>
      <p:pic>
        <p:nvPicPr>
          <p:cNvPr id="25" name="Image 4" descr="preencoded.png">    </p:cNvPr>
          <p:cNvPicPr>
            <a:picLocks noChangeAspect="1"/>
          </p:cNvPicPr>
          <p:nvPr/>
        </p:nvPicPr>
        <p:blipFill>
          <a:blip r:embed="rId5"/>
          <a:stretch>
            <a:fillRect/>
          </a:stretch>
        </p:blipFill>
        <p:spPr>
          <a:xfrm>
            <a:off x="4857750" y="3891111"/>
            <a:ext cx="3500438" cy="228600"/>
          </a:xfrm>
          <a:prstGeom prst="rect">
            <a:avLst/>
          </a:prstGeom>
        </p:spPr>
      </p:pic>
      <p:sp>
        <p:nvSpPr>
          <p:cNvPr id="26" name="Text 18"/>
          <p:cNvSpPr/>
          <p:nvPr/>
        </p:nvSpPr>
        <p:spPr>
          <a:xfrm>
            <a:off x="4857750" y="4226868"/>
            <a:ext cx="3500438" cy="196453"/>
          </a:xfrm>
          <a:prstGeom prst="rect">
            <a:avLst/>
          </a:prstGeom>
          <a:noFill/>
          <a:ln/>
        </p:spPr>
        <p:txBody>
          <a:bodyPr wrap="square" lIns="0" tIns="0" rIns="0" bIns="0" rtlCol="0" anchor="t">
            <a:spAutoFit/>
          </a:bodyPr>
          <a:lstStyle/>
          <a:p>
            <a:pPr algn="l" indent="0" marL="0">
              <a:buNone/>
            </a:pPr>
            <a:r>
              <a:rPr lang="en-US" sz="1200" b="1" dirty="0">
                <a:solidFill>
                  <a:srgbClr val="0B1D51"/>
                </a:solidFill>
                <a:latin typeface="Arial" pitchFamily="34" charset="0"/>
                <a:ea typeface="Arial" pitchFamily="34" charset="-122"/>
                <a:cs typeface="Arial" pitchFamily="34" charset="-120"/>
              </a:rPr>
              <a:t>PUBLICAR UMA NECESSIDADE</a:t>
            </a:r>
            <a:endParaRPr lang="en-US" sz="1200" dirty="0"/>
          </a:p>
        </p:txBody>
      </p:sp>
      <p:sp>
        <p:nvSpPr>
          <p:cNvPr id="27" name="Text 19"/>
          <p:cNvSpPr/>
          <p:nvPr/>
        </p:nvSpPr>
        <p:spPr>
          <a:xfrm>
            <a:off x="4857750" y="4494758"/>
            <a:ext cx="3500438"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Registrar um desafio para a rede encontrar respostas</a:t>
            </a:r>
            <a:endParaRPr lang="en-US" sz="950" dirty="0"/>
          </a:p>
        </p:txBody>
      </p:sp>
      <p:sp>
        <p:nvSpPr>
          <p:cNvPr id="28" name="Text 20"/>
          <p:cNvSpPr/>
          <p:nvPr/>
        </p:nvSpPr>
        <p:spPr>
          <a:xfrm>
            <a:off x="4857750" y="4701927"/>
            <a:ext cx="3500438" cy="132159"/>
          </a:xfrm>
          <a:prstGeom prst="rect">
            <a:avLst/>
          </a:prstGeom>
          <a:noFill/>
          <a:ln/>
        </p:spPr>
        <p:txBody>
          <a:bodyPr wrap="square" lIns="0" tIns="0" rIns="0" bIns="0" rtlCol="0" anchor="t">
            <a:spAutoFit/>
          </a:bodyPr>
          <a:lstStyle/>
          <a:p>
            <a:pPr algn="l" indent="0" marL="0">
              <a:buNone/>
            </a:pPr>
            <a:r>
              <a:rPr lang="en-US" sz="850" i="1" dirty="0">
                <a:solidFill>
                  <a:srgbClr val="718096"/>
                </a:solidFill>
                <a:latin typeface="Georgia" pitchFamily="34" charset="0"/>
                <a:ea typeface="Georgia" pitchFamily="34" charset="-122"/>
                <a:cs typeface="Georgia" pitchFamily="34" charset="-120"/>
              </a:rPr>
              <a:t>"Perda de produtividade por seca no semiárido"</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57213" y="385763"/>
            <a:ext cx="8586788" cy="132159"/>
          </a:xfrm>
          <a:prstGeom prst="rect">
            <a:avLst/>
          </a:prstGeom>
          <a:noFill/>
          <a:ln/>
        </p:spPr>
        <p:txBody>
          <a:bodyPr wrap="square" lIns="0" tIns="0" rIns="0" bIns="0" rtlCol="0" anchor="t">
            <a:spAutoFit/>
          </a:bodyPr>
          <a:lstStyle/>
          <a:p>
            <a:pPr algn="l" indent="0" marL="0">
              <a:buNone/>
            </a:pPr>
            <a:r>
              <a:rPr lang="en-US" sz="800" b="1" spc="2" kern="0" dirty="0">
                <a:solidFill>
                  <a:srgbClr val="167D7F"/>
                </a:solidFill>
                <a:latin typeface="Arial" pitchFamily="34" charset="0"/>
                <a:ea typeface="Arial" pitchFamily="34" charset="-122"/>
                <a:cs typeface="Arial" pitchFamily="34" charset="-120"/>
              </a:rPr>
              <a:t>05 · EXPERIÊNCIA DO USUÁRIO</a:t>
            </a:r>
            <a:endParaRPr lang="en-US" sz="800" dirty="0"/>
          </a:p>
        </p:txBody>
      </p:sp>
      <p:sp>
        <p:nvSpPr>
          <p:cNvPr id="5" name="Text 1"/>
          <p:cNvSpPr/>
          <p:nvPr/>
        </p:nvSpPr>
        <p:spPr>
          <a:xfrm>
            <a:off x="557213" y="632222"/>
            <a:ext cx="8586788" cy="367903"/>
          </a:xfrm>
          <a:prstGeom prst="rect">
            <a:avLst/>
          </a:prstGeom>
          <a:noFill/>
          <a:ln/>
        </p:spPr>
        <p:txBody>
          <a:bodyPr wrap="square" lIns="0" tIns="0" rIns="0" bIns="0" rtlCol="0" anchor="t">
            <a:spAutoFit/>
          </a:bodyPr>
          <a:lstStyle/>
          <a:p>
            <a:pPr algn="l" indent="0" marL="0">
              <a:buNone/>
            </a:pPr>
            <a:r>
              <a:rPr lang="en-US" sz="2300" b="1" spc="-1" kern="0" dirty="0">
                <a:solidFill>
                  <a:srgbClr val="0B1D51"/>
                </a:solidFill>
                <a:latin typeface="Arial" pitchFamily="34" charset="0"/>
                <a:ea typeface="Arial" pitchFamily="34" charset="-122"/>
                <a:cs typeface="Arial" pitchFamily="34" charset="-120"/>
              </a:rPr>
              <a:t>Duas experiências, um produto integrado</a:t>
            </a:r>
            <a:endParaRPr lang="en-US" sz="2300" dirty="0"/>
          </a:p>
        </p:txBody>
      </p:sp>
      <p:sp>
        <p:nvSpPr>
          <p:cNvPr id="6" name="Shape 2"/>
          <p:cNvSpPr/>
          <p:nvPr/>
        </p:nvSpPr>
        <p:spPr>
          <a:xfrm>
            <a:off x="0" y="1343025"/>
            <a:ext cx="4572000" cy="3000375"/>
          </a:xfrm>
          <a:prstGeom prst="rect">
            <a:avLst/>
          </a:prstGeom>
          <a:solidFill>
            <a:srgbClr val="F7FAFC"/>
          </a:solidFill>
          <a:ln/>
        </p:spPr>
      </p:sp>
      <p:sp>
        <p:nvSpPr>
          <p:cNvPr id="7" name="Shape 3"/>
          <p:cNvSpPr/>
          <p:nvPr/>
        </p:nvSpPr>
        <p:spPr>
          <a:xfrm>
            <a:off x="0" y="1343025"/>
            <a:ext cx="4572000" cy="57150"/>
          </a:xfrm>
          <a:prstGeom prst="rect">
            <a:avLst/>
          </a:prstGeom>
          <a:solidFill>
            <a:srgbClr val="00B4D8"/>
          </a:solidFill>
          <a:ln/>
        </p:spPr>
      </p:sp>
      <p:pic>
        <p:nvPicPr>
          <p:cNvPr id="8" name="Image 1" descr="preencoded.png">    </p:cNvPr>
          <p:cNvPicPr>
            <a:picLocks noChangeAspect="1"/>
          </p:cNvPicPr>
          <p:nvPr/>
        </p:nvPicPr>
        <p:blipFill>
          <a:blip r:embed="rId2"/>
          <a:stretch>
            <a:fillRect/>
          </a:stretch>
        </p:blipFill>
        <p:spPr>
          <a:xfrm>
            <a:off x="557213" y="1644848"/>
            <a:ext cx="200025" cy="200025"/>
          </a:xfrm>
          <a:prstGeom prst="rect">
            <a:avLst/>
          </a:prstGeom>
        </p:spPr>
      </p:pic>
      <p:sp>
        <p:nvSpPr>
          <p:cNvPr id="9" name="Text 4"/>
          <p:cNvSpPr/>
          <p:nvPr/>
        </p:nvSpPr>
        <p:spPr>
          <a:xfrm>
            <a:off x="864394" y="1628775"/>
            <a:ext cx="1344811" cy="232172"/>
          </a:xfrm>
          <a:prstGeom prst="rect">
            <a:avLst/>
          </a:prstGeom>
          <a:noFill/>
          <a:ln/>
        </p:spPr>
        <p:txBody>
          <a:bodyPr wrap="square" lIns="0" tIns="0" rIns="0" bIns="0" rtlCol="0" anchor="t">
            <a:spAutoFit/>
          </a:bodyPr>
          <a:lstStyle/>
          <a:p>
            <a:pPr algn="l" indent="0" marL="0">
              <a:buNone/>
            </a:pPr>
            <a:r>
              <a:rPr lang="en-US" sz="1400" b="1" dirty="0">
                <a:solidFill>
                  <a:srgbClr val="0B1D51"/>
                </a:solidFill>
                <a:latin typeface="Arial" pitchFamily="34" charset="0"/>
                <a:ea typeface="Arial" pitchFamily="34" charset="-122"/>
                <a:cs typeface="Arial" pitchFamily="34" charset="-120"/>
              </a:rPr>
              <a:t>Portal Público</a:t>
            </a:r>
            <a:endParaRPr lang="en-US" sz="1400" dirty="0"/>
          </a:p>
        </p:txBody>
      </p:sp>
      <p:pic>
        <p:nvPicPr>
          <p:cNvPr id="10" name="Image 2" descr="preencoded.png">    </p:cNvPr>
          <p:cNvPicPr>
            <a:picLocks noChangeAspect="1"/>
          </p:cNvPicPr>
          <p:nvPr/>
        </p:nvPicPr>
        <p:blipFill>
          <a:blip r:embed="rId3"/>
          <a:stretch>
            <a:fillRect/>
          </a:stretch>
        </p:blipFill>
        <p:spPr>
          <a:xfrm>
            <a:off x="557213" y="2060972"/>
            <a:ext cx="114300" cy="114300"/>
          </a:xfrm>
          <a:prstGeom prst="rect">
            <a:avLst/>
          </a:prstGeom>
        </p:spPr>
      </p:pic>
      <p:sp>
        <p:nvSpPr>
          <p:cNvPr id="11" name="Text 5"/>
          <p:cNvSpPr/>
          <p:nvPr/>
        </p:nvSpPr>
        <p:spPr>
          <a:xfrm>
            <a:off x="757238" y="2032397"/>
            <a:ext cx="2981232" cy="189979"/>
          </a:xfrm>
          <a:prstGeom prst="rect">
            <a:avLst/>
          </a:prstGeom>
          <a:noFill/>
          <a:ln/>
        </p:spPr>
        <p:txBody>
          <a:bodyPr wrap="none" lIns="0" tIns="0" rIns="0" bIns="0" rtlCol="0" anchor="t">
            <a:spAutoFit/>
          </a:bodyPr>
          <a:lstStyle/>
          <a:p>
            <a:pPr algn="l" indent="0" marL="0">
              <a:lnSpc>
                <a:spcPct val="112000"/>
              </a:lnSpc>
              <a:buNone/>
            </a:pPr>
            <a:r>
              <a:rPr lang="en-US" sz="950" b="1" dirty="0">
                <a:solidFill>
                  <a:srgbClr val="0B1D51"/>
                </a:solidFill>
                <a:latin typeface="Georgia" pitchFamily="34" charset="0"/>
                <a:ea typeface="Georgia" pitchFamily="34" charset="-122"/>
                <a:cs typeface="Georgia" pitchFamily="34" charset="-120"/>
              </a:rPr>
              <a:t>Descoberta aberta:</a:t>
            </a:r>
            <a:r>
              <a:rPr lang="en-US" sz="1000" dirty="0">
                <a:solidFill>
                  <a:srgbClr val="0B1D51"/>
                </a:solidFill>
                <a:latin typeface="Georgia" pitchFamily="34" charset="0"/>
                <a:ea typeface="Georgia" pitchFamily="34" charset="-122"/>
                <a:cs typeface="Georgia" pitchFamily="34" charset="-120"/>
              </a:rPr>
              <a:t> busca e inspiração para visitantes.</a:t>
            </a:r>
            <a:endParaRPr lang="en-US" sz="950" dirty="0"/>
          </a:p>
        </p:txBody>
      </p:sp>
      <p:pic>
        <p:nvPicPr>
          <p:cNvPr id="12" name="Image 3" descr="preencoded.png">    </p:cNvPr>
          <p:cNvPicPr>
            <a:picLocks noChangeAspect="1"/>
          </p:cNvPicPr>
          <p:nvPr/>
        </p:nvPicPr>
        <p:blipFill>
          <a:blip r:embed="rId4"/>
          <a:stretch>
            <a:fillRect/>
          </a:stretch>
        </p:blipFill>
        <p:spPr>
          <a:xfrm>
            <a:off x="557213" y="2379538"/>
            <a:ext cx="114300" cy="114300"/>
          </a:xfrm>
          <a:prstGeom prst="rect">
            <a:avLst/>
          </a:prstGeom>
        </p:spPr>
      </p:pic>
      <p:sp>
        <p:nvSpPr>
          <p:cNvPr id="13" name="Text 6"/>
          <p:cNvSpPr/>
          <p:nvPr/>
        </p:nvSpPr>
        <p:spPr>
          <a:xfrm>
            <a:off x="757238" y="2350963"/>
            <a:ext cx="3257550" cy="379958"/>
          </a:xfrm>
          <a:prstGeom prst="rect">
            <a:avLst/>
          </a:prstGeom>
          <a:noFill/>
          <a:ln/>
        </p:spPr>
        <p:txBody>
          <a:bodyPr wrap="square" lIns="0" tIns="0" rIns="0" bIns="0" rtlCol="0" anchor="t">
            <a:spAutoFit/>
          </a:bodyPr>
          <a:lstStyle/>
          <a:p>
            <a:pPr algn="l" indent="0" marL="0">
              <a:lnSpc>
                <a:spcPct val="112000"/>
              </a:lnSpc>
              <a:buNone/>
            </a:pPr>
            <a:r>
              <a:rPr lang="en-US" sz="950" b="1" dirty="0">
                <a:solidFill>
                  <a:srgbClr val="0B1D51"/>
                </a:solidFill>
                <a:latin typeface="Georgia" pitchFamily="34" charset="0"/>
                <a:ea typeface="Georgia" pitchFamily="34" charset="-122"/>
                <a:cs typeface="Georgia" pitchFamily="34" charset="-120"/>
              </a:rPr>
              <a:t>Resultados com score:</a:t>
            </a:r>
            <a:r>
              <a:rPr lang="en-US" sz="1000" dirty="0">
                <a:solidFill>
                  <a:srgbClr val="0B1D51"/>
                </a:solidFill>
                <a:latin typeface="Georgia" pitchFamily="34" charset="0"/>
                <a:ea typeface="Georgia" pitchFamily="34" charset="-122"/>
                <a:cs typeface="Georgia" pitchFamily="34" charset="-120"/>
              </a:rPr>
              <a:t> transparência no "por que este </a:t>
            </a:r>
            <a:r>
              <a:rPr lang="en-US" sz="1000" dirty="0">
                <a:solidFill>
                  <a:srgbClr val="0B1D51"/>
                </a:solidFill>
                <a:latin typeface="Georgia" pitchFamily="34" charset="0"/>
                <a:ea typeface="Georgia" pitchFamily="34" charset="-122"/>
                <a:cs typeface="Georgia" pitchFamily="34" charset="-120"/>
              </a:rPr>
              <a:t>match?".</a:t>
            </a:r>
            <a:endParaRPr lang="en-US" sz="950" dirty="0"/>
          </a:p>
        </p:txBody>
      </p:sp>
      <p:pic>
        <p:nvPicPr>
          <p:cNvPr id="14" name="Image 4" descr="preencoded.png">    </p:cNvPr>
          <p:cNvPicPr>
            <a:picLocks noChangeAspect="1"/>
          </p:cNvPicPr>
          <p:nvPr/>
        </p:nvPicPr>
        <p:blipFill>
          <a:blip r:embed="rId5"/>
          <a:stretch>
            <a:fillRect/>
          </a:stretch>
        </p:blipFill>
        <p:spPr>
          <a:xfrm>
            <a:off x="557213" y="2888084"/>
            <a:ext cx="114300" cy="114300"/>
          </a:xfrm>
          <a:prstGeom prst="rect">
            <a:avLst/>
          </a:prstGeom>
        </p:spPr>
      </p:pic>
      <p:sp>
        <p:nvSpPr>
          <p:cNvPr id="15" name="Text 7"/>
          <p:cNvSpPr/>
          <p:nvPr/>
        </p:nvSpPr>
        <p:spPr>
          <a:xfrm>
            <a:off x="757238" y="2859509"/>
            <a:ext cx="3257550" cy="379958"/>
          </a:xfrm>
          <a:prstGeom prst="rect">
            <a:avLst/>
          </a:prstGeom>
          <a:noFill/>
          <a:ln/>
        </p:spPr>
        <p:txBody>
          <a:bodyPr wrap="square" lIns="0" tIns="0" rIns="0" bIns="0" rtlCol="0" anchor="t">
            <a:spAutoFit/>
          </a:bodyPr>
          <a:lstStyle/>
          <a:p>
            <a:pPr algn="l" indent="0" marL="0">
              <a:lnSpc>
                <a:spcPct val="112000"/>
              </a:lnSpc>
              <a:buNone/>
            </a:pPr>
            <a:r>
              <a:rPr lang="en-US" sz="950" b="1" dirty="0">
                <a:solidFill>
                  <a:srgbClr val="0B1D51"/>
                </a:solidFill>
                <a:latin typeface="Georgia" pitchFamily="34" charset="0"/>
                <a:ea typeface="Georgia" pitchFamily="34" charset="-122"/>
                <a:cs typeface="Georgia" pitchFamily="34" charset="-120"/>
              </a:rPr>
              <a:t>Páginas de soluções:</a:t>
            </a:r>
            <a:r>
              <a:rPr lang="en-US" sz="1000" dirty="0">
                <a:solidFill>
                  <a:srgbClr val="0B1D51"/>
                </a:solidFill>
                <a:latin typeface="Georgia" pitchFamily="34" charset="0"/>
                <a:ea typeface="Georgia" pitchFamily="34" charset="-122"/>
                <a:cs typeface="Georgia" pitchFamily="34" charset="-120"/>
              </a:rPr>
              <a:t> vitrine completa de tecnologias e </a:t>
            </a:r>
            <a:r>
              <a:rPr lang="en-US" sz="1000" dirty="0">
                <a:solidFill>
                  <a:srgbClr val="0B1D51"/>
                </a:solidFill>
                <a:latin typeface="Georgia" pitchFamily="34" charset="0"/>
                <a:ea typeface="Georgia" pitchFamily="34" charset="-122"/>
                <a:cs typeface="Georgia" pitchFamily="34" charset="-120"/>
              </a:rPr>
              <a:t>organizações.</a:t>
            </a:r>
            <a:endParaRPr lang="en-US" sz="950" dirty="0"/>
          </a:p>
        </p:txBody>
      </p:sp>
      <p:sp>
        <p:nvSpPr>
          <p:cNvPr id="16" name="Shape 8"/>
          <p:cNvSpPr/>
          <p:nvPr/>
        </p:nvSpPr>
        <p:spPr>
          <a:xfrm>
            <a:off x="4572000" y="1343025"/>
            <a:ext cx="4572000" cy="3000375"/>
          </a:xfrm>
          <a:prstGeom prst="rect">
            <a:avLst/>
          </a:prstGeom>
          <a:solidFill>
            <a:srgbClr val="0B1D51"/>
          </a:solidFill>
          <a:ln/>
        </p:spPr>
      </p:sp>
      <p:sp>
        <p:nvSpPr>
          <p:cNvPr id="17" name="Shape 9"/>
          <p:cNvSpPr/>
          <p:nvPr/>
        </p:nvSpPr>
        <p:spPr>
          <a:xfrm>
            <a:off x="4572000" y="1343025"/>
            <a:ext cx="4572000" cy="57150"/>
          </a:xfrm>
          <a:prstGeom prst="rect">
            <a:avLst/>
          </a:prstGeom>
          <a:solidFill>
            <a:srgbClr val="F4B942"/>
          </a:solidFill>
          <a:ln/>
        </p:spPr>
      </p:sp>
      <p:pic>
        <p:nvPicPr>
          <p:cNvPr id="18" name="Image 5" descr="preencoded.png">    </p:cNvPr>
          <p:cNvPicPr>
            <a:picLocks noChangeAspect="1"/>
          </p:cNvPicPr>
          <p:nvPr/>
        </p:nvPicPr>
        <p:blipFill>
          <a:blip r:embed="rId6"/>
          <a:stretch>
            <a:fillRect/>
          </a:stretch>
        </p:blipFill>
        <p:spPr>
          <a:xfrm>
            <a:off x="5129213" y="1644848"/>
            <a:ext cx="150019" cy="200025"/>
          </a:xfrm>
          <a:prstGeom prst="rect">
            <a:avLst/>
          </a:prstGeom>
        </p:spPr>
      </p:pic>
      <p:sp>
        <p:nvSpPr>
          <p:cNvPr id="19" name="Text 10"/>
          <p:cNvSpPr/>
          <p:nvPr/>
        </p:nvSpPr>
        <p:spPr>
          <a:xfrm>
            <a:off x="5386388" y="1628775"/>
            <a:ext cx="2134363" cy="232172"/>
          </a:xfrm>
          <a:prstGeom prst="rect">
            <a:avLst/>
          </a:prstGeom>
          <a:noFill/>
          <a:ln/>
        </p:spPr>
        <p:txBody>
          <a:bodyPr wrap="square" lIns="0" tIns="0" rIns="0" bIns="0" rtlCol="0" anchor="t">
            <a:spAutoFit/>
          </a:bodyPr>
          <a:lstStyle/>
          <a:p>
            <a:pPr algn="l" indent="0" marL="0">
              <a:buNone/>
            </a:pPr>
            <a:r>
              <a:rPr lang="en-US" sz="1400" b="1" dirty="0">
                <a:solidFill>
                  <a:srgbClr val="F4B942"/>
                </a:solidFill>
                <a:latin typeface="Arial" pitchFamily="34" charset="0"/>
                <a:ea typeface="Arial" pitchFamily="34" charset="-122"/>
                <a:cs typeface="Arial" pitchFamily="34" charset="-120"/>
              </a:rPr>
              <a:t>Painel da Organização</a:t>
            </a:r>
            <a:endParaRPr lang="en-US" sz="1400" dirty="0"/>
          </a:p>
        </p:txBody>
      </p:sp>
      <p:pic>
        <p:nvPicPr>
          <p:cNvPr id="20" name="Image 6" descr="preencoded.png">    </p:cNvPr>
          <p:cNvPicPr>
            <a:picLocks noChangeAspect="1"/>
          </p:cNvPicPr>
          <p:nvPr/>
        </p:nvPicPr>
        <p:blipFill>
          <a:blip r:embed="rId7"/>
          <a:stretch>
            <a:fillRect/>
          </a:stretch>
        </p:blipFill>
        <p:spPr>
          <a:xfrm>
            <a:off x="5129213" y="2060972"/>
            <a:ext cx="114300" cy="114300"/>
          </a:xfrm>
          <a:prstGeom prst="rect">
            <a:avLst/>
          </a:prstGeom>
        </p:spPr>
      </p:pic>
      <p:sp>
        <p:nvSpPr>
          <p:cNvPr id="21" name="Text 11"/>
          <p:cNvSpPr/>
          <p:nvPr/>
        </p:nvSpPr>
        <p:spPr>
          <a:xfrm>
            <a:off x="5329238" y="2032397"/>
            <a:ext cx="2913199" cy="189979"/>
          </a:xfrm>
          <a:prstGeom prst="rect">
            <a:avLst/>
          </a:prstGeom>
          <a:noFill/>
          <a:ln/>
        </p:spPr>
        <p:txBody>
          <a:bodyPr wrap="none" lIns="0" tIns="0" rIns="0" bIns="0" rtlCol="0" anchor="t">
            <a:spAutoFit/>
          </a:bodyPr>
          <a:lstStyle/>
          <a:p>
            <a:pPr algn="l" indent="0" marL="0">
              <a:lnSpc>
                <a:spcPct val="112000"/>
              </a:lnSpc>
              <a:buNone/>
            </a:pPr>
            <a:r>
              <a:rPr lang="en-US" sz="950" b="1" dirty="0">
                <a:solidFill>
                  <a:srgbClr val="FFFFFF"/>
                </a:solidFill>
                <a:latin typeface="Georgia" pitchFamily="34" charset="0"/>
                <a:ea typeface="Georgia" pitchFamily="34" charset="-122"/>
                <a:cs typeface="Georgia" pitchFamily="34" charset="-120"/>
              </a:rPr>
              <a:t>Ação e gestão:</a:t>
            </a:r>
            <a:r>
              <a:rPr lang="en-US" sz="1000" dirty="0">
                <a:solidFill>
                  <a:srgbClr val="FFFFFF"/>
                </a:solidFill>
                <a:latin typeface="Georgia" pitchFamily="34" charset="0"/>
                <a:ea typeface="Georgia" pitchFamily="34" charset="-122"/>
                <a:cs typeface="Georgia" pitchFamily="34" charset="-120"/>
              </a:rPr>
              <a:t> publicação de ofertas e desafios reais.</a:t>
            </a:r>
            <a:endParaRPr lang="en-US" sz="950" dirty="0"/>
          </a:p>
        </p:txBody>
      </p:sp>
      <p:pic>
        <p:nvPicPr>
          <p:cNvPr id="22" name="Image 7" descr="preencoded.png">    </p:cNvPr>
          <p:cNvPicPr>
            <a:picLocks noChangeAspect="1"/>
          </p:cNvPicPr>
          <p:nvPr/>
        </p:nvPicPr>
        <p:blipFill>
          <a:blip r:embed="rId8"/>
          <a:stretch>
            <a:fillRect/>
          </a:stretch>
        </p:blipFill>
        <p:spPr>
          <a:xfrm>
            <a:off x="5129213" y="2379538"/>
            <a:ext cx="114300" cy="114300"/>
          </a:xfrm>
          <a:prstGeom prst="rect">
            <a:avLst/>
          </a:prstGeom>
        </p:spPr>
      </p:pic>
      <p:sp>
        <p:nvSpPr>
          <p:cNvPr id="23" name="Text 12"/>
          <p:cNvSpPr/>
          <p:nvPr/>
        </p:nvSpPr>
        <p:spPr>
          <a:xfrm>
            <a:off x="5329238" y="2350963"/>
            <a:ext cx="3218817" cy="189979"/>
          </a:xfrm>
          <a:prstGeom prst="rect">
            <a:avLst/>
          </a:prstGeom>
          <a:noFill/>
          <a:ln/>
        </p:spPr>
        <p:txBody>
          <a:bodyPr wrap="none" lIns="0" tIns="0" rIns="0" bIns="0" rtlCol="0" anchor="t">
            <a:spAutoFit/>
          </a:bodyPr>
          <a:lstStyle/>
          <a:p>
            <a:pPr algn="l" indent="0" marL="0">
              <a:lnSpc>
                <a:spcPct val="112000"/>
              </a:lnSpc>
              <a:buNone/>
            </a:pPr>
            <a:r>
              <a:rPr lang="en-US" sz="950" b="1" dirty="0">
                <a:solidFill>
                  <a:srgbClr val="FFFFFF"/>
                </a:solidFill>
                <a:latin typeface="Georgia" pitchFamily="34" charset="0"/>
                <a:ea typeface="Georgia" pitchFamily="34" charset="-122"/>
                <a:cs typeface="Georgia" pitchFamily="34" charset="-120"/>
              </a:rPr>
              <a:t>Conexões:</a:t>
            </a:r>
            <a:r>
              <a:rPr lang="en-US" sz="1000" dirty="0">
                <a:solidFill>
                  <a:srgbClr val="FFFFFF"/>
                </a:solidFill>
                <a:latin typeface="Georgia" pitchFamily="34" charset="0"/>
                <a:ea typeface="Georgia" pitchFamily="34" charset="-122"/>
                <a:cs typeface="Georgia" pitchFamily="34" charset="-120"/>
              </a:rPr>
              <a:t> gestão de solicitações e notificações por e-mail.</a:t>
            </a:r>
            <a:endParaRPr lang="en-US" sz="950" dirty="0"/>
          </a:p>
        </p:txBody>
      </p:sp>
      <p:pic>
        <p:nvPicPr>
          <p:cNvPr id="24" name="Image 8" descr="preencoded.png">    </p:cNvPr>
          <p:cNvPicPr>
            <a:picLocks noChangeAspect="1"/>
          </p:cNvPicPr>
          <p:nvPr/>
        </p:nvPicPr>
        <p:blipFill>
          <a:blip r:embed="rId9"/>
          <a:stretch>
            <a:fillRect/>
          </a:stretch>
        </p:blipFill>
        <p:spPr>
          <a:xfrm>
            <a:off x="5129213" y="2698105"/>
            <a:ext cx="114300" cy="114300"/>
          </a:xfrm>
          <a:prstGeom prst="rect">
            <a:avLst/>
          </a:prstGeom>
        </p:spPr>
      </p:pic>
      <p:sp>
        <p:nvSpPr>
          <p:cNvPr id="25" name="Text 13"/>
          <p:cNvSpPr/>
          <p:nvPr/>
        </p:nvSpPr>
        <p:spPr>
          <a:xfrm>
            <a:off x="5329238" y="2669530"/>
            <a:ext cx="3257550" cy="379958"/>
          </a:xfrm>
          <a:prstGeom prst="rect">
            <a:avLst/>
          </a:prstGeom>
          <a:noFill/>
          <a:ln/>
        </p:spPr>
        <p:txBody>
          <a:bodyPr wrap="square" lIns="0" tIns="0" rIns="0" bIns="0" rtlCol="0" anchor="t">
            <a:spAutoFit/>
          </a:bodyPr>
          <a:lstStyle/>
          <a:p>
            <a:pPr algn="l" indent="0" marL="0">
              <a:lnSpc>
                <a:spcPct val="112000"/>
              </a:lnSpc>
              <a:buNone/>
            </a:pPr>
            <a:r>
              <a:rPr lang="en-US" sz="950" b="1" dirty="0">
                <a:solidFill>
                  <a:srgbClr val="FFFFFF"/>
                </a:solidFill>
                <a:latin typeface="Georgia" pitchFamily="34" charset="0"/>
                <a:ea typeface="Georgia" pitchFamily="34" charset="-122"/>
                <a:cs typeface="Georgia" pitchFamily="34" charset="-120"/>
              </a:rPr>
              <a:t>Curadoria:</a:t>
            </a:r>
            <a:r>
              <a:rPr lang="en-US" sz="1000" dirty="0">
                <a:solidFill>
                  <a:srgbClr val="FFFFFF"/>
                </a:solidFill>
                <a:latin typeface="Georgia" pitchFamily="34" charset="0"/>
                <a:ea typeface="Georgia" pitchFamily="34" charset="-122"/>
                <a:cs typeface="Georgia" pitchFamily="34" charset="-120"/>
              </a:rPr>
              <a:t> verificação institucional e indicadores de </a:t>
            </a:r>
            <a:r>
              <a:rPr lang="en-US" sz="1000" dirty="0">
                <a:solidFill>
                  <a:srgbClr val="FFFFFF"/>
                </a:solidFill>
                <a:latin typeface="Georgia" pitchFamily="34" charset="0"/>
                <a:ea typeface="Georgia" pitchFamily="34" charset="-122"/>
                <a:cs typeface="Georgia" pitchFamily="34" charset="-120"/>
              </a:rPr>
              <a:t>sucesso.</a:t>
            </a:r>
            <a:endParaRPr lang="en-US" sz="950" dirty="0"/>
          </a:p>
        </p:txBody>
      </p:sp>
      <p:sp>
        <p:nvSpPr>
          <p:cNvPr id="26" name="Shape 14"/>
          <p:cNvSpPr/>
          <p:nvPr/>
        </p:nvSpPr>
        <p:spPr>
          <a:xfrm>
            <a:off x="0" y="4572000"/>
            <a:ext cx="9144000" cy="571500"/>
          </a:xfrm>
          <a:prstGeom prst="rect">
            <a:avLst/>
          </a:prstGeom>
          <a:solidFill>
            <a:srgbClr val="167D7F"/>
          </a:solidFill>
          <a:ln/>
        </p:spPr>
      </p:sp>
      <p:pic>
        <p:nvPicPr>
          <p:cNvPr id="27" name="Image 9" descr="preencoded.png">    </p:cNvPr>
          <p:cNvPicPr>
            <a:picLocks noChangeAspect="1"/>
          </p:cNvPicPr>
          <p:nvPr/>
        </p:nvPicPr>
        <p:blipFill>
          <a:blip r:embed="rId10"/>
          <a:stretch>
            <a:fillRect/>
          </a:stretch>
        </p:blipFill>
        <p:spPr>
          <a:xfrm>
            <a:off x="1865356" y="4779169"/>
            <a:ext cx="146447" cy="157163"/>
          </a:xfrm>
          <a:prstGeom prst="rect">
            <a:avLst/>
          </a:prstGeom>
        </p:spPr>
      </p:pic>
      <p:sp>
        <p:nvSpPr>
          <p:cNvPr id="28" name="Text 15"/>
          <p:cNvSpPr/>
          <p:nvPr/>
        </p:nvSpPr>
        <p:spPr>
          <a:xfrm>
            <a:off x="2118959" y="4768453"/>
            <a:ext cx="5159685" cy="178594"/>
          </a:xfrm>
          <a:prstGeom prst="rect">
            <a:avLst/>
          </a:prstGeom>
          <a:noFill/>
          <a:ln/>
        </p:spPr>
        <p:txBody>
          <a:bodyPr wrap="square" lIns="0" tIns="0" rIns="0" bIns="0" rtlCol="0" anchor="t">
            <a:spAutoFit/>
          </a:bodyPr>
          <a:lstStyle/>
          <a:p>
            <a:pPr algn="l" indent="0" marL="0">
              <a:buNone/>
            </a:pPr>
            <a:r>
              <a:rPr lang="en-US" sz="1100" b="1" spc="1" kern="0" dirty="0">
                <a:solidFill>
                  <a:srgbClr val="FFFFFF"/>
                </a:solidFill>
                <a:latin typeface="Arial" pitchFamily="34" charset="0"/>
                <a:ea typeface="Arial" pitchFamily="34" charset="-122"/>
                <a:cs typeface="Arial" pitchFamily="34" charset="-120"/>
              </a:rPr>
              <a:t>MESMA BASE DE INFORMAÇÕES E MOTOR DE MATCHMAKING</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06 · INTELIGÊNCIA DE DADOS</a:t>
            </a:r>
            <a:endParaRPr lang="en-US" sz="900" dirty="0"/>
          </a:p>
        </p:txBody>
      </p:sp>
      <p:sp>
        <p:nvSpPr>
          <p:cNvPr id="5" name="Text 1"/>
          <p:cNvSpPr/>
          <p:nvPr/>
        </p:nvSpPr>
        <p:spPr>
          <a:xfrm>
            <a:off x="571500" y="650081"/>
            <a:ext cx="8572500" cy="392906"/>
          </a:xfrm>
          <a:prstGeom prst="rect">
            <a:avLst/>
          </a:prstGeom>
          <a:noFill/>
          <a:ln/>
        </p:spPr>
        <p:txBody>
          <a:bodyPr wrap="square" lIns="0" tIns="0" rIns="0" bIns="0" rtlCol="0" anchor="t">
            <a:spAutoFit/>
          </a:bodyPr>
          <a:lstStyle/>
          <a:p>
            <a:pPr algn="l" indent="0" marL="0">
              <a:buNone/>
            </a:pPr>
            <a:r>
              <a:rPr lang="en-US" sz="2450" b="1" spc="-1" kern="0" dirty="0">
                <a:solidFill>
                  <a:srgbClr val="0B1D51"/>
                </a:solidFill>
                <a:latin typeface="Arial" pitchFamily="34" charset="0"/>
                <a:ea typeface="Arial" pitchFamily="34" charset="-122"/>
                <a:cs typeface="Arial" pitchFamily="34" charset="-120"/>
              </a:rPr>
              <a:t>O diferencial é recomendar — e explicar por quê</a:t>
            </a:r>
            <a:endParaRPr lang="en-US" sz="2450" dirty="0"/>
          </a:p>
        </p:txBody>
      </p:sp>
      <p:sp>
        <p:nvSpPr>
          <p:cNvPr id="6" name="Shape 2"/>
          <p:cNvSpPr/>
          <p:nvPr/>
        </p:nvSpPr>
        <p:spPr>
          <a:xfrm>
            <a:off x="571500" y="1328738"/>
            <a:ext cx="3786188" cy="3504009"/>
          </a:xfrm>
          <a:prstGeom prst="rect">
            <a:avLst/>
          </a:prstGeom>
          <a:solidFill>
            <a:srgbClr val="F7FAFC"/>
          </a:solidFill>
          <a:ln/>
        </p:spPr>
      </p:sp>
      <p:sp>
        <p:nvSpPr>
          <p:cNvPr id="7" name="Shape 3"/>
          <p:cNvSpPr/>
          <p:nvPr/>
        </p:nvSpPr>
        <p:spPr>
          <a:xfrm>
            <a:off x="571500" y="1328738"/>
            <a:ext cx="3786188" cy="57150"/>
          </a:xfrm>
          <a:prstGeom prst="rect">
            <a:avLst/>
          </a:prstGeom>
          <a:solidFill>
            <a:srgbClr val="0B1D51"/>
          </a:solidFill>
          <a:ln/>
        </p:spPr>
      </p:sp>
      <p:sp>
        <p:nvSpPr>
          <p:cNvPr id="8" name="Shape 4"/>
          <p:cNvSpPr/>
          <p:nvPr/>
        </p:nvSpPr>
        <p:spPr>
          <a:xfrm>
            <a:off x="785813" y="1543050"/>
            <a:ext cx="228600" cy="228600"/>
          </a:xfrm>
          <a:prstGeom prst="ellipse">
            <a:avLst/>
          </a:prstGeom>
          <a:solidFill>
            <a:srgbClr val="0B1D51"/>
          </a:solidFill>
          <a:ln/>
        </p:spPr>
      </p:sp>
      <p:sp>
        <p:nvSpPr>
          <p:cNvPr id="9" name="Text 5"/>
          <p:cNvSpPr/>
          <p:nvPr/>
        </p:nvSpPr>
        <p:spPr>
          <a:xfrm>
            <a:off x="785813" y="1543050"/>
            <a:ext cx="228600" cy="22860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10" name="Text 6"/>
          <p:cNvSpPr/>
          <p:nvPr/>
        </p:nvSpPr>
        <p:spPr>
          <a:xfrm>
            <a:off x="1121569" y="1543050"/>
            <a:ext cx="3021806" cy="160734"/>
          </a:xfrm>
          <a:prstGeom prst="rect">
            <a:avLst/>
          </a:prstGeom>
          <a:noFill/>
          <a:ln/>
        </p:spPr>
        <p:txBody>
          <a:bodyPr wrap="squar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Entrada Inteligente</a:t>
            </a:r>
            <a:endParaRPr lang="en-US" sz="1000" dirty="0"/>
          </a:p>
        </p:txBody>
      </p:sp>
      <p:sp>
        <p:nvSpPr>
          <p:cNvPr id="11" name="Text 7"/>
          <p:cNvSpPr/>
          <p:nvPr/>
        </p:nvSpPr>
        <p:spPr>
          <a:xfrm>
            <a:off x="1121569" y="1732359"/>
            <a:ext cx="302180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A5568"/>
                </a:solidFill>
                <a:latin typeface="Arial" pitchFamily="34" charset="0"/>
                <a:ea typeface="Arial" pitchFamily="34" charset="-122"/>
                <a:cs typeface="Arial" pitchFamily="34" charset="-120"/>
              </a:rPr>
              <a:t>Usuário descreve o desafio em linguagem natural + filtros de contexto e região.</a:t>
            </a:r>
            <a:endParaRPr lang="en-US" sz="850" dirty="0"/>
          </a:p>
        </p:txBody>
      </p:sp>
      <p:sp>
        <p:nvSpPr>
          <p:cNvPr id="12" name="Shape 8"/>
          <p:cNvSpPr/>
          <p:nvPr/>
        </p:nvSpPr>
        <p:spPr>
          <a:xfrm>
            <a:off x="785813" y="2230971"/>
            <a:ext cx="228600" cy="228600"/>
          </a:xfrm>
          <a:prstGeom prst="ellipse">
            <a:avLst/>
          </a:prstGeom>
          <a:solidFill>
            <a:srgbClr val="0B1D51"/>
          </a:solidFill>
          <a:ln/>
        </p:spPr>
      </p:sp>
      <p:sp>
        <p:nvSpPr>
          <p:cNvPr id="13" name="Text 9"/>
          <p:cNvSpPr/>
          <p:nvPr/>
        </p:nvSpPr>
        <p:spPr>
          <a:xfrm>
            <a:off x="785813" y="2230971"/>
            <a:ext cx="228600" cy="22860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14" name="Text 10"/>
          <p:cNvSpPr/>
          <p:nvPr/>
        </p:nvSpPr>
        <p:spPr>
          <a:xfrm>
            <a:off x="1121569" y="2230971"/>
            <a:ext cx="3021806" cy="160734"/>
          </a:xfrm>
          <a:prstGeom prst="rect">
            <a:avLst/>
          </a:prstGeom>
          <a:noFill/>
          <a:ln/>
        </p:spPr>
        <p:txBody>
          <a:bodyPr wrap="squar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Cálculo de Aderência</a:t>
            </a:r>
            <a:endParaRPr lang="en-US" sz="1000" dirty="0"/>
          </a:p>
        </p:txBody>
      </p:sp>
      <p:sp>
        <p:nvSpPr>
          <p:cNvPr id="15" name="Text 11"/>
          <p:cNvSpPr/>
          <p:nvPr/>
        </p:nvSpPr>
        <p:spPr>
          <a:xfrm>
            <a:off x="1121569" y="2420280"/>
            <a:ext cx="302180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A5568"/>
                </a:solidFill>
                <a:latin typeface="Arial" pitchFamily="34" charset="0"/>
                <a:ea typeface="Arial" pitchFamily="34" charset="-122"/>
                <a:cs typeface="Arial" pitchFamily="34" charset="-120"/>
              </a:rPr>
              <a:t>O motor analisa similaridade semântica, maturidade (TRL) e escala geográfica.</a:t>
            </a:r>
            <a:endParaRPr lang="en-US" sz="850" dirty="0"/>
          </a:p>
        </p:txBody>
      </p:sp>
      <p:sp>
        <p:nvSpPr>
          <p:cNvPr id="16" name="Shape 12"/>
          <p:cNvSpPr/>
          <p:nvPr/>
        </p:nvSpPr>
        <p:spPr>
          <a:xfrm>
            <a:off x="785813" y="2918892"/>
            <a:ext cx="228600" cy="228600"/>
          </a:xfrm>
          <a:prstGeom prst="ellipse">
            <a:avLst/>
          </a:prstGeom>
          <a:solidFill>
            <a:srgbClr val="0B1D51"/>
          </a:solidFill>
          <a:ln/>
        </p:spPr>
      </p:sp>
      <p:sp>
        <p:nvSpPr>
          <p:cNvPr id="17" name="Text 13"/>
          <p:cNvSpPr/>
          <p:nvPr/>
        </p:nvSpPr>
        <p:spPr>
          <a:xfrm>
            <a:off x="785813" y="2918892"/>
            <a:ext cx="228600" cy="22860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18" name="Text 14"/>
          <p:cNvSpPr/>
          <p:nvPr/>
        </p:nvSpPr>
        <p:spPr>
          <a:xfrm>
            <a:off x="1121569" y="2918892"/>
            <a:ext cx="3021806" cy="160734"/>
          </a:xfrm>
          <a:prstGeom prst="rect">
            <a:avLst/>
          </a:prstGeom>
          <a:noFill/>
          <a:ln/>
        </p:spPr>
        <p:txBody>
          <a:bodyPr wrap="squar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Resultados Ranqueados</a:t>
            </a:r>
            <a:endParaRPr lang="en-US" sz="1000" dirty="0"/>
          </a:p>
        </p:txBody>
      </p:sp>
      <p:sp>
        <p:nvSpPr>
          <p:cNvPr id="19" name="Text 15"/>
          <p:cNvSpPr/>
          <p:nvPr/>
        </p:nvSpPr>
        <p:spPr>
          <a:xfrm>
            <a:off x="1121569" y="3108201"/>
            <a:ext cx="302180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4A5568"/>
                </a:solidFill>
                <a:latin typeface="Arial" pitchFamily="34" charset="0"/>
                <a:ea typeface="Arial" pitchFamily="34" charset="-122"/>
                <a:cs typeface="Arial" pitchFamily="34" charset="-120"/>
              </a:rPr>
              <a:t>Exibição de soluções, financiadores e parceiros com score percentual (ex: 94%).</a:t>
            </a:r>
            <a:endParaRPr lang="en-US" sz="850" dirty="0"/>
          </a:p>
        </p:txBody>
      </p:sp>
      <p:sp>
        <p:nvSpPr>
          <p:cNvPr id="20" name="Shape 16"/>
          <p:cNvSpPr/>
          <p:nvPr/>
        </p:nvSpPr>
        <p:spPr>
          <a:xfrm>
            <a:off x="785813" y="3642531"/>
            <a:ext cx="3357563" cy="592931"/>
          </a:xfrm>
          <a:prstGeom prst="rect">
            <a:avLst/>
          </a:prstGeom>
          <a:solidFill>
            <a:srgbClr val="EBF8FF"/>
          </a:solidFill>
          <a:ln/>
        </p:spPr>
      </p:sp>
      <p:sp>
        <p:nvSpPr>
          <p:cNvPr id="21" name="Shape 17"/>
          <p:cNvSpPr/>
          <p:nvPr/>
        </p:nvSpPr>
        <p:spPr>
          <a:xfrm>
            <a:off x="785813" y="3642531"/>
            <a:ext cx="28575" cy="592931"/>
          </a:xfrm>
          <a:prstGeom prst="rect">
            <a:avLst/>
          </a:prstGeom>
          <a:solidFill>
            <a:srgbClr val="00B4D8"/>
          </a:solidFill>
          <a:ln/>
        </p:spPr>
      </p:sp>
      <p:sp>
        <p:nvSpPr>
          <p:cNvPr id="22" name="Text 18"/>
          <p:cNvSpPr/>
          <p:nvPr/>
        </p:nvSpPr>
        <p:spPr>
          <a:xfrm>
            <a:off x="928688" y="3785406"/>
            <a:ext cx="3071813"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Painel "Por que este match?"</a:t>
            </a:r>
            <a:endParaRPr lang="en-US" sz="900" dirty="0"/>
          </a:p>
        </p:txBody>
      </p:sp>
      <p:sp>
        <p:nvSpPr>
          <p:cNvPr id="23" name="Text 19"/>
          <p:cNvSpPr/>
          <p:nvPr/>
        </p:nvSpPr>
        <p:spPr>
          <a:xfrm>
            <a:off x="928688" y="3992575"/>
            <a:ext cx="3071813" cy="242888"/>
          </a:xfrm>
          <a:prstGeom prst="rect">
            <a:avLst/>
          </a:prstGeom>
          <a:noFill/>
          <a:ln/>
        </p:spPr>
        <p:txBody>
          <a:bodyPr wrap="square" lIns="0" tIns="0" rIns="0" bIns="0" rtlCol="0" anchor="t">
            <a:spAutoFit/>
          </a:bodyPr>
          <a:lstStyle/>
          <a:p>
            <a:pPr algn="l" indent="0" marL="0">
              <a:buNone/>
            </a:pPr>
            <a:r>
              <a:rPr lang="en-US" sz="800" i="1" dirty="0">
                <a:solidFill>
                  <a:srgbClr val="4A5568"/>
                </a:solidFill>
                <a:latin typeface="Arial" pitchFamily="34" charset="0"/>
                <a:ea typeface="Arial" pitchFamily="34" charset="-122"/>
                <a:cs typeface="Arial" pitchFamily="34" charset="-120"/>
              </a:rPr>
              <a:t>Transparência total sobre os fatores que levaram à recomendação, aumentando a confiança institucional.</a:t>
            </a:r>
            <a:endParaRPr lang="en-US" sz="800" dirty="0"/>
          </a:p>
        </p:txBody>
      </p:sp>
      <p:sp>
        <p:nvSpPr>
          <p:cNvPr id="24" name="Text 20"/>
          <p:cNvSpPr/>
          <p:nvPr/>
        </p:nvSpPr>
        <p:spPr>
          <a:xfrm>
            <a:off x="4786313" y="1400175"/>
            <a:ext cx="3786188"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Composição do Score Inicial</a:t>
            </a:r>
            <a:endParaRPr lang="en-US" sz="1100" dirty="0"/>
          </a:p>
        </p:txBody>
      </p:sp>
      <p:sp>
        <p:nvSpPr>
          <p:cNvPr id="25" name="Text 21"/>
          <p:cNvSpPr/>
          <p:nvPr/>
        </p:nvSpPr>
        <p:spPr>
          <a:xfrm>
            <a:off x="4786313" y="1721644"/>
            <a:ext cx="3228863" cy="264319"/>
          </a:xfrm>
          <a:prstGeom prst="rect">
            <a:avLst/>
          </a:prstGeom>
          <a:noFill/>
          <a:ln/>
        </p:spPr>
        <p:txBody>
          <a:bodyPr wrap="square" lIns="0" tIns="127508" rIns="0" bIns="0" rtlCol="0" anchor="ctr">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Fator de Correspondência</a:t>
            </a:r>
            <a:endParaRPr lang="en-US" sz="900" dirty="0"/>
          </a:p>
        </p:txBody>
      </p:sp>
      <p:sp>
        <p:nvSpPr>
          <p:cNvPr id="26" name="Text 22"/>
          <p:cNvSpPr/>
          <p:nvPr/>
        </p:nvSpPr>
        <p:spPr>
          <a:xfrm>
            <a:off x="8015176" y="1721644"/>
            <a:ext cx="557324" cy="264319"/>
          </a:xfrm>
          <a:prstGeom prst="rect">
            <a:avLst/>
          </a:prstGeom>
          <a:noFill/>
          <a:ln/>
        </p:spPr>
        <p:txBody>
          <a:bodyPr wrap="none" lIns="0" tIns="127508" rIns="0" bIns="0" rtlCol="0" anchor="ctr">
            <a:spAutoFit/>
          </a:bodyPr>
          <a:lstStyle/>
          <a:p>
            <a:pPr algn="r" indent="0" marL="0">
              <a:buNone/>
            </a:pPr>
            <a:r>
              <a:rPr lang="en-US" sz="900" b="1" dirty="0">
                <a:solidFill>
                  <a:srgbClr val="0B1D51"/>
                </a:solidFill>
                <a:latin typeface="Arial" pitchFamily="34" charset="0"/>
                <a:ea typeface="Arial" pitchFamily="34" charset="-122"/>
                <a:cs typeface="Arial" pitchFamily="34" charset="-120"/>
              </a:rPr>
              <a:t>Peso</a:t>
            </a:r>
            <a:endParaRPr lang="en-US" sz="900" dirty="0"/>
          </a:p>
        </p:txBody>
      </p:sp>
      <p:sp>
        <p:nvSpPr>
          <p:cNvPr id="27" name="Text 23"/>
          <p:cNvSpPr/>
          <p:nvPr/>
        </p:nvSpPr>
        <p:spPr>
          <a:xfrm>
            <a:off x="4786313" y="1985963"/>
            <a:ext cx="3228863" cy="257175"/>
          </a:xfrm>
          <a:prstGeom prst="rect">
            <a:avLst/>
          </a:prstGeom>
          <a:noFill/>
          <a:ln/>
        </p:spPr>
        <p:txBody>
          <a:bodyPr wrap="square" lIns="0" tIns="127508" rIns="0" bIns="0"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Similaridade de Significado (Semântica)</a:t>
            </a:r>
            <a:endParaRPr lang="en-US" sz="900" dirty="0"/>
          </a:p>
        </p:txBody>
      </p:sp>
      <p:sp>
        <p:nvSpPr>
          <p:cNvPr id="28" name="Shape 24"/>
          <p:cNvSpPr/>
          <p:nvPr/>
        </p:nvSpPr>
        <p:spPr>
          <a:xfrm>
            <a:off x="8200858" y="2089547"/>
            <a:ext cx="371642" cy="167878"/>
          </a:xfrm>
          <a:prstGeom prst="rect">
            <a:avLst/>
          </a:prstGeom>
          <a:solidFill>
            <a:srgbClr val="F4B942"/>
          </a:solidFill>
          <a:ln/>
        </p:spPr>
      </p:sp>
      <p:sp>
        <p:nvSpPr>
          <p:cNvPr id="29" name="Text 25"/>
          <p:cNvSpPr/>
          <p:nvPr/>
        </p:nvSpPr>
        <p:spPr>
          <a:xfrm>
            <a:off x="8200858" y="2089547"/>
            <a:ext cx="371642" cy="167878"/>
          </a:xfrm>
          <a:prstGeom prst="rect">
            <a:avLst/>
          </a:prstGeom>
          <a:noFill/>
          <a:ln/>
        </p:spPr>
        <p:txBody>
          <a:bodyPr wrap="none" lIns="102108" tIns="34036" rIns="102108" bIns="34036" rtlCol="0" anchor="t">
            <a:spAutoFit/>
          </a:bodyPr>
          <a:lstStyle/>
          <a:p>
            <a:pPr algn="r" indent="0" marL="0">
              <a:buNone/>
            </a:pPr>
            <a:r>
              <a:rPr lang="en-US" sz="700" b="1" dirty="0">
                <a:solidFill>
                  <a:srgbClr val="0B1D51"/>
                </a:solidFill>
                <a:latin typeface="Arial" pitchFamily="34" charset="0"/>
                <a:ea typeface="Arial" pitchFamily="34" charset="-122"/>
                <a:cs typeface="Arial" pitchFamily="34" charset="-120"/>
              </a:rPr>
              <a:t>40%</a:t>
            </a:r>
            <a:endParaRPr lang="en-US" sz="700" dirty="0"/>
          </a:p>
        </p:txBody>
      </p:sp>
      <p:sp>
        <p:nvSpPr>
          <p:cNvPr id="30" name="Text 26"/>
          <p:cNvSpPr/>
          <p:nvPr/>
        </p:nvSpPr>
        <p:spPr>
          <a:xfrm>
            <a:off x="4786313" y="2243138"/>
            <a:ext cx="3228863" cy="253603"/>
          </a:xfrm>
          <a:prstGeom prst="rect">
            <a:avLst/>
          </a:prstGeom>
          <a:noFill/>
          <a:ln/>
        </p:spPr>
        <p:txBody>
          <a:bodyPr wrap="square" lIns="0" tIns="127508" rIns="0" bIns="0"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Classificações e Tags (Temas/ODS)</a:t>
            </a:r>
            <a:endParaRPr lang="en-US" sz="900" dirty="0"/>
          </a:p>
        </p:txBody>
      </p:sp>
      <p:sp>
        <p:nvSpPr>
          <p:cNvPr id="31" name="Shape 27"/>
          <p:cNvSpPr/>
          <p:nvPr/>
        </p:nvSpPr>
        <p:spPr>
          <a:xfrm>
            <a:off x="8200858" y="2343150"/>
            <a:ext cx="371642" cy="167878"/>
          </a:xfrm>
          <a:prstGeom prst="rect">
            <a:avLst/>
          </a:prstGeom>
          <a:solidFill>
            <a:srgbClr val="F4B942"/>
          </a:solidFill>
          <a:ln/>
        </p:spPr>
      </p:sp>
      <p:sp>
        <p:nvSpPr>
          <p:cNvPr id="32" name="Text 28"/>
          <p:cNvSpPr/>
          <p:nvPr/>
        </p:nvSpPr>
        <p:spPr>
          <a:xfrm>
            <a:off x="8200858" y="2343150"/>
            <a:ext cx="371642" cy="167878"/>
          </a:xfrm>
          <a:prstGeom prst="rect">
            <a:avLst/>
          </a:prstGeom>
          <a:noFill/>
          <a:ln/>
        </p:spPr>
        <p:txBody>
          <a:bodyPr wrap="none" lIns="102108" tIns="34036" rIns="102108" bIns="34036" rtlCol="0" anchor="t">
            <a:spAutoFit/>
          </a:bodyPr>
          <a:lstStyle/>
          <a:p>
            <a:pPr algn="r" indent="0" marL="0">
              <a:buNone/>
            </a:pPr>
            <a:r>
              <a:rPr lang="en-US" sz="700" b="1" dirty="0">
                <a:solidFill>
                  <a:srgbClr val="0B1D51"/>
                </a:solidFill>
                <a:latin typeface="Arial" pitchFamily="34" charset="0"/>
                <a:ea typeface="Arial" pitchFamily="34" charset="-122"/>
                <a:cs typeface="Arial" pitchFamily="34" charset="-120"/>
              </a:rPr>
              <a:t>25%</a:t>
            </a:r>
            <a:endParaRPr lang="en-US" sz="700" dirty="0"/>
          </a:p>
        </p:txBody>
      </p:sp>
      <p:sp>
        <p:nvSpPr>
          <p:cNvPr id="33" name="Text 29"/>
          <p:cNvSpPr/>
          <p:nvPr/>
        </p:nvSpPr>
        <p:spPr>
          <a:xfrm>
            <a:off x="4786313" y="2496741"/>
            <a:ext cx="3228863" cy="253603"/>
          </a:xfrm>
          <a:prstGeom prst="rect">
            <a:avLst/>
          </a:prstGeom>
          <a:noFill/>
          <a:ln/>
        </p:spPr>
        <p:txBody>
          <a:bodyPr wrap="square" lIns="0" tIns="127508" rIns="0" bIns="0"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Compatibilidade Regional e Escala</a:t>
            </a:r>
            <a:endParaRPr lang="en-US" sz="900" dirty="0"/>
          </a:p>
        </p:txBody>
      </p:sp>
      <p:sp>
        <p:nvSpPr>
          <p:cNvPr id="34" name="Shape 30"/>
          <p:cNvSpPr/>
          <p:nvPr/>
        </p:nvSpPr>
        <p:spPr>
          <a:xfrm>
            <a:off x="8200858" y="2596753"/>
            <a:ext cx="371642" cy="167878"/>
          </a:xfrm>
          <a:prstGeom prst="rect">
            <a:avLst/>
          </a:prstGeom>
          <a:solidFill>
            <a:srgbClr val="F4B942"/>
          </a:solidFill>
          <a:ln/>
        </p:spPr>
      </p:sp>
      <p:sp>
        <p:nvSpPr>
          <p:cNvPr id="35" name="Text 31"/>
          <p:cNvSpPr/>
          <p:nvPr/>
        </p:nvSpPr>
        <p:spPr>
          <a:xfrm>
            <a:off x="8200858" y="2596753"/>
            <a:ext cx="371642" cy="167878"/>
          </a:xfrm>
          <a:prstGeom prst="rect">
            <a:avLst/>
          </a:prstGeom>
          <a:noFill/>
          <a:ln/>
        </p:spPr>
        <p:txBody>
          <a:bodyPr wrap="none" lIns="102108" tIns="34036" rIns="102108" bIns="34036" rtlCol="0" anchor="t">
            <a:spAutoFit/>
          </a:bodyPr>
          <a:lstStyle/>
          <a:p>
            <a:pPr algn="r" indent="0" marL="0">
              <a:buNone/>
            </a:pPr>
            <a:r>
              <a:rPr lang="en-US" sz="700" b="1" dirty="0">
                <a:solidFill>
                  <a:srgbClr val="0B1D51"/>
                </a:solidFill>
                <a:latin typeface="Arial" pitchFamily="34" charset="0"/>
                <a:ea typeface="Arial" pitchFamily="34" charset="-122"/>
                <a:cs typeface="Arial" pitchFamily="34" charset="-120"/>
              </a:rPr>
              <a:t>15%</a:t>
            </a:r>
            <a:endParaRPr lang="en-US" sz="700" dirty="0"/>
          </a:p>
        </p:txBody>
      </p:sp>
      <p:sp>
        <p:nvSpPr>
          <p:cNvPr id="36" name="Text 32"/>
          <p:cNvSpPr/>
          <p:nvPr/>
        </p:nvSpPr>
        <p:spPr>
          <a:xfrm>
            <a:off x="4786313" y="2750344"/>
            <a:ext cx="3228863" cy="253603"/>
          </a:xfrm>
          <a:prstGeom prst="rect">
            <a:avLst/>
          </a:prstGeom>
          <a:noFill/>
          <a:ln/>
        </p:spPr>
        <p:txBody>
          <a:bodyPr wrap="square" lIns="0" tIns="127508" rIns="0" bIns="0"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Maturidade Tecnológica (TRL)</a:t>
            </a:r>
            <a:endParaRPr lang="en-US" sz="900" dirty="0"/>
          </a:p>
        </p:txBody>
      </p:sp>
      <p:sp>
        <p:nvSpPr>
          <p:cNvPr id="37" name="Shape 33"/>
          <p:cNvSpPr/>
          <p:nvPr/>
        </p:nvSpPr>
        <p:spPr>
          <a:xfrm>
            <a:off x="8200858" y="2850356"/>
            <a:ext cx="371642" cy="167878"/>
          </a:xfrm>
          <a:prstGeom prst="rect">
            <a:avLst/>
          </a:prstGeom>
          <a:solidFill>
            <a:srgbClr val="F4B942"/>
          </a:solidFill>
          <a:ln/>
        </p:spPr>
      </p:sp>
      <p:sp>
        <p:nvSpPr>
          <p:cNvPr id="38" name="Text 34"/>
          <p:cNvSpPr/>
          <p:nvPr/>
        </p:nvSpPr>
        <p:spPr>
          <a:xfrm>
            <a:off x="8200858" y="2850356"/>
            <a:ext cx="371642" cy="167878"/>
          </a:xfrm>
          <a:prstGeom prst="rect">
            <a:avLst/>
          </a:prstGeom>
          <a:noFill/>
          <a:ln/>
        </p:spPr>
        <p:txBody>
          <a:bodyPr wrap="none" lIns="102108" tIns="34036" rIns="102108" bIns="34036" rtlCol="0" anchor="t">
            <a:spAutoFit/>
          </a:bodyPr>
          <a:lstStyle/>
          <a:p>
            <a:pPr algn="r" indent="0" marL="0">
              <a:buNone/>
            </a:pPr>
            <a:r>
              <a:rPr lang="en-US" sz="700" b="1" dirty="0">
                <a:solidFill>
                  <a:srgbClr val="0B1D51"/>
                </a:solidFill>
                <a:latin typeface="Arial" pitchFamily="34" charset="0"/>
                <a:ea typeface="Arial" pitchFamily="34" charset="-122"/>
                <a:cs typeface="Arial" pitchFamily="34" charset="-120"/>
              </a:rPr>
              <a:t>10%</a:t>
            </a:r>
            <a:endParaRPr lang="en-US" sz="700" dirty="0"/>
          </a:p>
        </p:txBody>
      </p:sp>
      <p:sp>
        <p:nvSpPr>
          <p:cNvPr id="39" name="Text 35"/>
          <p:cNvSpPr/>
          <p:nvPr/>
        </p:nvSpPr>
        <p:spPr>
          <a:xfrm>
            <a:off x="4786313" y="3003947"/>
            <a:ext cx="3228863" cy="253603"/>
          </a:xfrm>
          <a:prstGeom prst="rect">
            <a:avLst/>
          </a:prstGeom>
          <a:noFill/>
          <a:ln/>
        </p:spPr>
        <p:txBody>
          <a:bodyPr wrap="square" lIns="0" tIns="127508" rIns="0" bIns="0"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Alinhamento Oferta vs. Demanda</a:t>
            </a:r>
            <a:endParaRPr lang="en-US" sz="900" dirty="0"/>
          </a:p>
        </p:txBody>
      </p:sp>
      <p:sp>
        <p:nvSpPr>
          <p:cNvPr id="40" name="Shape 36"/>
          <p:cNvSpPr/>
          <p:nvPr/>
        </p:nvSpPr>
        <p:spPr>
          <a:xfrm>
            <a:off x="8200858" y="3103959"/>
            <a:ext cx="371642" cy="167878"/>
          </a:xfrm>
          <a:prstGeom prst="rect">
            <a:avLst/>
          </a:prstGeom>
          <a:solidFill>
            <a:srgbClr val="F4B942"/>
          </a:solidFill>
          <a:ln/>
        </p:spPr>
      </p:sp>
      <p:sp>
        <p:nvSpPr>
          <p:cNvPr id="41" name="Text 37"/>
          <p:cNvSpPr/>
          <p:nvPr/>
        </p:nvSpPr>
        <p:spPr>
          <a:xfrm>
            <a:off x="8200858" y="3103959"/>
            <a:ext cx="371642" cy="167878"/>
          </a:xfrm>
          <a:prstGeom prst="rect">
            <a:avLst/>
          </a:prstGeom>
          <a:noFill/>
          <a:ln/>
        </p:spPr>
        <p:txBody>
          <a:bodyPr wrap="none" lIns="102108" tIns="34036" rIns="102108" bIns="34036" rtlCol="0" anchor="t">
            <a:spAutoFit/>
          </a:bodyPr>
          <a:lstStyle/>
          <a:p>
            <a:pPr algn="r" indent="0" marL="0">
              <a:buNone/>
            </a:pPr>
            <a:r>
              <a:rPr lang="en-US" sz="700" b="1" dirty="0">
                <a:solidFill>
                  <a:srgbClr val="0B1D51"/>
                </a:solidFill>
                <a:latin typeface="Arial" pitchFamily="34" charset="0"/>
                <a:ea typeface="Arial" pitchFamily="34" charset="-122"/>
                <a:cs typeface="Arial" pitchFamily="34" charset="-120"/>
              </a:rPr>
              <a:t>10%</a:t>
            </a:r>
            <a:endParaRPr lang="en-US" sz="700" dirty="0"/>
          </a:p>
        </p:txBody>
      </p:sp>
      <p:pic>
        <p:nvPicPr>
          <p:cNvPr id="42" name="Image 1" descr="preencoded.png">    </p:cNvPr>
          <p:cNvPicPr>
            <a:picLocks noChangeAspect="1"/>
          </p:cNvPicPr>
          <p:nvPr/>
        </p:nvPicPr>
        <p:blipFill>
          <a:blip r:embed="rId2"/>
          <a:stretch>
            <a:fillRect/>
          </a:stretch>
        </p:blipFill>
        <p:spPr>
          <a:xfrm>
            <a:off x="4786313" y="3403997"/>
            <a:ext cx="3786188" cy="1428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Segoe UI" pitchFamily="34" charset="0"/>
                <a:ea typeface="Segoe UI" pitchFamily="34" charset="-122"/>
                <a:cs typeface="Segoe UI" pitchFamily="34" charset="-120"/>
              </a:rPr>
              <a:t>JORNADA DO USUÁRIO</a:t>
            </a:r>
            <a:endParaRPr lang="en-US" sz="900" dirty="0"/>
          </a:p>
        </p:txBody>
      </p:sp>
      <p:sp>
        <p:nvSpPr>
          <p:cNvPr id="5" name="Text 1"/>
          <p:cNvSpPr/>
          <p:nvPr/>
        </p:nvSpPr>
        <p:spPr>
          <a:xfrm>
            <a:off x="571500" y="650081"/>
            <a:ext cx="8572500" cy="921544"/>
          </a:xfrm>
          <a:prstGeom prst="rect">
            <a:avLst/>
          </a:prstGeom>
          <a:noFill/>
          <a:ln/>
        </p:spPr>
        <p:txBody>
          <a:bodyPr wrap="square" lIns="0" tIns="0" rIns="0" bIns="0" rtlCol="0" anchor="t">
            <a:spAutoFit/>
          </a:bodyPr>
          <a:lstStyle/>
          <a:p>
            <a:pPr algn="l" indent="0" marL="0">
              <a:buNone/>
            </a:pPr>
            <a:r>
              <a:rPr lang="en-US" sz="2850" b="1" spc="-1" kern="0" dirty="0">
                <a:solidFill>
                  <a:srgbClr val="0B1D51"/>
                </a:solidFill>
                <a:latin typeface="Segoe UI" pitchFamily="34" charset="0"/>
                <a:ea typeface="Segoe UI" pitchFamily="34" charset="-122"/>
                <a:cs typeface="Segoe UI" pitchFamily="34" charset="-120"/>
              </a:rPr>
              <a:t>Da busca ao primeiro contato em poucos passos</a:t>
            </a:r>
            <a:endParaRPr lang="en-US" sz="2850" dirty="0"/>
          </a:p>
        </p:txBody>
      </p:sp>
      <p:sp>
        <p:nvSpPr>
          <p:cNvPr id="6" name="Shape 2"/>
          <p:cNvSpPr/>
          <p:nvPr/>
        </p:nvSpPr>
        <p:spPr>
          <a:xfrm>
            <a:off x="857250" y="2428875"/>
            <a:ext cx="7429500" cy="28575"/>
          </a:xfrm>
          <a:prstGeom prst="rect">
            <a:avLst/>
          </a:prstGeom>
          <a:solidFill>
            <a:srgbClr val="E2E8F0"/>
          </a:solidFill>
          <a:ln/>
        </p:spPr>
      </p:sp>
      <p:sp>
        <p:nvSpPr>
          <p:cNvPr id="7" name="Shape 3"/>
          <p:cNvSpPr/>
          <p:nvPr/>
        </p:nvSpPr>
        <p:spPr>
          <a:xfrm>
            <a:off x="1000125" y="2143125"/>
            <a:ext cx="571500" cy="571500"/>
          </a:xfrm>
          <a:prstGeom prst="ellipse">
            <a:avLst/>
          </a:prstGeom>
          <a:solidFill>
            <a:srgbClr val="0B1D51"/>
          </a:solidFill>
          <a:ln w="4572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1171575" y="2314575"/>
            <a:ext cx="228600" cy="228600"/>
          </a:xfrm>
          <a:prstGeom prst="rect">
            <a:avLst/>
          </a:prstGeom>
        </p:spPr>
      </p:pic>
      <p:sp>
        <p:nvSpPr>
          <p:cNvPr id="9" name="Text 4"/>
          <p:cNvSpPr/>
          <p:nvPr/>
        </p:nvSpPr>
        <p:spPr>
          <a:xfrm>
            <a:off x="571500" y="2893219"/>
            <a:ext cx="1428750" cy="342900"/>
          </a:xfrm>
          <a:prstGeom prst="rect">
            <a:avLst/>
          </a:prstGeom>
          <a:noFill/>
          <a:ln/>
        </p:spPr>
        <p:txBody>
          <a:bodyPr wrap="square" lIns="0" tIns="0" rIns="0" bIns="0" rtlCol="0" anchor="ctr">
            <a:spAutoFit/>
          </a:bodyPr>
          <a:lstStyle/>
          <a:p>
            <a:pPr algn="ctr" indent="0" marL="0">
              <a:buNone/>
            </a:pPr>
            <a:r>
              <a:rPr lang="en-US" sz="1000" b="1" dirty="0">
                <a:solidFill>
                  <a:srgbClr val="0B1D51"/>
                </a:solidFill>
                <a:latin typeface="Segoe UI" pitchFamily="34" charset="0"/>
                <a:ea typeface="Segoe UI" pitchFamily="34" charset="-122"/>
                <a:cs typeface="Segoe UI" pitchFamily="34" charset="-120"/>
              </a:rPr>
              <a:t>1. Descrever</a:t>
            </a:r>
            <a:endParaRPr lang="en-US" sz="1000" dirty="0"/>
          </a:p>
        </p:txBody>
      </p:sp>
      <p:sp>
        <p:nvSpPr>
          <p:cNvPr id="10" name="Text 5"/>
          <p:cNvSpPr/>
          <p:nvPr/>
        </p:nvSpPr>
        <p:spPr>
          <a:xfrm>
            <a:off x="571500" y="3321844"/>
            <a:ext cx="1428750" cy="480027"/>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4A5568"/>
                </a:solidFill>
                <a:latin typeface="Segoe UI" pitchFamily="34" charset="0"/>
                <a:ea typeface="Segoe UI" pitchFamily="34" charset="-122"/>
                <a:cs typeface="Segoe UI" pitchFamily="34" charset="-120"/>
              </a:rPr>
              <a:t>Organização publica um desafio real ou necessidade.</a:t>
            </a:r>
            <a:endParaRPr lang="en-US" sz="850" dirty="0"/>
          </a:p>
        </p:txBody>
      </p:sp>
      <p:sp>
        <p:nvSpPr>
          <p:cNvPr id="11" name="Shape 6"/>
          <p:cNvSpPr/>
          <p:nvPr/>
        </p:nvSpPr>
        <p:spPr>
          <a:xfrm>
            <a:off x="2643188" y="2143125"/>
            <a:ext cx="571500" cy="571500"/>
          </a:xfrm>
          <a:prstGeom prst="ellipse">
            <a:avLst/>
          </a:prstGeom>
          <a:solidFill>
            <a:srgbClr val="0B1D51"/>
          </a:solidFill>
          <a:ln w="4572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2814638" y="2314575"/>
            <a:ext cx="228600" cy="228600"/>
          </a:xfrm>
          <a:prstGeom prst="rect">
            <a:avLst/>
          </a:prstGeom>
        </p:spPr>
      </p:pic>
      <p:sp>
        <p:nvSpPr>
          <p:cNvPr id="13" name="Text 7"/>
          <p:cNvSpPr/>
          <p:nvPr/>
        </p:nvSpPr>
        <p:spPr>
          <a:xfrm>
            <a:off x="2214563" y="2893219"/>
            <a:ext cx="1428750" cy="342900"/>
          </a:xfrm>
          <a:prstGeom prst="rect">
            <a:avLst/>
          </a:prstGeom>
          <a:noFill/>
          <a:ln/>
        </p:spPr>
        <p:txBody>
          <a:bodyPr wrap="square" lIns="0" tIns="0" rIns="0" bIns="0" rtlCol="0" anchor="ctr">
            <a:spAutoFit/>
          </a:bodyPr>
          <a:lstStyle/>
          <a:p>
            <a:pPr algn="ctr" indent="0" marL="0">
              <a:buNone/>
            </a:pPr>
            <a:r>
              <a:rPr lang="en-US" sz="1000" b="1" dirty="0">
                <a:solidFill>
                  <a:srgbClr val="0B1D51"/>
                </a:solidFill>
                <a:latin typeface="Segoe UI" pitchFamily="34" charset="0"/>
                <a:ea typeface="Segoe UI" pitchFamily="34" charset="-122"/>
                <a:cs typeface="Segoe UI" pitchFamily="34" charset="-120"/>
              </a:rPr>
              <a:t>2. Buscar</a:t>
            </a:r>
            <a:endParaRPr lang="en-US" sz="1000" dirty="0"/>
          </a:p>
        </p:txBody>
      </p:sp>
      <p:sp>
        <p:nvSpPr>
          <p:cNvPr id="14" name="Text 8"/>
          <p:cNvSpPr/>
          <p:nvPr/>
        </p:nvSpPr>
        <p:spPr>
          <a:xfrm>
            <a:off x="2214563" y="3321844"/>
            <a:ext cx="1428750" cy="480027"/>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4A5568"/>
                </a:solidFill>
                <a:latin typeface="Segoe UI" pitchFamily="34" charset="0"/>
                <a:ea typeface="Segoe UI" pitchFamily="34" charset="-122"/>
                <a:cs typeface="Segoe UI" pitchFamily="34" charset="-120"/>
              </a:rPr>
              <a:t>Sistema retorna soluções com scores (ex: 94%, 88%).</a:t>
            </a:r>
            <a:endParaRPr lang="en-US" sz="850" dirty="0"/>
          </a:p>
        </p:txBody>
      </p:sp>
      <p:sp>
        <p:nvSpPr>
          <p:cNvPr id="15" name="Shape 9"/>
          <p:cNvSpPr/>
          <p:nvPr/>
        </p:nvSpPr>
        <p:spPr>
          <a:xfrm>
            <a:off x="4286250" y="2143125"/>
            <a:ext cx="571500" cy="571500"/>
          </a:xfrm>
          <a:prstGeom prst="ellipse">
            <a:avLst/>
          </a:prstGeom>
          <a:solidFill>
            <a:srgbClr val="0B1D51"/>
          </a:solidFill>
          <a:ln w="45720">
            <a:solidFill>
              <a:srgbClr val="FFFFFF"/>
            </a:solidFill>
            <a:prstDash val="solid"/>
          </a:ln>
        </p:spPr>
      </p:sp>
      <p:pic>
        <p:nvPicPr>
          <p:cNvPr id="16" name="Image 3" descr="preencoded.png">    </p:cNvPr>
          <p:cNvPicPr>
            <a:picLocks noChangeAspect="1"/>
          </p:cNvPicPr>
          <p:nvPr/>
        </p:nvPicPr>
        <p:blipFill>
          <a:blip r:embed="rId4"/>
          <a:stretch>
            <a:fillRect/>
          </a:stretch>
        </p:blipFill>
        <p:spPr>
          <a:xfrm>
            <a:off x="4486275" y="2314575"/>
            <a:ext cx="171450" cy="228600"/>
          </a:xfrm>
          <a:prstGeom prst="rect">
            <a:avLst/>
          </a:prstGeom>
        </p:spPr>
      </p:pic>
      <p:sp>
        <p:nvSpPr>
          <p:cNvPr id="17" name="Text 10"/>
          <p:cNvSpPr/>
          <p:nvPr/>
        </p:nvSpPr>
        <p:spPr>
          <a:xfrm>
            <a:off x="3857625" y="2893219"/>
            <a:ext cx="1428750" cy="342900"/>
          </a:xfrm>
          <a:prstGeom prst="rect">
            <a:avLst/>
          </a:prstGeom>
          <a:noFill/>
          <a:ln/>
        </p:spPr>
        <p:txBody>
          <a:bodyPr wrap="square" lIns="0" tIns="0" rIns="0" bIns="0" rtlCol="0" anchor="ctr">
            <a:spAutoFit/>
          </a:bodyPr>
          <a:lstStyle/>
          <a:p>
            <a:pPr algn="ctr" indent="0" marL="0">
              <a:buNone/>
            </a:pPr>
            <a:r>
              <a:rPr lang="en-US" sz="1000" b="1" dirty="0">
                <a:solidFill>
                  <a:srgbClr val="0B1D51"/>
                </a:solidFill>
                <a:latin typeface="Segoe UI" pitchFamily="34" charset="0"/>
                <a:ea typeface="Segoe UI" pitchFamily="34" charset="-122"/>
                <a:cs typeface="Segoe UI" pitchFamily="34" charset="-120"/>
              </a:rPr>
              <a:t>3. Analisar</a:t>
            </a:r>
            <a:endParaRPr lang="en-US" sz="1000" dirty="0"/>
          </a:p>
        </p:txBody>
      </p:sp>
      <p:sp>
        <p:nvSpPr>
          <p:cNvPr id="18" name="Text 11"/>
          <p:cNvSpPr/>
          <p:nvPr/>
        </p:nvSpPr>
        <p:spPr>
          <a:xfrm>
            <a:off x="3857625" y="3321844"/>
            <a:ext cx="1428750" cy="480027"/>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4A5568"/>
                </a:solidFill>
                <a:latin typeface="Segoe UI" pitchFamily="34" charset="0"/>
                <a:ea typeface="Segoe UI" pitchFamily="34" charset="-122"/>
                <a:cs typeface="Segoe UI" pitchFamily="34" charset="-120"/>
              </a:rPr>
              <a:t>Usuário entende o problema resolvido e requisitos.</a:t>
            </a:r>
            <a:endParaRPr lang="en-US" sz="850" dirty="0"/>
          </a:p>
        </p:txBody>
      </p:sp>
      <p:sp>
        <p:nvSpPr>
          <p:cNvPr id="19" name="Shape 12"/>
          <p:cNvSpPr/>
          <p:nvPr/>
        </p:nvSpPr>
        <p:spPr>
          <a:xfrm>
            <a:off x="5929313" y="2143125"/>
            <a:ext cx="571500" cy="571500"/>
          </a:xfrm>
          <a:prstGeom prst="ellipse">
            <a:avLst/>
          </a:prstGeom>
          <a:solidFill>
            <a:srgbClr val="0B1D51"/>
          </a:solidFill>
          <a:ln w="45720">
            <a:solidFill>
              <a:srgbClr val="FFFFFF"/>
            </a:solidFill>
            <a:prstDash val="solid"/>
          </a:ln>
        </p:spPr>
      </p:sp>
      <p:pic>
        <p:nvPicPr>
          <p:cNvPr id="20" name="Image 4" descr="preencoded.png">    </p:cNvPr>
          <p:cNvPicPr>
            <a:picLocks noChangeAspect="1"/>
          </p:cNvPicPr>
          <p:nvPr/>
        </p:nvPicPr>
        <p:blipFill>
          <a:blip r:embed="rId5"/>
          <a:stretch>
            <a:fillRect/>
          </a:stretch>
        </p:blipFill>
        <p:spPr>
          <a:xfrm>
            <a:off x="6072188" y="2314575"/>
            <a:ext cx="285750" cy="228600"/>
          </a:xfrm>
          <a:prstGeom prst="rect">
            <a:avLst/>
          </a:prstGeom>
        </p:spPr>
      </p:pic>
      <p:sp>
        <p:nvSpPr>
          <p:cNvPr id="21" name="Text 13"/>
          <p:cNvSpPr/>
          <p:nvPr/>
        </p:nvSpPr>
        <p:spPr>
          <a:xfrm>
            <a:off x="5500688" y="2893219"/>
            <a:ext cx="1428750" cy="342900"/>
          </a:xfrm>
          <a:prstGeom prst="rect">
            <a:avLst/>
          </a:prstGeom>
          <a:noFill/>
          <a:ln/>
        </p:spPr>
        <p:txBody>
          <a:bodyPr wrap="square" lIns="0" tIns="0" rIns="0" bIns="0" rtlCol="0" anchor="ctr">
            <a:spAutoFit/>
          </a:bodyPr>
          <a:lstStyle/>
          <a:p>
            <a:pPr algn="ctr" indent="0" marL="0">
              <a:buNone/>
            </a:pPr>
            <a:r>
              <a:rPr lang="en-US" sz="1000" b="1" dirty="0">
                <a:solidFill>
                  <a:srgbClr val="0B1D51"/>
                </a:solidFill>
                <a:latin typeface="Segoe UI" pitchFamily="34" charset="0"/>
                <a:ea typeface="Segoe UI" pitchFamily="34" charset="-122"/>
                <a:cs typeface="Segoe UI" pitchFamily="34" charset="-120"/>
              </a:rPr>
              <a:t>4. Solicitar</a:t>
            </a:r>
            <a:endParaRPr lang="en-US" sz="1000" dirty="0"/>
          </a:p>
        </p:txBody>
      </p:sp>
      <p:sp>
        <p:nvSpPr>
          <p:cNvPr id="22" name="Text 14"/>
          <p:cNvSpPr/>
          <p:nvPr/>
        </p:nvSpPr>
        <p:spPr>
          <a:xfrm>
            <a:off x="5500688" y="3321844"/>
            <a:ext cx="1428750"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4A5568"/>
                </a:solidFill>
                <a:latin typeface="Segoe UI" pitchFamily="34" charset="0"/>
                <a:ea typeface="Segoe UI" pitchFamily="34" charset="-122"/>
                <a:cs typeface="Segoe UI" pitchFamily="34" charset="-120"/>
              </a:rPr>
              <a:t>Informa objetivo, contexto e urgência da conexão.</a:t>
            </a:r>
            <a:endParaRPr lang="en-US" sz="850" dirty="0"/>
          </a:p>
        </p:txBody>
      </p:sp>
      <p:sp>
        <p:nvSpPr>
          <p:cNvPr id="23" name="Shape 15"/>
          <p:cNvSpPr/>
          <p:nvPr/>
        </p:nvSpPr>
        <p:spPr>
          <a:xfrm>
            <a:off x="7572375" y="2143125"/>
            <a:ext cx="571500" cy="571500"/>
          </a:xfrm>
          <a:prstGeom prst="ellipse">
            <a:avLst/>
          </a:prstGeom>
          <a:solidFill>
            <a:srgbClr val="F4B942"/>
          </a:solidFill>
          <a:ln w="45720">
            <a:solidFill>
              <a:srgbClr val="FFFFFF"/>
            </a:solidFill>
            <a:prstDash val="solid"/>
          </a:ln>
        </p:spPr>
      </p:sp>
      <p:pic>
        <p:nvPicPr>
          <p:cNvPr id="24" name="Image 5" descr="preencoded.png">    </p:cNvPr>
          <p:cNvPicPr>
            <a:picLocks noChangeAspect="1"/>
          </p:cNvPicPr>
          <p:nvPr/>
        </p:nvPicPr>
        <p:blipFill>
          <a:blip r:embed="rId6"/>
          <a:stretch>
            <a:fillRect/>
          </a:stretch>
        </p:blipFill>
        <p:spPr>
          <a:xfrm>
            <a:off x="7743825" y="2314575"/>
            <a:ext cx="228600" cy="228600"/>
          </a:xfrm>
          <a:prstGeom prst="rect">
            <a:avLst/>
          </a:prstGeom>
        </p:spPr>
      </p:pic>
      <p:sp>
        <p:nvSpPr>
          <p:cNvPr id="25" name="Text 16"/>
          <p:cNvSpPr/>
          <p:nvPr/>
        </p:nvSpPr>
        <p:spPr>
          <a:xfrm>
            <a:off x="7143750" y="2893219"/>
            <a:ext cx="1428750" cy="342900"/>
          </a:xfrm>
          <a:prstGeom prst="rect">
            <a:avLst/>
          </a:prstGeom>
          <a:noFill/>
          <a:ln/>
        </p:spPr>
        <p:txBody>
          <a:bodyPr wrap="square" lIns="0" tIns="0" rIns="0" bIns="0" rtlCol="0" anchor="ctr">
            <a:spAutoFit/>
          </a:bodyPr>
          <a:lstStyle/>
          <a:p>
            <a:pPr algn="ctr" indent="0" marL="0">
              <a:buNone/>
            </a:pPr>
            <a:r>
              <a:rPr lang="en-US" sz="1000" b="1" dirty="0">
                <a:solidFill>
                  <a:srgbClr val="0B1D51"/>
                </a:solidFill>
                <a:latin typeface="Segoe UI" pitchFamily="34" charset="0"/>
                <a:ea typeface="Segoe UI" pitchFamily="34" charset="-122"/>
                <a:cs typeface="Segoe UI" pitchFamily="34" charset="-120"/>
              </a:rPr>
              <a:t>5. Conectar</a:t>
            </a:r>
            <a:endParaRPr lang="en-US" sz="1000" dirty="0"/>
          </a:p>
        </p:txBody>
      </p:sp>
      <p:sp>
        <p:nvSpPr>
          <p:cNvPr id="26" name="Text 17"/>
          <p:cNvSpPr/>
          <p:nvPr/>
        </p:nvSpPr>
        <p:spPr>
          <a:xfrm>
            <a:off x="7143750" y="3321844"/>
            <a:ext cx="1428750" cy="320018"/>
          </a:xfrm>
          <a:prstGeom prst="rect">
            <a:avLst/>
          </a:prstGeom>
          <a:noFill/>
          <a:ln/>
        </p:spPr>
        <p:txBody>
          <a:bodyPr wrap="square" lIns="0" tIns="0" rIns="0" bIns="0" rtlCol="0" anchor="t">
            <a:spAutoFit/>
          </a:bodyPr>
          <a:lstStyle/>
          <a:p>
            <a:pPr algn="ctr" indent="0" marL="0">
              <a:lnSpc>
                <a:spcPct val="112000"/>
              </a:lnSpc>
              <a:buNone/>
            </a:pPr>
            <a:r>
              <a:rPr lang="en-US" sz="850" dirty="0">
                <a:solidFill>
                  <a:srgbClr val="4A5568"/>
                </a:solidFill>
                <a:latin typeface="Segoe UI" pitchFamily="34" charset="0"/>
                <a:ea typeface="Segoe UI" pitchFamily="34" charset="-122"/>
                <a:cs typeface="Segoe UI" pitchFamily="34" charset="-120"/>
              </a:rPr>
              <a:t>Ofertante recebe e-mail e aceita o contato.</a:t>
            </a:r>
            <a:endParaRPr lang="en-US" sz="850" dirty="0"/>
          </a:p>
        </p:txBody>
      </p:sp>
      <p:sp>
        <p:nvSpPr>
          <p:cNvPr id="27" name="Shape 18"/>
          <p:cNvSpPr/>
          <p:nvPr/>
        </p:nvSpPr>
        <p:spPr>
          <a:xfrm>
            <a:off x="571500" y="4087620"/>
            <a:ext cx="8001000" cy="857250"/>
          </a:xfrm>
          <a:prstGeom prst="rect">
            <a:avLst/>
          </a:prstGeom>
          <a:solidFill>
            <a:srgbClr val="F7FAFC"/>
          </a:solidFill>
          <a:ln/>
        </p:spPr>
      </p:sp>
      <p:sp>
        <p:nvSpPr>
          <p:cNvPr id="28" name="Shape 19"/>
          <p:cNvSpPr/>
          <p:nvPr/>
        </p:nvSpPr>
        <p:spPr>
          <a:xfrm>
            <a:off x="571500" y="4087620"/>
            <a:ext cx="8001000" cy="28575"/>
          </a:xfrm>
          <a:prstGeom prst="rect">
            <a:avLst/>
          </a:prstGeom>
          <a:solidFill>
            <a:srgbClr val="F4B942"/>
          </a:solidFill>
          <a:ln/>
        </p:spPr>
      </p:sp>
      <p:sp>
        <p:nvSpPr>
          <p:cNvPr id="29" name="Text 20"/>
          <p:cNvSpPr/>
          <p:nvPr/>
        </p:nvSpPr>
        <p:spPr>
          <a:xfrm>
            <a:off x="857250" y="4301933"/>
            <a:ext cx="7429500" cy="471488"/>
          </a:xfrm>
          <a:prstGeom prst="rect">
            <a:avLst/>
          </a:prstGeom>
          <a:noFill/>
          <a:ln/>
        </p:spPr>
        <p:txBody>
          <a:bodyPr wrap="square" lIns="0" tIns="0" rIns="0" bIns="0" rtlCol="0" anchor="t">
            <a:spAutoFit/>
          </a:bodyPr>
          <a:lstStyle/>
          <a:p>
            <a:pPr algn="l" indent="0" marL="0">
              <a:lnSpc>
                <a:spcPct val="120000"/>
              </a:lnSpc>
              <a:buNone/>
            </a:pPr>
            <a:r>
              <a:rPr lang="en-US" sz="1150" i="1" dirty="0">
                <a:solidFill>
                  <a:srgbClr val="355C7D"/>
                </a:solidFill>
                <a:latin typeface="Georgia" pitchFamily="34" charset="0"/>
                <a:ea typeface="Georgia" pitchFamily="34" charset="-122"/>
                <a:cs typeface="Georgia" pitchFamily="34" charset="-120"/>
              </a:rPr>
              <a:t>"No MVP, a plataforma atua como o facilitador do 'aperto de mãos' digital. Após o aceite, a conversa flui naturalmente por e-mail ou canais externos das instituições."</a:t>
            </a:r>
            <a:endParaRPr lang="en-US" sz="1150" dirty="0"/>
          </a:p>
        </p:txBody>
      </p:sp>
      <p:sp>
        <p:nvSpPr>
          <p:cNvPr id="30" name="Text 21"/>
          <p:cNvSpPr/>
          <p:nvPr/>
        </p:nvSpPr>
        <p:spPr>
          <a:xfrm>
            <a:off x="571500" y="4743450"/>
            <a:ext cx="3200791" cy="114300"/>
          </a:xfrm>
          <a:prstGeom prst="rect">
            <a:avLst/>
          </a:prstGeom>
          <a:noFill/>
          <a:ln/>
        </p:spPr>
        <p:txBody>
          <a:bodyPr wrap="square" lIns="0" tIns="0" rIns="0" bIns="0" rtlCol="0" anchor="t">
            <a:spAutoFit/>
          </a:bodyPr>
          <a:lstStyle/>
          <a:p>
            <a:pPr algn="l" indent="0" marL="0">
              <a:buNone/>
            </a:pPr>
            <a:r>
              <a:rPr lang="en-US" sz="700" b="1" spc="1" kern="0" dirty="0">
                <a:solidFill>
                  <a:srgbClr val="A0AEC0"/>
                </a:solidFill>
                <a:latin typeface="Segoe UI" pitchFamily="34" charset="0"/>
                <a:ea typeface="Segoe UI" pitchFamily="34" charset="-122"/>
                <a:cs typeface="Segoe UI" pitchFamily="34" charset="-120"/>
              </a:rPr>
              <a:t>CLIMATE ACTION CONNECT · FLUXO DE IMPLEMENTAÇÃO</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08 · ESCOPO E ROADMAP</a:t>
            </a:r>
            <a:endParaRPr lang="en-US" sz="900" dirty="0"/>
          </a:p>
        </p:txBody>
      </p:sp>
      <p:sp>
        <p:nvSpPr>
          <p:cNvPr id="5" name="Text 1"/>
          <p:cNvSpPr/>
          <p:nvPr/>
        </p:nvSpPr>
        <p:spPr>
          <a:xfrm>
            <a:off x="571500" y="650081"/>
            <a:ext cx="8572500" cy="785813"/>
          </a:xfrm>
          <a:prstGeom prst="rect">
            <a:avLst/>
          </a:prstGeom>
          <a:noFill/>
          <a:ln/>
        </p:spPr>
        <p:txBody>
          <a:bodyPr wrap="square" lIns="0" tIns="0" rIns="0" bIns="0" rtlCol="0" anchor="t">
            <a:spAutoFit/>
          </a:bodyPr>
          <a:lstStyle/>
          <a:p>
            <a:pPr algn="l" indent="0" marL="0">
              <a:buNone/>
            </a:pPr>
            <a:r>
              <a:rPr lang="en-US" sz="2450" b="1" spc="-1" kern="0" dirty="0">
                <a:solidFill>
                  <a:srgbClr val="0B1D51"/>
                </a:solidFill>
                <a:latin typeface="Arial" pitchFamily="34" charset="0"/>
                <a:ea typeface="Arial" pitchFamily="34" charset="-122"/>
                <a:cs typeface="Arial" pitchFamily="34" charset="-120"/>
              </a:rPr>
              <a:t>O MVP preserva a jornada essencial de implementação</a:t>
            </a:r>
            <a:endParaRPr lang="en-US" sz="2450" dirty="0"/>
          </a:p>
        </p:txBody>
      </p:sp>
      <p:sp>
        <p:nvSpPr>
          <p:cNvPr id="6" name="Shape 2"/>
          <p:cNvSpPr/>
          <p:nvPr/>
        </p:nvSpPr>
        <p:spPr>
          <a:xfrm>
            <a:off x="571500" y="1578769"/>
            <a:ext cx="3857625" cy="2500313"/>
          </a:xfrm>
          <a:prstGeom prst="rect">
            <a:avLst/>
          </a:prstGeom>
          <a:solidFill>
            <a:srgbClr val="F7FAFC"/>
          </a:solidFill>
          <a:ln/>
        </p:spPr>
      </p:sp>
      <p:sp>
        <p:nvSpPr>
          <p:cNvPr id="7" name="Shape 3"/>
          <p:cNvSpPr/>
          <p:nvPr/>
        </p:nvSpPr>
        <p:spPr>
          <a:xfrm>
            <a:off x="571500" y="1578769"/>
            <a:ext cx="3857625" cy="57150"/>
          </a:xfrm>
          <a:prstGeom prst="rect">
            <a:avLst/>
          </a:prstGeom>
          <a:solidFill>
            <a:srgbClr val="0B1D51"/>
          </a:solidFill>
          <a:ln/>
        </p:spPr>
      </p:sp>
      <p:pic>
        <p:nvPicPr>
          <p:cNvPr id="8" name="Image 1" descr="preencoded.png">    </p:cNvPr>
          <p:cNvPicPr>
            <a:picLocks noChangeAspect="1"/>
          </p:cNvPicPr>
          <p:nvPr/>
        </p:nvPicPr>
        <p:blipFill>
          <a:blip r:embed="rId2"/>
          <a:stretch>
            <a:fillRect/>
          </a:stretch>
        </p:blipFill>
        <p:spPr>
          <a:xfrm>
            <a:off x="785813" y="1734145"/>
            <a:ext cx="171450" cy="171450"/>
          </a:xfrm>
          <a:prstGeom prst="rect">
            <a:avLst/>
          </a:prstGeom>
        </p:spPr>
      </p:pic>
      <p:sp>
        <p:nvSpPr>
          <p:cNvPr id="9" name="Text 4"/>
          <p:cNvSpPr/>
          <p:nvPr/>
        </p:nvSpPr>
        <p:spPr>
          <a:xfrm>
            <a:off x="1042988" y="1721644"/>
            <a:ext cx="1702277" cy="196453"/>
          </a:xfrm>
          <a:prstGeom prst="rect">
            <a:avLst/>
          </a:prstGeom>
          <a:noFill/>
          <a:ln/>
        </p:spPr>
        <p:txBody>
          <a:bodyPr wrap="square" lIns="0" tIns="0" rIns="0" bIns="0" rtlCol="0" anchor="t">
            <a:spAutoFit/>
          </a:bodyPr>
          <a:lstStyle/>
          <a:p>
            <a:pPr algn="l" indent="0" marL="0">
              <a:buNone/>
            </a:pPr>
            <a:r>
              <a:rPr lang="en-US" sz="1200" b="1" dirty="0">
                <a:solidFill>
                  <a:srgbClr val="0B1D51"/>
                </a:solidFill>
                <a:latin typeface="Arial" pitchFamily="34" charset="0"/>
                <a:ea typeface="Arial" pitchFamily="34" charset="-122"/>
                <a:cs typeface="Arial" pitchFamily="34" charset="-120"/>
              </a:rPr>
              <a:t>Entra no MVP (15/10)</a:t>
            </a:r>
            <a:endParaRPr lang="en-US" sz="1200" dirty="0"/>
          </a:p>
        </p:txBody>
      </p:sp>
      <p:pic>
        <p:nvPicPr>
          <p:cNvPr id="10" name="Image 2" descr="preencoded.png">    </p:cNvPr>
          <p:cNvPicPr>
            <a:picLocks noChangeAspect="1"/>
          </p:cNvPicPr>
          <p:nvPr/>
        </p:nvPicPr>
        <p:blipFill>
          <a:blip r:embed="rId3"/>
          <a:stretch>
            <a:fillRect/>
          </a:stretch>
        </p:blipFill>
        <p:spPr>
          <a:xfrm>
            <a:off x="785813" y="2089547"/>
            <a:ext cx="114300" cy="114300"/>
          </a:xfrm>
          <a:prstGeom prst="rect">
            <a:avLst/>
          </a:prstGeom>
        </p:spPr>
      </p:pic>
      <p:sp>
        <p:nvSpPr>
          <p:cNvPr id="11" name="Text 5"/>
          <p:cNvSpPr/>
          <p:nvPr/>
        </p:nvSpPr>
        <p:spPr>
          <a:xfrm>
            <a:off x="985838" y="2060972"/>
            <a:ext cx="2423294"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Portal público: 4 portas e busca inteligente</a:t>
            </a:r>
            <a:endParaRPr lang="en-US" sz="950" dirty="0"/>
          </a:p>
        </p:txBody>
      </p:sp>
      <p:pic>
        <p:nvPicPr>
          <p:cNvPr id="12" name="Image 3" descr="preencoded.png">    </p:cNvPr>
          <p:cNvPicPr>
            <a:picLocks noChangeAspect="1"/>
          </p:cNvPicPr>
          <p:nvPr/>
        </p:nvPicPr>
        <p:blipFill>
          <a:blip r:embed="rId4"/>
          <a:stretch>
            <a:fillRect/>
          </a:stretch>
        </p:blipFill>
        <p:spPr>
          <a:xfrm>
            <a:off x="785813" y="2355261"/>
            <a:ext cx="114300" cy="114300"/>
          </a:xfrm>
          <a:prstGeom prst="rect">
            <a:avLst/>
          </a:prstGeom>
        </p:spPr>
      </p:pic>
      <p:sp>
        <p:nvSpPr>
          <p:cNvPr id="13" name="Text 6"/>
          <p:cNvSpPr/>
          <p:nvPr/>
        </p:nvSpPr>
        <p:spPr>
          <a:xfrm>
            <a:off x="985838" y="2326686"/>
            <a:ext cx="2398179"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Score percentual + explicação dos fatores</a:t>
            </a:r>
            <a:endParaRPr lang="en-US" sz="950" dirty="0"/>
          </a:p>
        </p:txBody>
      </p:sp>
      <p:pic>
        <p:nvPicPr>
          <p:cNvPr id="14" name="Image 4" descr="preencoded.png">    </p:cNvPr>
          <p:cNvPicPr>
            <a:picLocks noChangeAspect="1"/>
          </p:cNvPicPr>
          <p:nvPr/>
        </p:nvPicPr>
        <p:blipFill>
          <a:blip r:embed="rId5"/>
          <a:stretch>
            <a:fillRect/>
          </a:stretch>
        </p:blipFill>
        <p:spPr>
          <a:xfrm>
            <a:off x="785813" y="2620975"/>
            <a:ext cx="114300" cy="114300"/>
          </a:xfrm>
          <a:prstGeom prst="rect">
            <a:avLst/>
          </a:prstGeom>
        </p:spPr>
      </p:pic>
      <p:sp>
        <p:nvSpPr>
          <p:cNvPr id="15" name="Text 7"/>
          <p:cNvSpPr/>
          <p:nvPr/>
        </p:nvSpPr>
        <p:spPr>
          <a:xfrm>
            <a:off x="985838" y="2592400"/>
            <a:ext cx="2094514"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Páginas de soluções e organizações</a:t>
            </a:r>
            <a:endParaRPr lang="en-US" sz="950" dirty="0"/>
          </a:p>
        </p:txBody>
      </p:sp>
      <p:pic>
        <p:nvPicPr>
          <p:cNvPr id="16" name="Image 5" descr="preencoded.png">    </p:cNvPr>
          <p:cNvPicPr>
            <a:picLocks noChangeAspect="1"/>
          </p:cNvPicPr>
          <p:nvPr/>
        </p:nvPicPr>
        <p:blipFill>
          <a:blip r:embed="rId6"/>
          <a:stretch>
            <a:fillRect/>
          </a:stretch>
        </p:blipFill>
        <p:spPr>
          <a:xfrm>
            <a:off x="785813" y="2886689"/>
            <a:ext cx="114300" cy="114300"/>
          </a:xfrm>
          <a:prstGeom prst="rect">
            <a:avLst/>
          </a:prstGeom>
        </p:spPr>
      </p:pic>
      <p:sp>
        <p:nvSpPr>
          <p:cNvPr id="17" name="Text 8"/>
          <p:cNvSpPr/>
          <p:nvPr/>
        </p:nvSpPr>
        <p:spPr>
          <a:xfrm>
            <a:off x="985838" y="2858114"/>
            <a:ext cx="2266020"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Gestão de ofertas, desafios e conexões</a:t>
            </a:r>
            <a:endParaRPr lang="en-US" sz="950" dirty="0"/>
          </a:p>
        </p:txBody>
      </p:sp>
      <p:pic>
        <p:nvPicPr>
          <p:cNvPr id="18" name="Image 6" descr="preencoded.png">    </p:cNvPr>
          <p:cNvPicPr>
            <a:picLocks noChangeAspect="1"/>
          </p:cNvPicPr>
          <p:nvPr/>
        </p:nvPicPr>
        <p:blipFill>
          <a:blip r:embed="rId7"/>
          <a:stretch>
            <a:fillRect/>
          </a:stretch>
        </p:blipFill>
        <p:spPr>
          <a:xfrm>
            <a:off x="785813" y="3152403"/>
            <a:ext cx="114300" cy="114300"/>
          </a:xfrm>
          <a:prstGeom prst="rect">
            <a:avLst/>
          </a:prstGeom>
        </p:spPr>
      </p:pic>
      <p:sp>
        <p:nvSpPr>
          <p:cNvPr id="19" name="Text 9"/>
          <p:cNvSpPr/>
          <p:nvPr/>
        </p:nvSpPr>
        <p:spPr>
          <a:xfrm>
            <a:off x="985838" y="3123828"/>
            <a:ext cx="2029885"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Curadoria e verificação institucional</a:t>
            </a:r>
            <a:endParaRPr lang="en-US" sz="950" dirty="0"/>
          </a:p>
        </p:txBody>
      </p:sp>
      <p:sp>
        <p:nvSpPr>
          <p:cNvPr id="20" name="Shape 10"/>
          <p:cNvSpPr/>
          <p:nvPr/>
        </p:nvSpPr>
        <p:spPr>
          <a:xfrm>
            <a:off x="4714875" y="1578769"/>
            <a:ext cx="3857625" cy="2500313"/>
          </a:xfrm>
          <a:prstGeom prst="rect">
            <a:avLst/>
          </a:prstGeom>
          <a:solidFill>
            <a:srgbClr val="EDF2F7"/>
          </a:solidFill>
          <a:ln/>
        </p:spPr>
      </p:sp>
      <p:sp>
        <p:nvSpPr>
          <p:cNvPr id="21" name="Shape 11"/>
          <p:cNvSpPr/>
          <p:nvPr/>
        </p:nvSpPr>
        <p:spPr>
          <a:xfrm>
            <a:off x="4714875" y="1578769"/>
            <a:ext cx="3857625" cy="57150"/>
          </a:xfrm>
          <a:prstGeom prst="rect">
            <a:avLst/>
          </a:prstGeom>
          <a:solidFill>
            <a:srgbClr val="A0AEC0"/>
          </a:solidFill>
          <a:ln/>
        </p:spPr>
      </p:sp>
      <p:pic>
        <p:nvPicPr>
          <p:cNvPr id="22" name="Image 7" descr="preencoded.png">    </p:cNvPr>
          <p:cNvPicPr>
            <a:picLocks noChangeAspect="1"/>
          </p:cNvPicPr>
          <p:nvPr/>
        </p:nvPicPr>
        <p:blipFill>
          <a:blip r:embed="rId8"/>
          <a:stretch>
            <a:fillRect/>
          </a:stretch>
        </p:blipFill>
        <p:spPr>
          <a:xfrm>
            <a:off x="4929188" y="1734145"/>
            <a:ext cx="150019" cy="171450"/>
          </a:xfrm>
          <a:prstGeom prst="rect">
            <a:avLst/>
          </a:prstGeom>
        </p:spPr>
      </p:pic>
      <p:sp>
        <p:nvSpPr>
          <p:cNvPr id="23" name="Text 12"/>
          <p:cNvSpPr/>
          <p:nvPr/>
        </p:nvSpPr>
        <p:spPr>
          <a:xfrm>
            <a:off x="5164931" y="1721644"/>
            <a:ext cx="1438684" cy="196453"/>
          </a:xfrm>
          <a:prstGeom prst="rect">
            <a:avLst/>
          </a:prstGeom>
          <a:noFill/>
          <a:ln/>
        </p:spPr>
        <p:txBody>
          <a:bodyPr wrap="square" lIns="0" tIns="0" rIns="0" bIns="0" rtlCol="0" anchor="t">
            <a:spAutoFit/>
          </a:bodyPr>
          <a:lstStyle/>
          <a:p>
            <a:pPr algn="l" indent="0" marL="0">
              <a:buNone/>
            </a:pPr>
            <a:r>
              <a:rPr lang="en-US" sz="1200" b="1" dirty="0">
                <a:solidFill>
                  <a:srgbClr val="4A5568"/>
                </a:solidFill>
                <a:latin typeface="Arial" pitchFamily="34" charset="0"/>
                <a:ea typeface="Arial" pitchFamily="34" charset="-122"/>
                <a:cs typeface="Arial" pitchFamily="34" charset="-120"/>
              </a:rPr>
              <a:t>Fase 2 (Pós-MVP)</a:t>
            </a:r>
            <a:endParaRPr lang="en-US" sz="1200" dirty="0"/>
          </a:p>
        </p:txBody>
      </p:sp>
      <p:pic>
        <p:nvPicPr>
          <p:cNvPr id="24" name="Image 8" descr="preencoded.png">    </p:cNvPr>
          <p:cNvPicPr>
            <a:picLocks noChangeAspect="1"/>
          </p:cNvPicPr>
          <p:nvPr/>
        </p:nvPicPr>
        <p:blipFill>
          <a:blip r:embed="rId9"/>
          <a:stretch>
            <a:fillRect/>
          </a:stretch>
        </p:blipFill>
        <p:spPr>
          <a:xfrm>
            <a:off x="4929188" y="2089547"/>
            <a:ext cx="100013" cy="114300"/>
          </a:xfrm>
          <a:prstGeom prst="rect">
            <a:avLst/>
          </a:prstGeom>
        </p:spPr>
      </p:pic>
      <p:sp>
        <p:nvSpPr>
          <p:cNvPr id="25" name="Text 13"/>
          <p:cNvSpPr/>
          <p:nvPr/>
        </p:nvSpPr>
        <p:spPr>
          <a:xfrm>
            <a:off x="5114925" y="2060972"/>
            <a:ext cx="2273052"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Acesso local: App, Chatbot e WhatsApp</a:t>
            </a:r>
            <a:endParaRPr lang="en-US" sz="950" dirty="0"/>
          </a:p>
        </p:txBody>
      </p:sp>
      <p:pic>
        <p:nvPicPr>
          <p:cNvPr id="26" name="Image 9" descr="preencoded.png">    </p:cNvPr>
          <p:cNvPicPr>
            <a:picLocks noChangeAspect="1"/>
          </p:cNvPicPr>
          <p:nvPr/>
        </p:nvPicPr>
        <p:blipFill>
          <a:blip r:embed="rId10"/>
          <a:stretch>
            <a:fillRect/>
          </a:stretch>
        </p:blipFill>
        <p:spPr>
          <a:xfrm>
            <a:off x="4929188" y="2355261"/>
            <a:ext cx="100013" cy="114300"/>
          </a:xfrm>
          <a:prstGeom prst="rect">
            <a:avLst/>
          </a:prstGeom>
        </p:spPr>
      </p:pic>
      <p:sp>
        <p:nvSpPr>
          <p:cNvPr id="27" name="Text 14"/>
          <p:cNvSpPr/>
          <p:nvPr/>
        </p:nvSpPr>
        <p:spPr>
          <a:xfrm>
            <a:off x="5114925" y="2326686"/>
            <a:ext cx="2115889"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Chat interno entre partes conectadas</a:t>
            </a:r>
            <a:endParaRPr lang="en-US" sz="950" dirty="0"/>
          </a:p>
        </p:txBody>
      </p:sp>
      <p:pic>
        <p:nvPicPr>
          <p:cNvPr id="28" name="Image 10" descr="preencoded.png">    </p:cNvPr>
          <p:cNvPicPr>
            <a:picLocks noChangeAspect="1"/>
          </p:cNvPicPr>
          <p:nvPr/>
        </p:nvPicPr>
        <p:blipFill>
          <a:blip r:embed="rId11"/>
          <a:stretch>
            <a:fillRect/>
          </a:stretch>
        </p:blipFill>
        <p:spPr>
          <a:xfrm>
            <a:off x="4929188" y="2620975"/>
            <a:ext cx="100013" cy="114300"/>
          </a:xfrm>
          <a:prstGeom prst="rect">
            <a:avLst/>
          </a:prstGeom>
        </p:spPr>
      </p:pic>
      <p:sp>
        <p:nvSpPr>
          <p:cNvPr id="29" name="Text 15"/>
          <p:cNvSpPr/>
          <p:nvPr/>
        </p:nvSpPr>
        <p:spPr>
          <a:xfrm>
            <a:off x="5114925" y="2592400"/>
            <a:ext cx="2594577"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Integração plena com Portal Sharm el-Sheikh</a:t>
            </a:r>
            <a:endParaRPr lang="en-US" sz="950" dirty="0"/>
          </a:p>
        </p:txBody>
      </p:sp>
      <p:pic>
        <p:nvPicPr>
          <p:cNvPr id="30" name="Image 11" descr="preencoded.png">    </p:cNvPr>
          <p:cNvPicPr>
            <a:picLocks noChangeAspect="1"/>
          </p:cNvPicPr>
          <p:nvPr/>
        </p:nvPicPr>
        <p:blipFill>
          <a:blip r:embed="rId12"/>
          <a:stretch>
            <a:fillRect/>
          </a:stretch>
        </p:blipFill>
        <p:spPr>
          <a:xfrm>
            <a:off x="4929188" y="2886689"/>
            <a:ext cx="100013" cy="114300"/>
          </a:xfrm>
          <a:prstGeom prst="rect">
            <a:avLst/>
          </a:prstGeom>
        </p:spPr>
      </p:pic>
      <p:sp>
        <p:nvSpPr>
          <p:cNvPr id="31" name="Text 16"/>
          <p:cNvSpPr/>
          <p:nvPr/>
        </p:nvSpPr>
        <p:spPr>
          <a:xfrm>
            <a:off x="5114925" y="2858114"/>
            <a:ext cx="2101602"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Comparador de soluções lado a lado</a:t>
            </a:r>
            <a:endParaRPr lang="en-US" sz="950" dirty="0"/>
          </a:p>
        </p:txBody>
      </p:sp>
      <p:pic>
        <p:nvPicPr>
          <p:cNvPr id="32" name="Image 12" descr="preencoded.png">    </p:cNvPr>
          <p:cNvPicPr>
            <a:picLocks noChangeAspect="1"/>
          </p:cNvPicPr>
          <p:nvPr/>
        </p:nvPicPr>
        <p:blipFill>
          <a:blip r:embed="rId13"/>
          <a:stretch>
            <a:fillRect/>
          </a:stretch>
        </p:blipFill>
        <p:spPr>
          <a:xfrm>
            <a:off x="4929188" y="3152403"/>
            <a:ext cx="100013" cy="114300"/>
          </a:xfrm>
          <a:prstGeom prst="rect">
            <a:avLst/>
          </a:prstGeom>
        </p:spPr>
      </p:pic>
      <p:sp>
        <p:nvSpPr>
          <p:cNvPr id="33" name="Text 17"/>
          <p:cNvSpPr/>
          <p:nvPr/>
        </p:nvSpPr>
        <p:spPr>
          <a:xfrm>
            <a:off x="5114925" y="3123828"/>
            <a:ext cx="1801341" cy="179989"/>
          </a:xfrm>
          <a:prstGeom prst="rect">
            <a:avLst/>
          </a:prstGeom>
          <a:noFill/>
          <a:ln/>
        </p:spPr>
        <p:txBody>
          <a:bodyPr wrap="none" lIns="0" tIns="0" rIns="0" bIns="0" rtlCol="0" anchor="t">
            <a:spAutoFit/>
          </a:bodyPr>
          <a:lstStyle/>
          <a:p>
            <a:pPr algn="l" indent="0" marL="0">
              <a:lnSpc>
                <a:spcPct val="112000"/>
              </a:lnSpc>
              <a:buNone/>
            </a:pPr>
            <a:r>
              <a:rPr lang="en-US" sz="950" dirty="0">
                <a:solidFill>
                  <a:srgbClr val="4A5568"/>
                </a:solidFill>
                <a:latin typeface="Arial" pitchFamily="34" charset="0"/>
                <a:ea typeface="Arial" pitchFamily="34" charset="-122"/>
                <a:cs typeface="Arial" pitchFamily="34" charset="-120"/>
              </a:rPr>
              <a:t>Idiomas adicionais e API aberta</a:t>
            </a:r>
            <a:endParaRPr lang="en-US" sz="950" dirty="0"/>
          </a:p>
        </p:txBody>
      </p:sp>
      <p:sp>
        <p:nvSpPr>
          <p:cNvPr id="34" name="Shape 18"/>
          <p:cNvSpPr/>
          <p:nvPr/>
        </p:nvSpPr>
        <p:spPr>
          <a:xfrm>
            <a:off x="571500" y="4364831"/>
            <a:ext cx="8001000" cy="571500"/>
          </a:xfrm>
          <a:prstGeom prst="rect">
            <a:avLst/>
          </a:prstGeom>
          <a:solidFill>
            <a:srgbClr val="0B1D51"/>
          </a:solidFill>
          <a:ln/>
        </p:spPr>
      </p:sp>
      <p:sp>
        <p:nvSpPr>
          <p:cNvPr id="35" name="Shape 19"/>
          <p:cNvSpPr/>
          <p:nvPr/>
        </p:nvSpPr>
        <p:spPr>
          <a:xfrm>
            <a:off x="571500" y="4364831"/>
            <a:ext cx="57150" cy="571500"/>
          </a:xfrm>
          <a:prstGeom prst="rect">
            <a:avLst/>
          </a:prstGeom>
          <a:solidFill>
            <a:srgbClr val="F4B942"/>
          </a:solidFill>
          <a:ln/>
        </p:spPr>
      </p:sp>
      <p:sp>
        <p:nvSpPr>
          <p:cNvPr id="36" name="Text 20"/>
          <p:cNvSpPr/>
          <p:nvPr/>
        </p:nvSpPr>
        <p:spPr>
          <a:xfrm>
            <a:off x="785813" y="4561284"/>
            <a:ext cx="7572375" cy="321469"/>
          </a:xfrm>
          <a:prstGeom prst="rect">
            <a:avLst/>
          </a:prstGeom>
          <a:noFill/>
          <a:ln/>
        </p:spPr>
        <p:txBody>
          <a:bodyPr wrap="square" lIns="0" tIns="0" rIns="0" bIns="0" rtlCol="0" anchor="t">
            <a:spAutoFit/>
          </a:bodyPr>
          <a:lstStyle/>
          <a:p>
            <a:pPr algn="l" indent="0" marL="0">
              <a:buNone/>
            </a:pPr>
            <a:r>
              <a:rPr lang="en-US" sz="1000" b="1" dirty="0">
                <a:solidFill>
                  <a:srgbClr val="F4B942"/>
                </a:solidFill>
                <a:latin typeface="Arial" pitchFamily="34" charset="0"/>
                <a:ea typeface="Arial" pitchFamily="34" charset="-122"/>
                <a:cs typeface="Arial" pitchFamily="34" charset="-120"/>
              </a:rPr>
              <a:t>Regra de Foco:</a:t>
            </a:r>
            <a:r>
              <a:rPr lang="en-US" sz="1000" b="1" dirty="0">
                <a:solidFill>
                  <a:srgbClr val="FFFFFF"/>
                </a:solidFill>
                <a:latin typeface="Arial" pitchFamily="34" charset="0"/>
                <a:ea typeface="Arial" pitchFamily="34" charset="-122"/>
                <a:cs typeface="Arial" pitchFamily="34" charset="-120"/>
              </a:rPr>
              <a:t> Manter a jornada demonstrável intacta e postergar itens desejáveis para garantir a entrega em </a:t>
            </a:r>
            <a:r>
              <a:rPr lang="en-US" sz="1000" b="1" dirty="0">
                <a:solidFill>
                  <a:srgbClr val="FFFFFF"/>
                </a:solidFill>
                <a:latin typeface="Arial" pitchFamily="34" charset="0"/>
                <a:ea typeface="Arial" pitchFamily="34" charset="-122"/>
                <a:cs typeface="Arial" pitchFamily="34" charset="-120"/>
              </a:rPr>
              <a:t>15 de outubro.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5725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09 · GOVERNANÇA E SEGURANÇA</a:t>
            </a:r>
            <a:endParaRPr lang="en-US" sz="900" dirty="0"/>
          </a:p>
        </p:txBody>
      </p:sp>
      <p:sp>
        <p:nvSpPr>
          <p:cNvPr id="5" name="Text 1"/>
          <p:cNvSpPr/>
          <p:nvPr/>
        </p:nvSpPr>
        <p:spPr>
          <a:xfrm>
            <a:off x="571500" y="650081"/>
            <a:ext cx="8572500" cy="817178"/>
          </a:xfrm>
          <a:prstGeom prst="rect">
            <a:avLst/>
          </a:prstGeom>
          <a:noFill/>
          <a:ln/>
        </p:spPr>
        <p:txBody>
          <a:bodyPr wrap="square" lIns="0" tIns="0" rIns="0" bIns="0" rtlCol="0" anchor="t">
            <a:spAutoFit/>
          </a:bodyPr>
          <a:lstStyle/>
          <a:p>
            <a:pPr algn="l" indent="0" marL="0">
              <a:lnSpc>
                <a:spcPct val="88000"/>
              </a:lnSpc>
              <a:buNone/>
            </a:pPr>
            <a:r>
              <a:rPr lang="en-US" sz="2650" b="1" spc="-1" kern="0" dirty="0">
                <a:solidFill>
                  <a:srgbClr val="0B1D51"/>
                </a:solidFill>
                <a:latin typeface="Arial" pitchFamily="34" charset="0"/>
                <a:ea typeface="Arial" pitchFamily="34" charset="-122"/>
                <a:cs typeface="Arial" pitchFamily="34" charset="-120"/>
              </a:rPr>
              <a:t>Confiança é parte do produto,</a:t>
            </a:r>
            <a:r>
              <a:rPr lang="en-US" sz="2650" b="1" spc="-1" kern="0" dirty="0">
                <a:solidFill>
                  <a:srgbClr val="0B1D51"/>
                </a:solidFill>
                <a:latin typeface="Arial" pitchFamily="34" charset="0"/>
                <a:ea typeface="Arial" pitchFamily="34" charset="-122"/>
                <a:cs typeface="Arial" pitchFamily="34" charset="-120"/>
              </a:rPr>
              <a:t>
</a:t>
            </a:r>
            <a:r>
              <a:rPr lang="en-US" sz="2650" b="1" spc="-1" kern="0" dirty="0">
                <a:solidFill>
                  <a:srgbClr val="0B1D51"/>
                </a:solidFill>
                <a:latin typeface="Arial" pitchFamily="34" charset="0"/>
                <a:ea typeface="Arial" pitchFamily="34" charset="-122"/>
                <a:cs typeface="Arial" pitchFamily="34" charset="-120"/>
              </a:rPr>
              <a:t>não uma etapa posterior</a:t>
            </a:r>
            <a:endParaRPr lang="en-US" sz="2650" dirty="0"/>
          </a:p>
        </p:txBody>
      </p:sp>
      <p:pic>
        <p:nvPicPr>
          <p:cNvPr id="6" name="Image 1" descr="preencoded.png">    </p:cNvPr>
          <p:cNvPicPr>
            <a:picLocks noChangeAspect="1"/>
          </p:cNvPicPr>
          <p:nvPr/>
        </p:nvPicPr>
        <p:blipFill>
          <a:blip r:embed="rId2"/>
          <a:stretch>
            <a:fillRect/>
          </a:stretch>
        </p:blipFill>
        <p:spPr>
          <a:xfrm>
            <a:off x="1178719" y="1824447"/>
            <a:ext cx="357188" cy="285750"/>
          </a:xfrm>
          <a:prstGeom prst="rect">
            <a:avLst/>
          </a:prstGeom>
        </p:spPr>
      </p:pic>
      <p:sp>
        <p:nvSpPr>
          <p:cNvPr id="7" name="Text 2"/>
          <p:cNvSpPr/>
          <p:nvPr/>
        </p:nvSpPr>
        <p:spPr>
          <a:xfrm>
            <a:off x="571500" y="2217353"/>
            <a:ext cx="1571625" cy="150019"/>
          </a:xfrm>
          <a:prstGeom prst="rect">
            <a:avLst/>
          </a:prstGeom>
          <a:noFill/>
          <a:ln/>
        </p:spPr>
        <p:txBody>
          <a:bodyPr wrap="square" lIns="0" tIns="0" rIns="0" bIns="0" rtlCol="0" anchor="t">
            <a:spAutoFit/>
          </a:bodyPr>
          <a:lstStyle/>
          <a:p>
            <a:pPr algn="ctr" indent="0" marL="0">
              <a:buNone/>
            </a:pPr>
            <a:r>
              <a:rPr lang="en-US" sz="900" b="1" dirty="0">
                <a:solidFill>
                  <a:srgbClr val="0B1D51"/>
                </a:solidFill>
                <a:latin typeface="Arial" pitchFamily="34" charset="0"/>
                <a:ea typeface="Arial" pitchFamily="34" charset="-122"/>
                <a:cs typeface="Arial" pitchFamily="34" charset="-120"/>
              </a:rPr>
              <a:t>CADASTRO</a:t>
            </a:r>
            <a:endParaRPr lang="en-US" sz="900" dirty="0"/>
          </a:p>
        </p:txBody>
      </p:sp>
      <p:pic>
        <p:nvPicPr>
          <p:cNvPr id="8" name="Image 2" descr="preencoded.png">    </p:cNvPr>
          <p:cNvPicPr>
            <a:picLocks noChangeAspect="1"/>
          </p:cNvPicPr>
          <p:nvPr/>
        </p:nvPicPr>
        <p:blipFill>
          <a:blip r:embed="rId3"/>
          <a:stretch>
            <a:fillRect/>
          </a:stretch>
        </p:blipFill>
        <p:spPr>
          <a:xfrm>
            <a:off x="2375297" y="2010184"/>
            <a:ext cx="107156" cy="171450"/>
          </a:xfrm>
          <a:prstGeom prst="rect">
            <a:avLst/>
          </a:prstGeom>
        </p:spPr>
      </p:pic>
      <p:pic>
        <p:nvPicPr>
          <p:cNvPr id="9" name="Image 3" descr="preencoded.png">    </p:cNvPr>
          <p:cNvPicPr>
            <a:picLocks noChangeAspect="1"/>
          </p:cNvPicPr>
          <p:nvPr/>
        </p:nvPicPr>
        <p:blipFill>
          <a:blip r:embed="rId4"/>
          <a:stretch>
            <a:fillRect/>
          </a:stretch>
        </p:blipFill>
        <p:spPr>
          <a:xfrm>
            <a:off x="3321844" y="1824447"/>
            <a:ext cx="357188" cy="285750"/>
          </a:xfrm>
          <a:prstGeom prst="rect">
            <a:avLst/>
          </a:prstGeom>
        </p:spPr>
      </p:pic>
      <p:sp>
        <p:nvSpPr>
          <p:cNvPr id="10" name="Text 3"/>
          <p:cNvSpPr/>
          <p:nvPr/>
        </p:nvSpPr>
        <p:spPr>
          <a:xfrm>
            <a:off x="2714625" y="2217353"/>
            <a:ext cx="1571625" cy="150019"/>
          </a:xfrm>
          <a:prstGeom prst="rect">
            <a:avLst/>
          </a:prstGeom>
          <a:noFill/>
          <a:ln/>
        </p:spPr>
        <p:txBody>
          <a:bodyPr wrap="square" lIns="0" tIns="0" rIns="0" bIns="0" rtlCol="0" anchor="t">
            <a:spAutoFit/>
          </a:bodyPr>
          <a:lstStyle/>
          <a:p>
            <a:pPr algn="ctr" indent="0" marL="0">
              <a:buNone/>
            </a:pPr>
            <a:r>
              <a:rPr lang="en-US" sz="900" b="1" dirty="0">
                <a:solidFill>
                  <a:srgbClr val="0B1D51"/>
                </a:solidFill>
                <a:latin typeface="Arial" pitchFamily="34" charset="0"/>
                <a:ea typeface="Arial" pitchFamily="34" charset="-122"/>
                <a:cs typeface="Arial" pitchFamily="34" charset="-120"/>
              </a:rPr>
              <a:t>VÍNCULO ORG.</a:t>
            </a:r>
            <a:endParaRPr lang="en-US" sz="900" dirty="0"/>
          </a:p>
        </p:txBody>
      </p:sp>
      <p:pic>
        <p:nvPicPr>
          <p:cNvPr id="11" name="Image 4" descr="preencoded.png">    </p:cNvPr>
          <p:cNvPicPr>
            <a:picLocks noChangeAspect="1"/>
          </p:cNvPicPr>
          <p:nvPr/>
        </p:nvPicPr>
        <p:blipFill>
          <a:blip r:embed="rId5"/>
          <a:stretch>
            <a:fillRect/>
          </a:stretch>
        </p:blipFill>
        <p:spPr>
          <a:xfrm>
            <a:off x="4518422" y="2010184"/>
            <a:ext cx="107156" cy="171450"/>
          </a:xfrm>
          <a:prstGeom prst="rect">
            <a:avLst/>
          </a:prstGeom>
        </p:spPr>
      </p:pic>
      <p:pic>
        <p:nvPicPr>
          <p:cNvPr id="12" name="Image 5" descr="preencoded.png">    </p:cNvPr>
          <p:cNvPicPr>
            <a:picLocks noChangeAspect="1"/>
          </p:cNvPicPr>
          <p:nvPr/>
        </p:nvPicPr>
        <p:blipFill>
          <a:blip r:embed="rId6"/>
          <a:stretch>
            <a:fillRect/>
          </a:stretch>
        </p:blipFill>
        <p:spPr>
          <a:xfrm>
            <a:off x="5464969" y="1824447"/>
            <a:ext cx="357188" cy="285750"/>
          </a:xfrm>
          <a:prstGeom prst="rect">
            <a:avLst/>
          </a:prstGeom>
        </p:spPr>
      </p:pic>
      <p:sp>
        <p:nvSpPr>
          <p:cNvPr id="13" name="Text 4"/>
          <p:cNvSpPr/>
          <p:nvPr/>
        </p:nvSpPr>
        <p:spPr>
          <a:xfrm>
            <a:off x="4857750" y="2217353"/>
            <a:ext cx="1571625" cy="150019"/>
          </a:xfrm>
          <a:prstGeom prst="rect">
            <a:avLst/>
          </a:prstGeom>
          <a:noFill/>
          <a:ln/>
        </p:spPr>
        <p:txBody>
          <a:bodyPr wrap="square" lIns="0" tIns="0" rIns="0" bIns="0" rtlCol="0" anchor="t">
            <a:spAutoFit/>
          </a:bodyPr>
          <a:lstStyle/>
          <a:p>
            <a:pPr algn="ctr" indent="0" marL="0">
              <a:buNone/>
            </a:pPr>
            <a:r>
              <a:rPr lang="en-US" sz="900" b="1" dirty="0">
                <a:solidFill>
                  <a:srgbClr val="0B1D51"/>
                </a:solidFill>
                <a:latin typeface="Arial" pitchFamily="34" charset="0"/>
                <a:ea typeface="Arial" pitchFamily="34" charset="-122"/>
                <a:cs typeface="Arial" pitchFamily="34" charset="-120"/>
              </a:rPr>
              <a:t>VERIFICAÇÃO</a:t>
            </a:r>
            <a:endParaRPr lang="en-US" sz="900" dirty="0"/>
          </a:p>
        </p:txBody>
      </p:sp>
      <p:pic>
        <p:nvPicPr>
          <p:cNvPr id="14" name="Image 6" descr="preencoded.png">    </p:cNvPr>
          <p:cNvPicPr>
            <a:picLocks noChangeAspect="1"/>
          </p:cNvPicPr>
          <p:nvPr/>
        </p:nvPicPr>
        <p:blipFill>
          <a:blip r:embed="rId7"/>
          <a:stretch>
            <a:fillRect/>
          </a:stretch>
        </p:blipFill>
        <p:spPr>
          <a:xfrm>
            <a:off x="6661547" y="2010184"/>
            <a:ext cx="107156" cy="171450"/>
          </a:xfrm>
          <a:prstGeom prst="rect">
            <a:avLst/>
          </a:prstGeom>
        </p:spPr>
      </p:pic>
      <p:pic>
        <p:nvPicPr>
          <p:cNvPr id="15" name="Image 7" descr="preencoded.png">    </p:cNvPr>
          <p:cNvPicPr>
            <a:picLocks noChangeAspect="1"/>
          </p:cNvPicPr>
          <p:nvPr/>
        </p:nvPicPr>
        <p:blipFill>
          <a:blip r:embed="rId8"/>
          <a:stretch>
            <a:fillRect/>
          </a:stretch>
        </p:blipFill>
        <p:spPr>
          <a:xfrm>
            <a:off x="7608094" y="1824447"/>
            <a:ext cx="357188" cy="285750"/>
          </a:xfrm>
          <a:prstGeom prst="rect">
            <a:avLst/>
          </a:prstGeom>
        </p:spPr>
      </p:pic>
      <p:sp>
        <p:nvSpPr>
          <p:cNvPr id="16" name="Text 5"/>
          <p:cNvSpPr/>
          <p:nvPr/>
        </p:nvSpPr>
        <p:spPr>
          <a:xfrm>
            <a:off x="7000875" y="2217353"/>
            <a:ext cx="1571625" cy="150019"/>
          </a:xfrm>
          <a:prstGeom prst="rect">
            <a:avLst/>
          </a:prstGeom>
          <a:noFill/>
          <a:ln/>
        </p:spPr>
        <p:txBody>
          <a:bodyPr wrap="square" lIns="0" tIns="0" rIns="0" bIns="0" rtlCol="0" anchor="t">
            <a:spAutoFit/>
          </a:bodyPr>
          <a:lstStyle/>
          <a:p>
            <a:pPr algn="ctr" indent="0" marL="0">
              <a:buNone/>
            </a:pPr>
            <a:r>
              <a:rPr lang="en-US" sz="900" b="1" dirty="0">
                <a:solidFill>
                  <a:srgbClr val="0B1D51"/>
                </a:solidFill>
                <a:latin typeface="Arial" pitchFamily="34" charset="0"/>
                <a:ea typeface="Arial" pitchFamily="34" charset="-122"/>
                <a:cs typeface="Arial" pitchFamily="34" charset="-120"/>
              </a:rPr>
              <a:t>PUBLICAÇÃO</a:t>
            </a:r>
            <a:endParaRPr lang="en-US" sz="900" dirty="0"/>
          </a:p>
        </p:txBody>
      </p:sp>
      <p:sp>
        <p:nvSpPr>
          <p:cNvPr id="17" name="Text 6"/>
          <p:cNvSpPr/>
          <p:nvPr/>
        </p:nvSpPr>
        <p:spPr>
          <a:xfrm>
            <a:off x="571500" y="2967447"/>
            <a:ext cx="3506912"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ESTADOS DE CONTEÚDO</a:t>
            </a:r>
            <a:endParaRPr lang="en-US" sz="1100" dirty="0"/>
          </a:p>
        </p:txBody>
      </p:sp>
      <p:sp>
        <p:nvSpPr>
          <p:cNvPr id="18" name="Shape 7"/>
          <p:cNvSpPr/>
          <p:nvPr/>
        </p:nvSpPr>
        <p:spPr>
          <a:xfrm>
            <a:off x="571500" y="3288916"/>
            <a:ext cx="785813" cy="171450"/>
          </a:xfrm>
          <a:prstGeom prst="rect">
            <a:avLst/>
          </a:prstGeom>
          <a:solidFill>
            <a:srgbClr val="E2E8F0"/>
          </a:solidFill>
          <a:ln/>
        </p:spPr>
      </p:sp>
      <p:sp>
        <p:nvSpPr>
          <p:cNvPr id="19" name="Text 8"/>
          <p:cNvSpPr/>
          <p:nvPr/>
        </p:nvSpPr>
        <p:spPr>
          <a:xfrm>
            <a:off x="571500" y="3288916"/>
            <a:ext cx="785813" cy="171450"/>
          </a:xfrm>
          <a:prstGeom prst="rect">
            <a:avLst/>
          </a:prstGeom>
          <a:noFill/>
          <a:ln/>
        </p:spPr>
        <p:txBody>
          <a:bodyPr wrap="none" lIns="102108" tIns="34036" rIns="102108" bIns="34036" rtlCol="0" anchor="t">
            <a:spAutoFit/>
          </a:bodyPr>
          <a:lstStyle/>
          <a:p>
            <a:pPr algn="ctr" indent="0" marL="0">
              <a:buNone/>
            </a:pPr>
            <a:r>
              <a:rPr lang="en-US" sz="700" b="1" dirty="0">
                <a:solidFill>
                  <a:srgbClr val="4A5568"/>
                </a:solidFill>
                <a:latin typeface="Arial" pitchFamily="34" charset="0"/>
                <a:ea typeface="Arial" pitchFamily="34" charset="-122"/>
                <a:cs typeface="Arial" pitchFamily="34" charset="-120"/>
              </a:rPr>
              <a:t>RASCUNHO</a:t>
            </a:r>
            <a:endParaRPr lang="en-US" sz="700" dirty="0"/>
          </a:p>
        </p:txBody>
      </p:sp>
      <p:sp>
        <p:nvSpPr>
          <p:cNvPr id="20" name="Text 9"/>
          <p:cNvSpPr/>
          <p:nvPr/>
        </p:nvSpPr>
        <p:spPr>
          <a:xfrm>
            <a:off x="1464469" y="3299631"/>
            <a:ext cx="1880034"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Em elaboração pela organização</a:t>
            </a:r>
            <a:endParaRPr lang="en-US" sz="950" dirty="0"/>
          </a:p>
        </p:txBody>
      </p:sp>
      <p:sp>
        <p:nvSpPr>
          <p:cNvPr id="21" name="Shape 10"/>
          <p:cNvSpPr/>
          <p:nvPr/>
        </p:nvSpPr>
        <p:spPr>
          <a:xfrm>
            <a:off x="571500" y="3546091"/>
            <a:ext cx="799430" cy="171450"/>
          </a:xfrm>
          <a:prstGeom prst="rect">
            <a:avLst/>
          </a:prstGeom>
          <a:solidFill>
            <a:srgbClr val="F4B942"/>
          </a:solidFill>
          <a:ln/>
        </p:spPr>
      </p:sp>
      <p:sp>
        <p:nvSpPr>
          <p:cNvPr id="22" name="Text 11"/>
          <p:cNvSpPr/>
          <p:nvPr/>
        </p:nvSpPr>
        <p:spPr>
          <a:xfrm>
            <a:off x="571500" y="3546091"/>
            <a:ext cx="799430" cy="171450"/>
          </a:xfrm>
          <a:prstGeom prst="rect">
            <a:avLst/>
          </a:prstGeom>
          <a:noFill/>
          <a:ln/>
        </p:spPr>
        <p:txBody>
          <a:bodyPr wrap="none" lIns="102108" tIns="34036" rIns="102108" bIns="34036" rtlCol="0" anchor="t">
            <a:spAutoFit/>
          </a:bodyPr>
          <a:lstStyle/>
          <a:p>
            <a:pPr algn="ctr" indent="0" marL="0">
              <a:buNone/>
            </a:pPr>
            <a:r>
              <a:rPr lang="en-US" sz="700" b="1" dirty="0">
                <a:solidFill>
                  <a:srgbClr val="0B1D51"/>
                </a:solidFill>
                <a:latin typeface="Arial" pitchFamily="34" charset="0"/>
                <a:ea typeface="Arial" pitchFamily="34" charset="-122"/>
                <a:cs typeface="Arial" pitchFamily="34" charset="-120"/>
              </a:rPr>
              <a:t>EM REVISÃO</a:t>
            </a:r>
            <a:endParaRPr lang="en-US" sz="700" dirty="0"/>
          </a:p>
        </p:txBody>
      </p:sp>
      <p:sp>
        <p:nvSpPr>
          <p:cNvPr id="23" name="Text 12"/>
          <p:cNvSpPr/>
          <p:nvPr/>
        </p:nvSpPr>
        <p:spPr>
          <a:xfrm>
            <a:off x="1478087" y="3556806"/>
            <a:ext cx="1794421"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Aguardando análise do curador</a:t>
            </a:r>
            <a:endParaRPr lang="en-US" sz="950" dirty="0"/>
          </a:p>
        </p:txBody>
      </p:sp>
      <p:sp>
        <p:nvSpPr>
          <p:cNvPr id="24" name="Shape 13"/>
          <p:cNvSpPr/>
          <p:nvPr/>
        </p:nvSpPr>
        <p:spPr>
          <a:xfrm>
            <a:off x="571500" y="3803266"/>
            <a:ext cx="785813" cy="171450"/>
          </a:xfrm>
          <a:prstGeom prst="rect">
            <a:avLst/>
          </a:prstGeom>
          <a:solidFill>
            <a:srgbClr val="167D7F"/>
          </a:solidFill>
          <a:ln/>
        </p:spPr>
      </p:sp>
      <p:sp>
        <p:nvSpPr>
          <p:cNvPr id="25" name="Text 14"/>
          <p:cNvSpPr/>
          <p:nvPr/>
        </p:nvSpPr>
        <p:spPr>
          <a:xfrm>
            <a:off x="571500" y="3803266"/>
            <a:ext cx="785813" cy="171450"/>
          </a:xfrm>
          <a:prstGeom prst="rect">
            <a:avLst/>
          </a:prstGeom>
          <a:noFill/>
          <a:ln/>
        </p:spPr>
        <p:txBody>
          <a:bodyPr wrap="none" lIns="102108" tIns="34036" rIns="102108" bIns="34036" rtlCol="0" anchor="t">
            <a:spAutoFit/>
          </a:bodyPr>
          <a:lstStyle/>
          <a:p>
            <a:pPr algn="ctr" indent="0" marL="0">
              <a:buNone/>
            </a:pPr>
            <a:r>
              <a:rPr lang="en-US" sz="700" b="1" dirty="0">
                <a:solidFill>
                  <a:srgbClr val="FFFFFF"/>
                </a:solidFill>
                <a:latin typeface="Arial" pitchFamily="34" charset="0"/>
                <a:ea typeface="Arial" pitchFamily="34" charset="-122"/>
                <a:cs typeface="Arial" pitchFamily="34" charset="-120"/>
              </a:rPr>
              <a:t>PUBLICADO</a:t>
            </a:r>
            <a:endParaRPr lang="en-US" sz="700" dirty="0"/>
          </a:p>
        </p:txBody>
      </p:sp>
      <p:sp>
        <p:nvSpPr>
          <p:cNvPr id="26" name="Text 15"/>
          <p:cNvSpPr/>
          <p:nvPr/>
        </p:nvSpPr>
        <p:spPr>
          <a:xfrm>
            <a:off x="1464469" y="3813981"/>
            <a:ext cx="1291512" cy="150019"/>
          </a:xfrm>
          <a:prstGeom prst="rect">
            <a:avLst/>
          </a:prstGeom>
          <a:noFill/>
          <a:ln/>
        </p:spPr>
        <p:txBody>
          <a:bodyPr wrap="square" lIns="0" tIns="0" rIns="0" bIns="0" rtlCol="0" anchor="t">
            <a:spAutoFit/>
          </a:bodyPr>
          <a:lstStyle/>
          <a:p>
            <a:pPr algn="l" indent="0" marL="0">
              <a:buNone/>
            </a:pPr>
            <a:r>
              <a:rPr lang="en-US" sz="950" dirty="0">
                <a:solidFill>
                  <a:srgbClr val="4A5568"/>
                </a:solidFill>
                <a:latin typeface="Arial" pitchFamily="34" charset="0"/>
                <a:ea typeface="Arial" pitchFamily="34" charset="-122"/>
                <a:cs typeface="Arial" pitchFamily="34" charset="-120"/>
              </a:rPr>
              <a:t>Visível no portal global</a:t>
            </a:r>
            <a:endParaRPr lang="en-US" sz="950" dirty="0"/>
          </a:p>
        </p:txBody>
      </p:sp>
      <p:sp>
        <p:nvSpPr>
          <p:cNvPr id="27" name="Text 16"/>
          <p:cNvSpPr/>
          <p:nvPr/>
        </p:nvSpPr>
        <p:spPr>
          <a:xfrm>
            <a:off x="4364162" y="2967447"/>
            <a:ext cx="4208338" cy="178594"/>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PAPÉIS E PERMISSÕES</a:t>
            </a:r>
            <a:endParaRPr lang="en-US" sz="1100" dirty="0"/>
          </a:p>
        </p:txBody>
      </p:sp>
      <p:sp>
        <p:nvSpPr>
          <p:cNvPr id="28" name="Text 17"/>
          <p:cNvSpPr/>
          <p:nvPr/>
        </p:nvSpPr>
        <p:spPr>
          <a:xfrm>
            <a:off x="4364162" y="3288916"/>
            <a:ext cx="1071563" cy="314325"/>
          </a:xfrm>
          <a:prstGeom prst="rect">
            <a:avLst/>
          </a:prstGeom>
          <a:noFill/>
          <a:ln/>
        </p:spPr>
        <p:txBody>
          <a:bodyPr wrap="none" lIns="0" tIns="102108" rIns="0" bIns="102108" rtlCol="0" anchor="ctr">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Administrador</a:t>
            </a:r>
            <a:endParaRPr lang="en-US" sz="850" dirty="0"/>
          </a:p>
        </p:txBody>
      </p:sp>
      <p:sp>
        <p:nvSpPr>
          <p:cNvPr id="29" name="Text 18"/>
          <p:cNvSpPr/>
          <p:nvPr/>
        </p:nvSpPr>
        <p:spPr>
          <a:xfrm>
            <a:off x="5435724" y="3288916"/>
            <a:ext cx="3136776" cy="314325"/>
          </a:xfrm>
          <a:prstGeom prst="rect">
            <a:avLst/>
          </a:prstGeom>
          <a:noFill/>
          <a:ln/>
        </p:spPr>
        <p:txBody>
          <a:bodyPr wrap="square" lIns="0" tIns="102108" rIns="0" bIns="102108"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Gestão completa, indicadores e governança.</a:t>
            </a:r>
            <a:endParaRPr lang="en-US" sz="900" dirty="0"/>
          </a:p>
        </p:txBody>
      </p:sp>
      <p:sp>
        <p:nvSpPr>
          <p:cNvPr id="30" name="Text 19"/>
          <p:cNvSpPr/>
          <p:nvPr/>
        </p:nvSpPr>
        <p:spPr>
          <a:xfrm>
            <a:off x="4364162" y="3603241"/>
            <a:ext cx="1071563" cy="317897"/>
          </a:xfrm>
          <a:prstGeom prst="rect">
            <a:avLst/>
          </a:prstGeom>
          <a:noFill/>
          <a:ln/>
        </p:spPr>
        <p:txBody>
          <a:bodyPr wrap="none" lIns="0" tIns="102108" rIns="0" bIns="102108" rtlCol="0" anchor="ctr">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Curador</a:t>
            </a:r>
            <a:endParaRPr lang="en-US" sz="850" dirty="0"/>
          </a:p>
        </p:txBody>
      </p:sp>
      <p:sp>
        <p:nvSpPr>
          <p:cNvPr id="31" name="Text 20"/>
          <p:cNvSpPr/>
          <p:nvPr/>
        </p:nvSpPr>
        <p:spPr>
          <a:xfrm>
            <a:off x="5435724" y="3603241"/>
            <a:ext cx="3136776" cy="317897"/>
          </a:xfrm>
          <a:prstGeom prst="rect">
            <a:avLst/>
          </a:prstGeom>
          <a:noFill/>
          <a:ln/>
        </p:spPr>
        <p:txBody>
          <a:bodyPr wrap="square" lIns="0" tIns="102108" rIns="0" bIns="102108"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Aprovação de tecnologias e desafios.</a:t>
            </a:r>
            <a:endParaRPr lang="en-US" sz="900" dirty="0"/>
          </a:p>
        </p:txBody>
      </p:sp>
      <p:sp>
        <p:nvSpPr>
          <p:cNvPr id="32" name="Text 21"/>
          <p:cNvSpPr/>
          <p:nvPr/>
        </p:nvSpPr>
        <p:spPr>
          <a:xfrm>
            <a:off x="4364162" y="3921137"/>
            <a:ext cx="1071563" cy="317897"/>
          </a:xfrm>
          <a:prstGeom prst="rect">
            <a:avLst/>
          </a:prstGeom>
          <a:noFill/>
          <a:ln/>
        </p:spPr>
        <p:txBody>
          <a:bodyPr wrap="none" lIns="0" tIns="102108" rIns="0" bIns="102108" rtlCol="0" anchor="ctr">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Gestor Org.</a:t>
            </a:r>
            <a:endParaRPr lang="en-US" sz="850" dirty="0"/>
          </a:p>
        </p:txBody>
      </p:sp>
      <p:sp>
        <p:nvSpPr>
          <p:cNvPr id="33" name="Text 22"/>
          <p:cNvSpPr/>
          <p:nvPr/>
        </p:nvSpPr>
        <p:spPr>
          <a:xfrm>
            <a:off x="5435724" y="3921137"/>
            <a:ext cx="3136776" cy="317897"/>
          </a:xfrm>
          <a:prstGeom prst="rect">
            <a:avLst/>
          </a:prstGeom>
          <a:noFill/>
          <a:ln/>
        </p:spPr>
        <p:txBody>
          <a:bodyPr wrap="square" lIns="0" tIns="102108" rIns="0" bIns="102108" rtlCol="0" anchor="ctr">
            <a:spAutoFit/>
          </a:bodyPr>
          <a:lstStyle/>
          <a:p>
            <a:pPr algn="l" indent="0" marL="0">
              <a:buNone/>
            </a:pPr>
            <a:r>
              <a:rPr lang="en-US" sz="900" dirty="0">
                <a:solidFill>
                  <a:srgbClr val="4A5568"/>
                </a:solidFill>
                <a:latin typeface="Arial" pitchFamily="34" charset="0"/>
                <a:ea typeface="Arial" pitchFamily="34" charset="-122"/>
                <a:cs typeface="Arial" pitchFamily="34" charset="-120"/>
              </a:rPr>
              <a:t>Gerencia perfil, membros e soluções.</a:t>
            </a:r>
            <a:endParaRPr lang="en-US" sz="900" dirty="0"/>
          </a:p>
        </p:txBody>
      </p:sp>
      <p:sp>
        <p:nvSpPr>
          <p:cNvPr id="34" name="Shape 23"/>
          <p:cNvSpPr/>
          <p:nvPr/>
        </p:nvSpPr>
        <p:spPr>
          <a:xfrm>
            <a:off x="6222206" y="4493419"/>
            <a:ext cx="2350294" cy="364331"/>
          </a:xfrm>
          <a:prstGeom prst="rect">
            <a:avLst/>
          </a:prstGeom>
          <a:solidFill>
            <a:srgbClr val="F4B942"/>
          </a:solidFill>
          <a:ln/>
        </p:spPr>
      </p:sp>
      <p:pic>
        <p:nvPicPr>
          <p:cNvPr id="35" name="Image 8" descr="preencoded.png">    </p:cNvPr>
          <p:cNvPicPr>
            <a:picLocks noChangeAspect="1"/>
          </p:cNvPicPr>
          <p:nvPr/>
        </p:nvPicPr>
        <p:blipFill>
          <a:blip r:embed="rId9"/>
          <a:stretch>
            <a:fillRect/>
          </a:stretch>
        </p:blipFill>
        <p:spPr>
          <a:xfrm>
            <a:off x="6400800" y="4611291"/>
            <a:ext cx="128588" cy="128588"/>
          </a:xfrm>
          <a:prstGeom prst="rect">
            <a:avLst/>
          </a:prstGeom>
        </p:spPr>
      </p:pic>
      <p:sp>
        <p:nvSpPr>
          <p:cNvPr id="36" name="Text 24"/>
          <p:cNvSpPr/>
          <p:nvPr/>
        </p:nvSpPr>
        <p:spPr>
          <a:xfrm>
            <a:off x="6600825" y="4600575"/>
            <a:ext cx="1793081"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ORGANIZAÇÃO VERIFICADA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10 · SUCESSO E IMPACTO</a:t>
            </a:r>
            <a:endParaRPr lang="en-US" sz="900" dirty="0"/>
          </a:p>
        </p:txBody>
      </p:sp>
      <p:sp>
        <p:nvSpPr>
          <p:cNvPr id="5" name="Text 1"/>
          <p:cNvSpPr/>
          <p:nvPr/>
        </p:nvSpPr>
        <p:spPr>
          <a:xfrm>
            <a:off x="571500" y="650081"/>
            <a:ext cx="8001000" cy="817178"/>
          </a:xfrm>
          <a:prstGeom prst="rect">
            <a:avLst/>
          </a:prstGeom>
          <a:noFill/>
          <a:ln/>
        </p:spPr>
        <p:txBody>
          <a:bodyPr wrap="square" lIns="0" tIns="0" rIns="0" bIns="0" rtlCol="0" anchor="t">
            <a:spAutoFit/>
          </a:bodyPr>
          <a:lstStyle/>
          <a:p>
            <a:pPr algn="l" indent="0" marL="0">
              <a:lnSpc>
                <a:spcPct val="88000"/>
              </a:lnSpc>
              <a:buNone/>
            </a:pPr>
            <a:r>
              <a:rPr lang="en-US" sz="2650" b="1" spc="-1" kern="0" dirty="0">
                <a:solidFill>
                  <a:srgbClr val="0B1D51"/>
                </a:solidFill>
                <a:latin typeface="Arial" pitchFamily="34" charset="0"/>
                <a:ea typeface="Arial" pitchFamily="34" charset="-122"/>
                <a:cs typeface="Arial" pitchFamily="34" charset="-120"/>
              </a:rPr>
              <a:t>O sucesso será medido por</a:t>
            </a:r>
            <a:r>
              <a:rPr lang="en-US" sz="2650" b="1" spc="-1" kern="0" dirty="0">
                <a:solidFill>
                  <a:srgbClr val="0B1D51"/>
                </a:solidFill>
                <a:latin typeface="Arial" pitchFamily="34" charset="0"/>
                <a:ea typeface="Arial" pitchFamily="34" charset="-122"/>
                <a:cs typeface="Arial" pitchFamily="34" charset="-120"/>
              </a:rPr>
              <a:t>
</a:t>
            </a:r>
            <a:r>
              <a:rPr lang="en-US" sz="2650" b="1" spc="-1" kern="0" dirty="0">
                <a:solidFill>
                  <a:srgbClr val="0B1D51"/>
                </a:solidFill>
                <a:latin typeface="Arial" pitchFamily="34" charset="0"/>
                <a:ea typeface="Arial" pitchFamily="34" charset="-122"/>
                <a:cs typeface="Arial" pitchFamily="34" charset="-120"/>
              </a:rPr>
              <a:t>conexões que avançam</a:t>
            </a:r>
            <a:endParaRPr lang="en-US" sz="2650" dirty="0"/>
          </a:p>
        </p:txBody>
      </p:sp>
      <p:sp>
        <p:nvSpPr>
          <p:cNvPr id="6" name="Shape 2"/>
          <p:cNvSpPr/>
          <p:nvPr/>
        </p:nvSpPr>
        <p:spPr>
          <a:xfrm>
            <a:off x="571500" y="1681572"/>
            <a:ext cx="2571750" cy="2286000"/>
          </a:xfrm>
          <a:prstGeom prst="rect">
            <a:avLst/>
          </a:prstGeom>
          <a:solidFill>
            <a:srgbClr val="F7FAFC"/>
          </a:solidFill>
          <a:ln/>
        </p:spPr>
      </p:sp>
      <p:sp>
        <p:nvSpPr>
          <p:cNvPr id="7" name="Shape 3"/>
          <p:cNvSpPr/>
          <p:nvPr/>
        </p:nvSpPr>
        <p:spPr>
          <a:xfrm>
            <a:off x="571500" y="1681572"/>
            <a:ext cx="2571750" cy="57150"/>
          </a:xfrm>
          <a:prstGeom prst="rect">
            <a:avLst/>
          </a:prstGeom>
          <a:solidFill>
            <a:srgbClr val="0B1D51"/>
          </a:solidFill>
          <a:ln/>
        </p:spPr>
      </p:sp>
      <p:sp>
        <p:nvSpPr>
          <p:cNvPr id="8" name="Text 4"/>
          <p:cNvSpPr/>
          <p:nvPr/>
        </p:nvSpPr>
        <p:spPr>
          <a:xfrm>
            <a:off x="714375" y="1824447"/>
            <a:ext cx="2286000" cy="250031"/>
          </a:xfrm>
          <a:prstGeom prst="rect">
            <a:avLst/>
          </a:prstGeom>
          <a:noFill/>
          <a:ln/>
        </p:spPr>
        <p:txBody>
          <a:bodyPr wrap="square" lIns="0" tIns="0" rIns="0" bIns="68072"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ADOÇÃO E ATIVIDADE</a:t>
            </a:r>
            <a:endParaRPr lang="en-US" sz="1100" dirty="0"/>
          </a:p>
        </p:txBody>
      </p:sp>
      <p:pic>
        <p:nvPicPr>
          <p:cNvPr id="9" name="Image 1" descr="preencoded.png">    </p:cNvPr>
          <p:cNvPicPr>
            <a:picLocks noChangeAspect="1"/>
          </p:cNvPicPr>
          <p:nvPr/>
        </p:nvPicPr>
        <p:blipFill>
          <a:blip r:embed="rId2"/>
          <a:stretch>
            <a:fillRect/>
          </a:stretch>
        </p:blipFill>
        <p:spPr>
          <a:xfrm>
            <a:off x="714375" y="2203066"/>
            <a:ext cx="214313" cy="142875"/>
          </a:xfrm>
          <a:prstGeom prst="rect">
            <a:avLst/>
          </a:prstGeom>
        </p:spPr>
      </p:pic>
      <p:sp>
        <p:nvSpPr>
          <p:cNvPr id="10" name="Text 5"/>
          <p:cNvSpPr/>
          <p:nvPr/>
        </p:nvSpPr>
        <p:spPr>
          <a:xfrm>
            <a:off x="928688" y="2181634"/>
            <a:ext cx="1697589"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Usuários e Organizações</a:t>
            </a:r>
            <a:endParaRPr lang="en-US" sz="900" dirty="0"/>
          </a:p>
        </p:txBody>
      </p:sp>
      <p:sp>
        <p:nvSpPr>
          <p:cNvPr id="11" name="Text 6"/>
          <p:cNvSpPr/>
          <p:nvPr/>
        </p:nvSpPr>
        <p:spPr>
          <a:xfrm>
            <a:off x="928688" y="2356656"/>
            <a:ext cx="1697589"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Base institucional verificada e ativa.</a:t>
            </a:r>
            <a:endParaRPr lang="en-US" sz="800" dirty="0"/>
          </a:p>
        </p:txBody>
      </p:sp>
      <p:pic>
        <p:nvPicPr>
          <p:cNvPr id="12" name="Image 2" descr="preencoded.png">    </p:cNvPr>
          <p:cNvPicPr>
            <a:picLocks noChangeAspect="1"/>
          </p:cNvPicPr>
          <p:nvPr/>
        </p:nvPicPr>
        <p:blipFill>
          <a:blip r:embed="rId3"/>
          <a:stretch>
            <a:fillRect/>
          </a:stretch>
        </p:blipFill>
        <p:spPr>
          <a:xfrm>
            <a:off x="714375" y="2592400"/>
            <a:ext cx="214313" cy="142875"/>
          </a:xfrm>
          <a:prstGeom prst="rect">
            <a:avLst/>
          </a:prstGeom>
        </p:spPr>
      </p:pic>
      <p:sp>
        <p:nvSpPr>
          <p:cNvPr id="13" name="Text 7"/>
          <p:cNvSpPr/>
          <p:nvPr/>
        </p:nvSpPr>
        <p:spPr>
          <a:xfrm>
            <a:off x="928688" y="2570969"/>
            <a:ext cx="1769139"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Ofertas e Demandas</a:t>
            </a:r>
            <a:endParaRPr lang="en-US" sz="900" dirty="0"/>
          </a:p>
        </p:txBody>
      </p:sp>
      <p:sp>
        <p:nvSpPr>
          <p:cNvPr id="14" name="Text 8"/>
          <p:cNvSpPr/>
          <p:nvPr/>
        </p:nvSpPr>
        <p:spPr>
          <a:xfrm>
            <a:off x="928688" y="2745991"/>
            <a:ext cx="1769139"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Volume de soluções e desafios reais.</a:t>
            </a:r>
            <a:endParaRPr lang="en-US" sz="800" dirty="0"/>
          </a:p>
        </p:txBody>
      </p:sp>
      <p:pic>
        <p:nvPicPr>
          <p:cNvPr id="15" name="Image 3" descr="preencoded.png">    </p:cNvPr>
          <p:cNvPicPr>
            <a:picLocks noChangeAspect="1"/>
          </p:cNvPicPr>
          <p:nvPr/>
        </p:nvPicPr>
        <p:blipFill>
          <a:blip r:embed="rId4"/>
          <a:stretch>
            <a:fillRect/>
          </a:stretch>
        </p:blipFill>
        <p:spPr>
          <a:xfrm>
            <a:off x="714375" y="2981734"/>
            <a:ext cx="214313" cy="142875"/>
          </a:xfrm>
          <a:prstGeom prst="rect">
            <a:avLst/>
          </a:prstGeom>
        </p:spPr>
      </p:pic>
      <p:sp>
        <p:nvSpPr>
          <p:cNvPr id="16" name="Text 9"/>
          <p:cNvSpPr/>
          <p:nvPr/>
        </p:nvSpPr>
        <p:spPr>
          <a:xfrm>
            <a:off x="928688" y="2960303"/>
            <a:ext cx="1834716"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Buscas Realizadas</a:t>
            </a:r>
            <a:endParaRPr lang="en-US" sz="900" dirty="0"/>
          </a:p>
        </p:txBody>
      </p:sp>
      <p:sp>
        <p:nvSpPr>
          <p:cNvPr id="17" name="Text 10"/>
          <p:cNvSpPr/>
          <p:nvPr/>
        </p:nvSpPr>
        <p:spPr>
          <a:xfrm>
            <a:off x="928688" y="3135325"/>
            <a:ext cx="1834716"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Uso efetivo da camada de descoberta.</a:t>
            </a:r>
            <a:endParaRPr lang="en-US" sz="800" dirty="0"/>
          </a:p>
        </p:txBody>
      </p:sp>
      <p:sp>
        <p:nvSpPr>
          <p:cNvPr id="18" name="Shape 11"/>
          <p:cNvSpPr/>
          <p:nvPr/>
        </p:nvSpPr>
        <p:spPr>
          <a:xfrm>
            <a:off x="3286125" y="1681572"/>
            <a:ext cx="2571750" cy="2286000"/>
          </a:xfrm>
          <a:prstGeom prst="rect">
            <a:avLst/>
          </a:prstGeom>
          <a:solidFill>
            <a:srgbClr val="F7FAFC"/>
          </a:solidFill>
          <a:ln/>
        </p:spPr>
      </p:sp>
      <p:sp>
        <p:nvSpPr>
          <p:cNvPr id="19" name="Shape 12"/>
          <p:cNvSpPr/>
          <p:nvPr/>
        </p:nvSpPr>
        <p:spPr>
          <a:xfrm>
            <a:off x="3286125" y="1681572"/>
            <a:ext cx="2571750" cy="57150"/>
          </a:xfrm>
          <a:prstGeom prst="rect">
            <a:avLst/>
          </a:prstGeom>
          <a:solidFill>
            <a:srgbClr val="167D7F"/>
          </a:solidFill>
          <a:ln/>
        </p:spPr>
      </p:sp>
      <p:sp>
        <p:nvSpPr>
          <p:cNvPr id="20" name="Text 13"/>
          <p:cNvSpPr/>
          <p:nvPr/>
        </p:nvSpPr>
        <p:spPr>
          <a:xfrm>
            <a:off x="3429000" y="1824447"/>
            <a:ext cx="2286000" cy="250031"/>
          </a:xfrm>
          <a:prstGeom prst="rect">
            <a:avLst/>
          </a:prstGeom>
          <a:noFill/>
          <a:ln/>
        </p:spPr>
        <p:txBody>
          <a:bodyPr wrap="square" lIns="0" tIns="0" rIns="0" bIns="68072"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QUALIDADE E INTENÇÃO</a:t>
            </a:r>
            <a:endParaRPr lang="en-US" sz="1100" dirty="0"/>
          </a:p>
        </p:txBody>
      </p:sp>
      <p:pic>
        <p:nvPicPr>
          <p:cNvPr id="21" name="Image 4" descr="preencoded.png">    </p:cNvPr>
          <p:cNvPicPr>
            <a:picLocks noChangeAspect="1"/>
          </p:cNvPicPr>
          <p:nvPr/>
        </p:nvPicPr>
        <p:blipFill>
          <a:blip r:embed="rId5"/>
          <a:stretch>
            <a:fillRect/>
          </a:stretch>
        </p:blipFill>
        <p:spPr>
          <a:xfrm>
            <a:off x="3429000" y="2203066"/>
            <a:ext cx="213643" cy="142875"/>
          </a:xfrm>
          <a:prstGeom prst="rect">
            <a:avLst/>
          </a:prstGeom>
        </p:spPr>
      </p:pic>
      <p:sp>
        <p:nvSpPr>
          <p:cNvPr id="22" name="Text 14"/>
          <p:cNvSpPr/>
          <p:nvPr/>
        </p:nvSpPr>
        <p:spPr>
          <a:xfrm>
            <a:off x="3642643" y="2181634"/>
            <a:ext cx="2072357"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Aderência do Match</a:t>
            </a:r>
            <a:endParaRPr lang="en-US" sz="900" dirty="0"/>
          </a:p>
        </p:txBody>
      </p:sp>
      <p:sp>
        <p:nvSpPr>
          <p:cNvPr id="23" name="Text 15"/>
          <p:cNvSpPr/>
          <p:nvPr/>
        </p:nvSpPr>
        <p:spPr>
          <a:xfrm>
            <a:off x="3642643" y="2356656"/>
            <a:ext cx="1614264"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Precisão do score e feedback dos</a:t>
            </a:r>
            <a:endParaRPr lang="en-US" sz="800" dirty="0"/>
          </a:p>
        </p:txBody>
      </p:sp>
      <p:sp>
        <p:nvSpPr>
          <p:cNvPr id="24" name="Text 16"/>
          <p:cNvSpPr/>
          <p:nvPr/>
        </p:nvSpPr>
        <p:spPr>
          <a:xfrm>
            <a:off x="3642643" y="2495959"/>
            <a:ext cx="434820"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usuários.</a:t>
            </a:r>
            <a:endParaRPr lang="en-US" sz="800" dirty="0"/>
          </a:p>
        </p:txBody>
      </p:sp>
      <p:pic>
        <p:nvPicPr>
          <p:cNvPr id="25" name="Image 5" descr="preencoded.png">    </p:cNvPr>
          <p:cNvPicPr>
            <a:picLocks noChangeAspect="1"/>
          </p:cNvPicPr>
          <p:nvPr/>
        </p:nvPicPr>
        <p:blipFill>
          <a:blip r:embed="rId6"/>
          <a:stretch>
            <a:fillRect/>
          </a:stretch>
        </p:blipFill>
        <p:spPr>
          <a:xfrm>
            <a:off x="3429000" y="2731703"/>
            <a:ext cx="214313" cy="142875"/>
          </a:xfrm>
          <a:prstGeom prst="rect">
            <a:avLst/>
          </a:prstGeom>
        </p:spPr>
      </p:pic>
      <p:sp>
        <p:nvSpPr>
          <p:cNvPr id="26" name="Text 17"/>
          <p:cNvSpPr/>
          <p:nvPr/>
        </p:nvSpPr>
        <p:spPr>
          <a:xfrm>
            <a:off x="3643313" y="2710272"/>
            <a:ext cx="1858603"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Conexões Solicitadas</a:t>
            </a:r>
            <a:endParaRPr lang="en-US" sz="900" dirty="0"/>
          </a:p>
        </p:txBody>
      </p:sp>
      <p:sp>
        <p:nvSpPr>
          <p:cNvPr id="27" name="Text 18"/>
          <p:cNvSpPr/>
          <p:nvPr/>
        </p:nvSpPr>
        <p:spPr>
          <a:xfrm>
            <a:off x="3643313" y="2885294"/>
            <a:ext cx="1858603"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Intenção clara de colaboração iniciada.</a:t>
            </a:r>
            <a:endParaRPr lang="en-US" sz="800" dirty="0"/>
          </a:p>
        </p:txBody>
      </p:sp>
      <p:pic>
        <p:nvPicPr>
          <p:cNvPr id="28" name="Image 6" descr="preencoded.png">    </p:cNvPr>
          <p:cNvPicPr>
            <a:picLocks noChangeAspect="1"/>
          </p:cNvPicPr>
          <p:nvPr/>
        </p:nvPicPr>
        <p:blipFill>
          <a:blip r:embed="rId7"/>
          <a:stretch>
            <a:fillRect/>
          </a:stretch>
        </p:blipFill>
        <p:spPr>
          <a:xfrm>
            <a:off x="3429000" y="3121037"/>
            <a:ext cx="214313" cy="142875"/>
          </a:xfrm>
          <a:prstGeom prst="rect">
            <a:avLst/>
          </a:prstGeom>
        </p:spPr>
      </p:pic>
      <p:sp>
        <p:nvSpPr>
          <p:cNvPr id="29" name="Text 19"/>
          <p:cNvSpPr/>
          <p:nvPr/>
        </p:nvSpPr>
        <p:spPr>
          <a:xfrm>
            <a:off x="3643313" y="3099606"/>
            <a:ext cx="1840576"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Conexões Aceitas</a:t>
            </a:r>
            <a:endParaRPr lang="en-US" sz="900" dirty="0"/>
          </a:p>
        </p:txBody>
      </p:sp>
      <p:sp>
        <p:nvSpPr>
          <p:cNvPr id="30" name="Text 20"/>
          <p:cNvSpPr/>
          <p:nvPr/>
        </p:nvSpPr>
        <p:spPr>
          <a:xfrm>
            <a:off x="3643313" y="3274628"/>
            <a:ext cx="1840576"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Aperto de mãos digital entre as partes.</a:t>
            </a:r>
            <a:endParaRPr lang="en-US" sz="800" dirty="0"/>
          </a:p>
        </p:txBody>
      </p:sp>
      <p:sp>
        <p:nvSpPr>
          <p:cNvPr id="31" name="Shape 21"/>
          <p:cNvSpPr/>
          <p:nvPr/>
        </p:nvSpPr>
        <p:spPr>
          <a:xfrm>
            <a:off x="6000750" y="1681572"/>
            <a:ext cx="2571750" cy="2286000"/>
          </a:xfrm>
          <a:prstGeom prst="rect">
            <a:avLst/>
          </a:prstGeom>
          <a:solidFill>
            <a:srgbClr val="F7FAFC"/>
          </a:solidFill>
          <a:ln/>
        </p:spPr>
      </p:sp>
      <p:sp>
        <p:nvSpPr>
          <p:cNvPr id="32" name="Shape 22"/>
          <p:cNvSpPr/>
          <p:nvPr/>
        </p:nvSpPr>
        <p:spPr>
          <a:xfrm>
            <a:off x="6000750" y="1681572"/>
            <a:ext cx="2571750" cy="57150"/>
          </a:xfrm>
          <a:prstGeom prst="rect">
            <a:avLst/>
          </a:prstGeom>
          <a:solidFill>
            <a:srgbClr val="00B4D8"/>
          </a:solidFill>
          <a:ln/>
        </p:spPr>
      </p:sp>
      <p:sp>
        <p:nvSpPr>
          <p:cNvPr id="33" name="Text 23"/>
          <p:cNvSpPr/>
          <p:nvPr/>
        </p:nvSpPr>
        <p:spPr>
          <a:xfrm>
            <a:off x="6143625" y="1824447"/>
            <a:ext cx="2286000" cy="250031"/>
          </a:xfrm>
          <a:prstGeom prst="rect">
            <a:avLst/>
          </a:prstGeom>
          <a:noFill/>
          <a:ln/>
        </p:spPr>
        <p:txBody>
          <a:bodyPr wrap="square" lIns="0" tIns="0" rIns="0" bIns="68072"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EFETIVAÇÃO E IMPACTO</a:t>
            </a:r>
            <a:endParaRPr lang="en-US" sz="1100" dirty="0"/>
          </a:p>
        </p:txBody>
      </p:sp>
      <p:pic>
        <p:nvPicPr>
          <p:cNvPr id="34" name="Image 7" descr="preencoded.png">    </p:cNvPr>
          <p:cNvPicPr>
            <a:picLocks noChangeAspect="1"/>
          </p:cNvPicPr>
          <p:nvPr/>
        </p:nvPicPr>
        <p:blipFill>
          <a:blip r:embed="rId8"/>
          <a:stretch>
            <a:fillRect/>
          </a:stretch>
        </p:blipFill>
        <p:spPr>
          <a:xfrm>
            <a:off x="6143625" y="2203066"/>
            <a:ext cx="214313" cy="142875"/>
          </a:xfrm>
          <a:prstGeom prst="rect">
            <a:avLst/>
          </a:prstGeom>
        </p:spPr>
      </p:pic>
      <p:sp>
        <p:nvSpPr>
          <p:cNvPr id="35" name="Text 24"/>
          <p:cNvSpPr/>
          <p:nvPr/>
        </p:nvSpPr>
        <p:spPr>
          <a:xfrm>
            <a:off x="6357938" y="2181634"/>
            <a:ext cx="1868593"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Reuniões Realizadas</a:t>
            </a:r>
            <a:endParaRPr lang="en-US" sz="900" dirty="0"/>
          </a:p>
        </p:txBody>
      </p:sp>
      <p:sp>
        <p:nvSpPr>
          <p:cNvPr id="36" name="Text 25"/>
          <p:cNvSpPr/>
          <p:nvPr/>
        </p:nvSpPr>
        <p:spPr>
          <a:xfrm>
            <a:off x="6357938" y="2356656"/>
            <a:ext cx="1868593"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Avanço da conexão para o mundo real.</a:t>
            </a:r>
            <a:endParaRPr lang="en-US" sz="800" dirty="0"/>
          </a:p>
        </p:txBody>
      </p:sp>
      <p:pic>
        <p:nvPicPr>
          <p:cNvPr id="37" name="Image 8" descr="preencoded.png">    </p:cNvPr>
          <p:cNvPicPr>
            <a:picLocks noChangeAspect="1"/>
          </p:cNvPicPr>
          <p:nvPr/>
        </p:nvPicPr>
        <p:blipFill>
          <a:blip r:embed="rId9"/>
          <a:stretch>
            <a:fillRect/>
          </a:stretch>
        </p:blipFill>
        <p:spPr>
          <a:xfrm>
            <a:off x="6143625" y="2592400"/>
            <a:ext cx="214313" cy="142875"/>
          </a:xfrm>
          <a:prstGeom prst="rect">
            <a:avLst/>
          </a:prstGeom>
        </p:spPr>
      </p:pic>
      <p:sp>
        <p:nvSpPr>
          <p:cNvPr id="38" name="Text 26"/>
          <p:cNvSpPr/>
          <p:nvPr/>
        </p:nvSpPr>
        <p:spPr>
          <a:xfrm>
            <a:off x="6357938" y="2570969"/>
            <a:ext cx="1596349"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Projetos Formados</a:t>
            </a:r>
            <a:endParaRPr lang="en-US" sz="900" dirty="0"/>
          </a:p>
        </p:txBody>
      </p:sp>
      <p:sp>
        <p:nvSpPr>
          <p:cNvPr id="39" name="Text 27"/>
          <p:cNvSpPr/>
          <p:nvPr/>
        </p:nvSpPr>
        <p:spPr>
          <a:xfrm>
            <a:off x="6357938" y="2745991"/>
            <a:ext cx="1596349"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Implementação concreta iniciada.</a:t>
            </a:r>
            <a:endParaRPr lang="en-US" sz="800" dirty="0"/>
          </a:p>
        </p:txBody>
      </p:sp>
      <p:pic>
        <p:nvPicPr>
          <p:cNvPr id="40" name="Image 9" descr="preencoded.png">    </p:cNvPr>
          <p:cNvPicPr>
            <a:picLocks noChangeAspect="1"/>
          </p:cNvPicPr>
          <p:nvPr/>
        </p:nvPicPr>
        <p:blipFill>
          <a:blip r:embed="rId10"/>
          <a:stretch>
            <a:fillRect/>
          </a:stretch>
        </p:blipFill>
        <p:spPr>
          <a:xfrm>
            <a:off x="6143625" y="2981734"/>
            <a:ext cx="214313" cy="142875"/>
          </a:xfrm>
          <a:prstGeom prst="rect">
            <a:avLst/>
          </a:prstGeom>
        </p:spPr>
      </p:pic>
      <p:sp>
        <p:nvSpPr>
          <p:cNvPr id="41" name="Text 28"/>
          <p:cNvSpPr/>
          <p:nvPr/>
        </p:nvSpPr>
        <p:spPr>
          <a:xfrm>
            <a:off x="6357938" y="2960303"/>
            <a:ext cx="1941537" cy="150019"/>
          </a:xfrm>
          <a:prstGeom prst="rect">
            <a:avLst/>
          </a:prstGeom>
          <a:noFill/>
          <a:ln/>
        </p:spPr>
        <p:txBody>
          <a:bodyPr wrap="square" lIns="0" tIns="0" rIns="0" bIns="0" rtlCol="0" anchor="t">
            <a:spAutoFit/>
          </a:bodyPr>
          <a:lstStyle/>
          <a:p>
            <a:pPr algn="l" indent="0" marL="0">
              <a:buNone/>
            </a:pPr>
            <a:r>
              <a:rPr lang="en-US" sz="900" b="1" dirty="0">
                <a:solidFill>
                  <a:srgbClr val="0B1D51"/>
                </a:solidFill>
                <a:latin typeface="Arial" pitchFamily="34" charset="0"/>
                <a:ea typeface="Arial" pitchFamily="34" charset="-122"/>
                <a:cs typeface="Arial" pitchFamily="34" charset="-120"/>
              </a:rPr>
              <a:t>Resultados no Território</a:t>
            </a:r>
            <a:endParaRPr lang="en-US" sz="900" dirty="0"/>
          </a:p>
        </p:txBody>
      </p:sp>
      <p:sp>
        <p:nvSpPr>
          <p:cNvPr id="42" name="Text 29"/>
          <p:cNvSpPr/>
          <p:nvPr/>
        </p:nvSpPr>
        <p:spPr>
          <a:xfrm>
            <a:off x="6357938" y="3135325"/>
            <a:ext cx="1941537" cy="117872"/>
          </a:xfrm>
          <a:prstGeom prst="rect">
            <a:avLst/>
          </a:prstGeom>
          <a:noFill/>
          <a:ln/>
        </p:spPr>
        <p:txBody>
          <a:bodyPr wrap="none" lIns="0" tIns="0" rIns="0" bIns="0" rtlCol="0" anchor="t">
            <a:spAutoFit/>
          </a:bodyPr>
          <a:lstStyle/>
          <a:p>
            <a:pPr algn="l" indent="0" marL="0">
              <a:lnSpc>
                <a:spcPct val="104000"/>
              </a:lnSpc>
              <a:buNone/>
            </a:pPr>
            <a:r>
              <a:rPr lang="en-US" sz="800" dirty="0">
                <a:solidFill>
                  <a:srgbClr val="718096"/>
                </a:solidFill>
                <a:latin typeface="Arial" pitchFamily="34" charset="0"/>
                <a:ea typeface="Arial" pitchFamily="34" charset="-122"/>
                <a:cs typeface="Arial" pitchFamily="34" charset="-120"/>
              </a:rPr>
              <a:t>Impacto climático e agrícola mensurável.</a:t>
            </a:r>
            <a:endParaRPr lang="en-US" sz="800" dirty="0"/>
          </a:p>
        </p:txBody>
      </p:sp>
      <p:sp>
        <p:nvSpPr>
          <p:cNvPr id="43" name="Shape 30"/>
          <p:cNvSpPr/>
          <p:nvPr/>
        </p:nvSpPr>
        <p:spPr>
          <a:xfrm>
            <a:off x="571500" y="4110447"/>
            <a:ext cx="8001000" cy="500063"/>
          </a:xfrm>
          <a:prstGeom prst="rect">
            <a:avLst/>
          </a:prstGeom>
          <a:solidFill>
            <a:srgbClr val="0B1D51"/>
          </a:solidFill>
          <a:ln/>
        </p:spPr>
      </p:sp>
      <p:sp>
        <p:nvSpPr>
          <p:cNvPr id="44" name="Text 31"/>
          <p:cNvSpPr/>
          <p:nvPr/>
        </p:nvSpPr>
        <p:spPr>
          <a:xfrm>
            <a:off x="821531" y="4322973"/>
            <a:ext cx="2020677" cy="160734"/>
          </a:xfrm>
          <a:prstGeom prst="rect">
            <a:avLst/>
          </a:prstGeom>
          <a:noFill/>
          <a:ln/>
        </p:spPr>
        <p:txBody>
          <a:bodyPr wrap="square" lIns="0" tIns="0" rIns="0" bIns="0" rtlCol="0" anchor="t">
            <a:spAutoFit/>
          </a:bodyPr>
          <a:lstStyle/>
          <a:p>
            <a:pPr algn="l" indent="0" marL="0">
              <a:buNone/>
            </a:pPr>
            <a:r>
              <a:rPr lang="en-US" sz="1000" b="1" spc="1" kern="0" dirty="0">
                <a:solidFill>
                  <a:srgbClr val="F4B942"/>
                </a:solidFill>
                <a:latin typeface="Arial" pitchFamily="34" charset="0"/>
                <a:ea typeface="Arial" pitchFamily="34" charset="-122"/>
                <a:cs typeface="Arial" pitchFamily="34" charset="-120"/>
              </a:rPr>
              <a:t>INDICADOR ESTRATÉGICO</a:t>
            </a:r>
            <a:endParaRPr lang="en-US" sz="1000" dirty="0"/>
          </a:p>
        </p:txBody>
      </p:sp>
      <p:sp>
        <p:nvSpPr>
          <p:cNvPr id="45" name="Text 32"/>
          <p:cNvSpPr/>
          <p:nvPr/>
        </p:nvSpPr>
        <p:spPr>
          <a:xfrm>
            <a:off x="3442283" y="4297970"/>
            <a:ext cx="4880186" cy="210741"/>
          </a:xfrm>
          <a:prstGeom prst="rect">
            <a:avLst/>
          </a:prstGeom>
          <a:noFill/>
          <a:ln/>
        </p:spPr>
        <p:txBody>
          <a:bodyPr wrap="square" lIns="0" tIns="0" rIns="0" bIns="0" rtlCol="0" anchor="t">
            <a:spAutoFit/>
          </a:bodyPr>
          <a:lstStyle/>
          <a:p>
            <a:pPr algn="l" indent="0" marL="0">
              <a:buNone/>
            </a:pPr>
            <a:r>
              <a:rPr lang="en-US" sz="1400" i="1" dirty="0">
                <a:solidFill>
                  <a:srgbClr val="E8F1F2"/>
                </a:solidFill>
                <a:latin typeface="Georgia" pitchFamily="34" charset="0"/>
                <a:ea typeface="Georgia" pitchFamily="34" charset="-122"/>
                <a:cs typeface="Georgia" pitchFamily="34" charset="-120"/>
              </a:rPr>
              <a:t>Financiamento mobilizado para implementação climática global.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357188"/>
            <a:ext cx="8001000" cy="132159"/>
          </a:xfrm>
          <a:prstGeom prst="rect">
            <a:avLst/>
          </a:prstGeom>
          <a:noFill/>
          <a:ln/>
        </p:spPr>
        <p:txBody>
          <a:bodyPr wrap="square" lIns="0" tIns="0" rIns="0" bIns="0" rtlCol="0" anchor="t">
            <a:spAutoFit/>
          </a:bodyPr>
          <a:lstStyle/>
          <a:p>
            <a:pPr algn="l" indent="0" marL="0">
              <a:buNone/>
            </a:pPr>
            <a:r>
              <a:rPr lang="en-US" sz="800" b="1" spc="2" kern="0" dirty="0">
                <a:solidFill>
                  <a:srgbClr val="00B4D8"/>
                </a:solidFill>
                <a:latin typeface="Arial" pitchFamily="34" charset="0"/>
                <a:ea typeface="Arial" pitchFamily="34" charset="-122"/>
                <a:cs typeface="Arial" pitchFamily="34" charset="-120"/>
              </a:rPr>
              <a:t>VISÃO TÉCNICA DO MVP</a:t>
            </a:r>
            <a:endParaRPr lang="en-US" sz="800" dirty="0"/>
          </a:p>
        </p:txBody>
      </p:sp>
      <p:sp>
        <p:nvSpPr>
          <p:cNvPr id="5" name="Text 1"/>
          <p:cNvSpPr/>
          <p:nvPr/>
        </p:nvSpPr>
        <p:spPr>
          <a:xfrm>
            <a:off x="571500" y="546497"/>
            <a:ext cx="8001000" cy="330008"/>
          </a:xfrm>
          <a:prstGeom prst="rect">
            <a:avLst/>
          </a:prstGeom>
          <a:noFill/>
          <a:ln/>
        </p:spPr>
        <p:txBody>
          <a:bodyPr wrap="none" lIns="0" tIns="0" rIns="0" bIns="0" rtlCol="0" anchor="t">
            <a:spAutoFit/>
          </a:bodyPr>
          <a:lstStyle/>
          <a:p>
            <a:pPr algn="l" indent="0" marL="0">
              <a:lnSpc>
                <a:spcPct val="88000"/>
              </a:lnSpc>
              <a:buNone/>
            </a:pPr>
            <a:r>
              <a:rPr lang="en-US" sz="2100" b="1" spc="-1" kern="0" dirty="0">
                <a:solidFill>
                  <a:srgbClr val="0B1D51"/>
                </a:solidFill>
                <a:latin typeface="Arial" pitchFamily="34" charset="0"/>
                <a:ea typeface="Arial" pitchFamily="34" charset="-122"/>
                <a:cs typeface="Arial" pitchFamily="34" charset="-120"/>
              </a:rPr>
              <a:t>Arquitetura, Tecnologia e Cronograma</a:t>
            </a:r>
            <a:endParaRPr lang="en-US" sz="2100" dirty="0"/>
          </a:p>
        </p:txBody>
      </p:sp>
      <p:sp>
        <p:nvSpPr>
          <p:cNvPr id="6" name="Shape 2"/>
          <p:cNvSpPr/>
          <p:nvPr/>
        </p:nvSpPr>
        <p:spPr>
          <a:xfrm>
            <a:off x="571500" y="1090817"/>
            <a:ext cx="3607594" cy="3664744"/>
          </a:xfrm>
          <a:prstGeom prst="rect">
            <a:avLst/>
          </a:prstGeom>
          <a:solidFill>
            <a:srgbClr val="F7FAFC"/>
          </a:solidFill>
          <a:ln/>
        </p:spPr>
      </p:sp>
      <p:sp>
        <p:nvSpPr>
          <p:cNvPr id="7" name="Shape 3"/>
          <p:cNvSpPr/>
          <p:nvPr/>
        </p:nvSpPr>
        <p:spPr>
          <a:xfrm>
            <a:off x="571500" y="1090817"/>
            <a:ext cx="3607594" cy="42863"/>
          </a:xfrm>
          <a:prstGeom prst="rect">
            <a:avLst/>
          </a:prstGeom>
          <a:solidFill>
            <a:srgbClr val="0B1D51"/>
          </a:solidFill>
          <a:ln/>
        </p:spPr>
      </p:sp>
      <p:sp>
        <p:nvSpPr>
          <p:cNvPr id="8" name="Text 4"/>
          <p:cNvSpPr/>
          <p:nvPr/>
        </p:nvSpPr>
        <p:spPr>
          <a:xfrm>
            <a:off x="750094" y="1269411"/>
            <a:ext cx="3250406" cy="160734"/>
          </a:xfrm>
          <a:prstGeom prst="rect">
            <a:avLst/>
          </a:prstGeom>
          <a:noFill/>
          <a:ln/>
        </p:spPr>
        <p:txBody>
          <a:bodyPr wrap="squar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ARQUITETURA MONOREPO</a:t>
            </a:r>
            <a:endParaRPr lang="en-US" sz="1000" dirty="0"/>
          </a:p>
        </p:txBody>
      </p:sp>
      <p:sp>
        <p:nvSpPr>
          <p:cNvPr id="9" name="Shape 5"/>
          <p:cNvSpPr/>
          <p:nvPr/>
        </p:nvSpPr>
        <p:spPr>
          <a:xfrm>
            <a:off x="750094" y="1608739"/>
            <a:ext cx="1571625" cy="464344"/>
          </a:xfrm>
          <a:prstGeom prst="rect">
            <a:avLst/>
          </a:prstGeom>
          <a:solidFill>
            <a:srgbClr val="FFFFFF"/>
          </a:solidFill>
          <a:ln w="18288">
            <a:solidFill>
              <a:srgbClr val="E2E8F0"/>
            </a:solidFill>
            <a:prstDash val="solid"/>
          </a:ln>
        </p:spPr>
      </p:sp>
      <p:sp>
        <p:nvSpPr>
          <p:cNvPr id="10" name="Text 6"/>
          <p:cNvSpPr/>
          <p:nvPr/>
        </p:nvSpPr>
        <p:spPr>
          <a:xfrm>
            <a:off x="1235590" y="1694464"/>
            <a:ext cx="600633" cy="128588"/>
          </a:xfrm>
          <a:prstGeom prst="rect">
            <a:avLst/>
          </a:prstGeom>
          <a:noFill/>
          <a:ln/>
        </p:spPr>
        <p:txBody>
          <a:bodyPr wrap="none" lIns="0" tIns="0" rIns="0" bIns="0" rtlCol="0" anchor="t">
            <a:spAutoFit/>
          </a:bodyPr>
          <a:lstStyle/>
          <a:p>
            <a:pPr algn="ctr" indent="0" marL="0">
              <a:buNone/>
            </a:pPr>
            <a:r>
              <a:rPr lang="en-US" sz="800" b="1" dirty="0">
                <a:solidFill>
                  <a:srgbClr val="0B1D51"/>
                </a:solidFill>
                <a:latin typeface="Arial" pitchFamily="34" charset="0"/>
                <a:ea typeface="Arial" pitchFamily="34" charset="-122"/>
                <a:cs typeface="Arial" pitchFamily="34" charset="-120"/>
              </a:rPr>
              <a:t>@cac/www</a:t>
            </a:r>
            <a:endParaRPr lang="en-US" sz="800" dirty="0"/>
          </a:p>
        </p:txBody>
      </p:sp>
      <p:sp>
        <p:nvSpPr>
          <p:cNvPr id="11" name="Text 7"/>
          <p:cNvSpPr/>
          <p:nvPr/>
        </p:nvSpPr>
        <p:spPr>
          <a:xfrm>
            <a:off x="1215833" y="1844483"/>
            <a:ext cx="640147" cy="107156"/>
          </a:xfrm>
          <a:prstGeom prst="rect">
            <a:avLst/>
          </a:prstGeom>
          <a:noFill/>
          <a:ln/>
        </p:spPr>
        <p:txBody>
          <a:bodyPr wrap="none" lIns="0" tIns="0" rIns="0" bIns="0" rtlCol="0" anchor="t">
            <a:spAutoFit/>
          </a:bodyPr>
          <a:lstStyle/>
          <a:p>
            <a:pPr algn="ctr" indent="0" marL="0">
              <a:buNone/>
            </a:pPr>
            <a:r>
              <a:rPr lang="en-US" sz="650" b="1" dirty="0">
                <a:solidFill>
                  <a:srgbClr val="0B1D51"/>
                </a:solidFill>
                <a:latin typeface="Arial" pitchFamily="34" charset="0"/>
                <a:ea typeface="Arial" pitchFamily="34" charset="-122"/>
                <a:cs typeface="Arial" pitchFamily="34" charset="-120"/>
              </a:rPr>
              <a:t>Portal Público</a:t>
            </a:r>
            <a:endParaRPr lang="en-US" sz="650" dirty="0"/>
          </a:p>
        </p:txBody>
      </p:sp>
      <p:sp>
        <p:nvSpPr>
          <p:cNvPr id="12" name="Shape 8"/>
          <p:cNvSpPr/>
          <p:nvPr/>
        </p:nvSpPr>
        <p:spPr>
          <a:xfrm>
            <a:off x="2428875" y="1608739"/>
            <a:ext cx="1571625" cy="464344"/>
          </a:xfrm>
          <a:prstGeom prst="rect">
            <a:avLst/>
          </a:prstGeom>
          <a:solidFill>
            <a:srgbClr val="FFFFFF"/>
          </a:solidFill>
          <a:ln w="18288">
            <a:solidFill>
              <a:srgbClr val="E2E8F0"/>
            </a:solidFill>
            <a:prstDash val="solid"/>
          </a:ln>
        </p:spPr>
      </p:sp>
      <p:sp>
        <p:nvSpPr>
          <p:cNvPr id="13" name="Text 9"/>
          <p:cNvSpPr/>
          <p:nvPr/>
        </p:nvSpPr>
        <p:spPr>
          <a:xfrm>
            <a:off x="2936584" y="1694464"/>
            <a:ext cx="556208" cy="128588"/>
          </a:xfrm>
          <a:prstGeom prst="rect">
            <a:avLst/>
          </a:prstGeom>
          <a:noFill/>
          <a:ln/>
        </p:spPr>
        <p:txBody>
          <a:bodyPr wrap="none" lIns="0" tIns="0" rIns="0" bIns="0" rtlCol="0" anchor="t">
            <a:spAutoFit/>
          </a:bodyPr>
          <a:lstStyle/>
          <a:p>
            <a:pPr algn="ctr" indent="0" marL="0">
              <a:buNone/>
            </a:pPr>
            <a:r>
              <a:rPr lang="en-US" sz="800" b="1" dirty="0">
                <a:solidFill>
                  <a:srgbClr val="0B1D51"/>
                </a:solidFill>
                <a:latin typeface="Arial" pitchFamily="34" charset="0"/>
                <a:ea typeface="Arial" pitchFamily="34" charset="-122"/>
                <a:cs typeface="Arial" pitchFamily="34" charset="-120"/>
              </a:rPr>
              <a:t>@cac/web</a:t>
            </a:r>
            <a:endParaRPr lang="en-US" sz="800" dirty="0"/>
          </a:p>
        </p:txBody>
      </p:sp>
      <p:sp>
        <p:nvSpPr>
          <p:cNvPr id="14" name="Text 10"/>
          <p:cNvSpPr/>
          <p:nvPr/>
        </p:nvSpPr>
        <p:spPr>
          <a:xfrm>
            <a:off x="2873852" y="1844483"/>
            <a:ext cx="681670" cy="107156"/>
          </a:xfrm>
          <a:prstGeom prst="rect">
            <a:avLst/>
          </a:prstGeom>
          <a:noFill/>
          <a:ln/>
        </p:spPr>
        <p:txBody>
          <a:bodyPr wrap="none" lIns="0" tIns="0" rIns="0" bIns="0" rtlCol="0" anchor="t">
            <a:spAutoFit/>
          </a:bodyPr>
          <a:lstStyle/>
          <a:p>
            <a:pPr algn="ctr" indent="0" marL="0">
              <a:buNone/>
            </a:pPr>
            <a:r>
              <a:rPr lang="en-US" sz="650" b="1" dirty="0">
                <a:solidFill>
                  <a:srgbClr val="0B1D51"/>
                </a:solidFill>
                <a:latin typeface="Arial" pitchFamily="34" charset="0"/>
                <a:ea typeface="Arial" pitchFamily="34" charset="-122"/>
                <a:cs typeface="Arial" pitchFamily="34" charset="-120"/>
              </a:rPr>
              <a:t>Painel + Admin</a:t>
            </a:r>
            <a:endParaRPr lang="en-US" sz="650" dirty="0"/>
          </a:p>
        </p:txBody>
      </p:sp>
      <p:pic>
        <p:nvPicPr>
          <p:cNvPr id="15" name="Image 1" descr="preencoded.png">    </p:cNvPr>
          <p:cNvPicPr>
            <a:picLocks noChangeAspect="1"/>
          </p:cNvPicPr>
          <p:nvPr/>
        </p:nvPicPr>
        <p:blipFill>
          <a:blip r:embed="rId2"/>
          <a:stretch>
            <a:fillRect/>
          </a:stretch>
        </p:blipFill>
        <p:spPr>
          <a:xfrm>
            <a:off x="2321719" y="2187383"/>
            <a:ext cx="107156" cy="142875"/>
          </a:xfrm>
          <a:prstGeom prst="rect">
            <a:avLst/>
          </a:prstGeom>
        </p:spPr>
      </p:pic>
      <p:sp>
        <p:nvSpPr>
          <p:cNvPr id="16" name="Shape 11"/>
          <p:cNvSpPr/>
          <p:nvPr/>
        </p:nvSpPr>
        <p:spPr>
          <a:xfrm>
            <a:off x="1589484" y="2473133"/>
            <a:ext cx="1571625" cy="464344"/>
          </a:xfrm>
          <a:prstGeom prst="rect">
            <a:avLst/>
          </a:prstGeom>
          <a:solidFill>
            <a:srgbClr val="0B1D51"/>
          </a:solidFill>
          <a:ln w="18288">
            <a:solidFill>
              <a:srgbClr val="0B1D51"/>
            </a:solidFill>
            <a:prstDash val="solid"/>
          </a:ln>
        </p:spPr>
      </p:sp>
      <p:sp>
        <p:nvSpPr>
          <p:cNvPr id="17" name="Text 12"/>
          <p:cNvSpPr/>
          <p:nvPr/>
        </p:nvSpPr>
        <p:spPr>
          <a:xfrm>
            <a:off x="2125768" y="2558858"/>
            <a:ext cx="499058" cy="128588"/>
          </a:xfrm>
          <a:prstGeom prst="rect">
            <a:avLst/>
          </a:prstGeom>
          <a:noFill/>
          <a:ln/>
        </p:spPr>
        <p:txBody>
          <a:bodyPr wrap="none" lIns="0" tIns="0" rIns="0" bIns="0" rtlCol="0" anchor="t">
            <a:spAutoFit/>
          </a:bodyPr>
          <a:lstStyle/>
          <a:p>
            <a:pPr algn="ctr" indent="0" marL="0">
              <a:buNone/>
            </a:pPr>
            <a:r>
              <a:rPr lang="en-US" sz="800" b="1" dirty="0">
                <a:solidFill>
                  <a:srgbClr val="FFFFFF"/>
                </a:solidFill>
                <a:latin typeface="Arial" pitchFamily="34" charset="0"/>
                <a:ea typeface="Arial" pitchFamily="34" charset="-122"/>
                <a:cs typeface="Arial" pitchFamily="34" charset="-120"/>
              </a:rPr>
              <a:t>@cac/api</a:t>
            </a:r>
            <a:endParaRPr lang="en-US" sz="800" dirty="0"/>
          </a:p>
        </p:txBody>
      </p:sp>
      <p:sp>
        <p:nvSpPr>
          <p:cNvPr id="18" name="Text 13"/>
          <p:cNvSpPr/>
          <p:nvPr/>
        </p:nvSpPr>
        <p:spPr>
          <a:xfrm>
            <a:off x="1859440" y="2708877"/>
            <a:ext cx="1031658" cy="107156"/>
          </a:xfrm>
          <a:prstGeom prst="rect">
            <a:avLst/>
          </a:prstGeom>
          <a:noFill/>
          <a:ln/>
        </p:spPr>
        <p:txBody>
          <a:bodyPr wrap="none" lIns="0" tIns="0" rIns="0" bIns="0" rtlCol="0" anchor="t">
            <a:spAutoFit/>
          </a:bodyPr>
          <a:lstStyle/>
          <a:p>
            <a:pPr algn="ctr" indent="0" marL="0">
              <a:buNone/>
            </a:pPr>
            <a:r>
              <a:rPr lang="en-US" sz="650" b="1" dirty="0">
                <a:solidFill>
                  <a:srgbClr val="FFFFFF"/>
                </a:solidFill>
                <a:latin typeface="Arial" pitchFamily="34" charset="0"/>
                <a:ea typeface="Arial" pitchFamily="34" charset="-122"/>
                <a:cs typeface="Arial" pitchFamily="34" charset="-120"/>
              </a:rPr>
              <a:t>Backend Único (REST)</a:t>
            </a:r>
            <a:endParaRPr lang="en-US" sz="650" dirty="0"/>
          </a:p>
        </p:txBody>
      </p:sp>
      <p:pic>
        <p:nvPicPr>
          <p:cNvPr id="19" name="Image 2" descr="preencoded.png">    </p:cNvPr>
          <p:cNvPicPr>
            <a:picLocks noChangeAspect="1"/>
          </p:cNvPicPr>
          <p:nvPr/>
        </p:nvPicPr>
        <p:blipFill>
          <a:blip r:embed="rId3"/>
          <a:stretch>
            <a:fillRect/>
          </a:stretch>
        </p:blipFill>
        <p:spPr>
          <a:xfrm>
            <a:off x="2321719" y="3051777"/>
            <a:ext cx="107156" cy="142875"/>
          </a:xfrm>
          <a:prstGeom prst="rect">
            <a:avLst/>
          </a:prstGeom>
        </p:spPr>
      </p:pic>
      <p:sp>
        <p:nvSpPr>
          <p:cNvPr id="20" name="Shape 14"/>
          <p:cNvSpPr/>
          <p:nvPr/>
        </p:nvSpPr>
        <p:spPr>
          <a:xfrm>
            <a:off x="1196578" y="3337527"/>
            <a:ext cx="1143000" cy="314325"/>
          </a:xfrm>
          <a:prstGeom prst="rect">
            <a:avLst/>
          </a:prstGeom>
          <a:solidFill>
            <a:srgbClr val="F4B942"/>
          </a:solidFill>
          <a:ln w="18288">
            <a:solidFill>
              <a:srgbClr val="F4B942"/>
            </a:solidFill>
            <a:prstDash val="solid"/>
          </a:ln>
        </p:spPr>
      </p:sp>
      <p:sp>
        <p:nvSpPr>
          <p:cNvPr id="21" name="Text 15"/>
          <p:cNvSpPr/>
          <p:nvPr/>
        </p:nvSpPr>
        <p:spPr>
          <a:xfrm>
            <a:off x="1196578" y="3337527"/>
            <a:ext cx="1143000" cy="314325"/>
          </a:xfrm>
          <a:prstGeom prst="rect">
            <a:avLst/>
          </a:prstGeom>
          <a:noFill/>
          <a:ln/>
        </p:spPr>
        <p:txBody>
          <a:bodyPr wrap="none" lIns="170053" tIns="102108" rIns="170053" bIns="102108" rtlCol="0" anchor="t">
            <a:spAutoFit/>
          </a:bodyPr>
          <a:lstStyle/>
          <a:p>
            <a:pPr algn="ctr" indent="0" marL="0">
              <a:buNone/>
            </a:pPr>
            <a:r>
              <a:rPr lang="en-US" sz="700" b="1" dirty="0">
                <a:solidFill>
                  <a:srgbClr val="0B1D51"/>
                </a:solidFill>
                <a:latin typeface="Arial" pitchFamily="34" charset="0"/>
                <a:ea typeface="Arial" pitchFamily="34" charset="-122"/>
                <a:cs typeface="Arial" pitchFamily="34" charset="-120"/>
              </a:rPr>
              <a:t>MySQL + Redis</a:t>
            </a:r>
            <a:endParaRPr lang="en-US" sz="700" dirty="0"/>
          </a:p>
        </p:txBody>
      </p:sp>
      <p:sp>
        <p:nvSpPr>
          <p:cNvPr id="22" name="Shape 16"/>
          <p:cNvSpPr/>
          <p:nvPr/>
        </p:nvSpPr>
        <p:spPr>
          <a:xfrm>
            <a:off x="2411016" y="3337527"/>
            <a:ext cx="1143000" cy="314325"/>
          </a:xfrm>
          <a:prstGeom prst="rect">
            <a:avLst/>
          </a:prstGeom>
          <a:solidFill>
            <a:srgbClr val="F4B942"/>
          </a:solidFill>
          <a:ln w="18288">
            <a:solidFill>
              <a:srgbClr val="F4B942"/>
            </a:solidFill>
            <a:prstDash val="solid"/>
          </a:ln>
        </p:spPr>
      </p:sp>
      <p:sp>
        <p:nvSpPr>
          <p:cNvPr id="23" name="Text 17"/>
          <p:cNvSpPr/>
          <p:nvPr/>
        </p:nvSpPr>
        <p:spPr>
          <a:xfrm>
            <a:off x="2411016" y="3337527"/>
            <a:ext cx="1143000" cy="314325"/>
          </a:xfrm>
          <a:prstGeom prst="rect">
            <a:avLst/>
          </a:prstGeom>
          <a:noFill/>
          <a:ln/>
        </p:spPr>
        <p:txBody>
          <a:bodyPr wrap="none" lIns="170053" tIns="102108" rIns="170053" bIns="102108" rtlCol="0" anchor="t">
            <a:spAutoFit/>
          </a:bodyPr>
          <a:lstStyle/>
          <a:p>
            <a:pPr algn="ctr" indent="0" marL="0">
              <a:buNone/>
            </a:pPr>
            <a:r>
              <a:rPr lang="en-US" sz="700" b="1" dirty="0">
                <a:solidFill>
                  <a:srgbClr val="0B1D51"/>
                </a:solidFill>
                <a:latin typeface="Arial" pitchFamily="34" charset="0"/>
                <a:ea typeface="Arial" pitchFamily="34" charset="-122"/>
                <a:cs typeface="Arial" pitchFamily="34" charset="-120"/>
              </a:rPr>
              <a:t>OpenAI / Mail</a:t>
            </a:r>
            <a:endParaRPr lang="en-US" sz="700" dirty="0"/>
          </a:p>
        </p:txBody>
      </p:sp>
      <p:sp>
        <p:nvSpPr>
          <p:cNvPr id="24" name="Shape 18"/>
          <p:cNvSpPr/>
          <p:nvPr/>
        </p:nvSpPr>
        <p:spPr>
          <a:xfrm>
            <a:off x="1803797" y="3837589"/>
            <a:ext cx="1143000" cy="428625"/>
          </a:xfrm>
          <a:prstGeom prst="rect">
            <a:avLst/>
          </a:prstGeom>
          <a:solidFill>
            <a:srgbClr val="F4B942"/>
          </a:solidFill>
          <a:ln w="18288">
            <a:solidFill>
              <a:srgbClr val="F4B942"/>
            </a:solidFill>
            <a:prstDash val="solid"/>
          </a:ln>
        </p:spPr>
      </p:sp>
      <p:sp>
        <p:nvSpPr>
          <p:cNvPr id="25" name="Text 19"/>
          <p:cNvSpPr/>
          <p:nvPr/>
        </p:nvSpPr>
        <p:spPr>
          <a:xfrm>
            <a:off x="2065213" y="3923314"/>
            <a:ext cx="620167" cy="110728"/>
          </a:xfrm>
          <a:prstGeom prst="rect">
            <a:avLst/>
          </a:prstGeom>
          <a:noFill/>
          <a:ln/>
        </p:spPr>
        <p:txBody>
          <a:bodyPr wrap="none" lIns="0" tIns="0" rIns="0" bIns="0" rtlCol="0" anchor="t">
            <a:spAutoFit/>
          </a:bodyPr>
          <a:lstStyle/>
          <a:p>
            <a:pPr algn="ctr" indent="0" marL="0">
              <a:buNone/>
            </a:pPr>
            <a:r>
              <a:rPr lang="en-US" sz="700" b="1" dirty="0">
                <a:solidFill>
                  <a:srgbClr val="0B1D51"/>
                </a:solidFill>
                <a:latin typeface="Arial" pitchFamily="34" charset="0"/>
                <a:ea typeface="Arial" pitchFamily="34" charset="-122"/>
                <a:cs typeface="Arial" pitchFamily="34" charset="-120"/>
              </a:rPr>
              <a:t>@cac/shared</a:t>
            </a:r>
            <a:endParaRPr lang="en-US" sz="700" dirty="0"/>
          </a:p>
        </p:txBody>
      </p:sp>
      <p:sp>
        <p:nvSpPr>
          <p:cNvPr id="26" name="Text 20"/>
          <p:cNvSpPr/>
          <p:nvPr/>
        </p:nvSpPr>
        <p:spPr>
          <a:xfrm>
            <a:off x="2090607" y="4051902"/>
            <a:ext cx="569323" cy="92869"/>
          </a:xfrm>
          <a:prstGeom prst="rect">
            <a:avLst/>
          </a:prstGeom>
          <a:noFill/>
          <a:ln/>
        </p:spPr>
        <p:txBody>
          <a:bodyPr wrap="none" lIns="0" tIns="0" rIns="0" bIns="0" rtlCol="0" anchor="t">
            <a:spAutoFit/>
          </a:bodyPr>
          <a:lstStyle/>
          <a:p>
            <a:pPr algn="ctr" indent="0" marL="0">
              <a:buNone/>
            </a:pPr>
            <a:r>
              <a:rPr lang="en-US" sz="550" b="1" dirty="0">
                <a:solidFill>
                  <a:srgbClr val="0B1D51"/>
                </a:solidFill>
                <a:latin typeface="Arial" pitchFamily="34" charset="0"/>
                <a:ea typeface="Arial" pitchFamily="34" charset="-122"/>
                <a:cs typeface="Arial" pitchFamily="34" charset="-120"/>
              </a:rPr>
              <a:t>Contratos Zod</a:t>
            </a:r>
            <a:endParaRPr lang="en-US" sz="550" dirty="0"/>
          </a:p>
        </p:txBody>
      </p:sp>
      <p:sp>
        <p:nvSpPr>
          <p:cNvPr id="27" name="Shape 21"/>
          <p:cNvSpPr/>
          <p:nvPr/>
        </p:nvSpPr>
        <p:spPr>
          <a:xfrm>
            <a:off x="4464844" y="1090817"/>
            <a:ext cx="4107656" cy="1175147"/>
          </a:xfrm>
          <a:prstGeom prst="rect">
            <a:avLst/>
          </a:prstGeom>
          <a:solidFill>
            <a:srgbClr val="EDF2F7"/>
          </a:solidFill>
          <a:ln/>
        </p:spPr>
      </p:sp>
      <p:sp>
        <p:nvSpPr>
          <p:cNvPr id="28" name="Shape 22"/>
          <p:cNvSpPr/>
          <p:nvPr/>
        </p:nvSpPr>
        <p:spPr>
          <a:xfrm>
            <a:off x="4464844" y="1090817"/>
            <a:ext cx="4107656" cy="42863"/>
          </a:xfrm>
          <a:prstGeom prst="rect">
            <a:avLst/>
          </a:prstGeom>
          <a:solidFill>
            <a:srgbClr val="167D7F"/>
          </a:solidFill>
          <a:ln/>
        </p:spPr>
      </p:sp>
      <p:sp>
        <p:nvSpPr>
          <p:cNvPr id="29" name="Text 23"/>
          <p:cNvSpPr/>
          <p:nvPr/>
        </p:nvSpPr>
        <p:spPr>
          <a:xfrm>
            <a:off x="4607719" y="1233692"/>
            <a:ext cx="3821906" cy="160734"/>
          </a:xfrm>
          <a:prstGeom prst="rect">
            <a:avLst/>
          </a:prstGeom>
          <a:noFill/>
          <a:ln/>
        </p:spPr>
        <p:txBody>
          <a:bodyPr wrap="square" lIns="0" tIns="0" rIns="0" bIns="0" rtlCol="0" anchor="t">
            <a:spAutoFit/>
          </a:bodyPr>
          <a:lstStyle/>
          <a:p>
            <a:pPr algn="l" indent="0" marL="0">
              <a:buNone/>
            </a:pPr>
            <a:r>
              <a:rPr lang="en-US" sz="1000" b="1" dirty="0">
                <a:solidFill>
                  <a:srgbClr val="167D7F"/>
                </a:solidFill>
                <a:latin typeface="Arial" pitchFamily="34" charset="0"/>
                <a:ea typeface="Arial" pitchFamily="34" charset="-122"/>
                <a:cs typeface="Arial" pitchFamily="34" charset="-120"/>
              </a:rPr>
              <a:t>STACK TECNOLÓGICA</a:t>
            </a:r>
            <a:endParaRPr lang="en-US" sz="1000" dirty="0"/>
          </a:p>
        </p:txBody>
      </p:sp>
      <p:pic>
        <p:nvPicPr>
          <p:cNvPr id="30" name="Image 3" descr="preencoded.png">    </p:cNvPr>
          <p:cNvPicPr>
            <a:picLocks noChangeAspect="1"/>
          </p:cNvPicPr>
          <p:nvPr/>
        </p:nvPicPr>
        <p:blipFill>
          <a:blip r:embed="rId4"/>
          <a:stretch>
            <a:fillRect/>
          </a:stretch>
        </p:blipFill>
        <p:spPr>
          <a:xfrm>
            <a:off x="4607719" y="1512298"/>
            <a:ext cx="125016" cy="100013"/>
          </a:xfrm>
          <a:prstGeom prst="rect">
            <a:avLst/>
          </a:prstGeom>
        </p:spPr>
      </p:pic>
      <p:sp>
        <p:nvSpPr>
          <p:cNvPr id="31" name="Text 24"/>
          <p:cNvSpPr/>
          <p:nvPr/>
        </p:nvSpPr>
        <p:spPr>
          <a:xfrm>
            <a:off x="4804172" y="1501583"/>
            <a:ext cx="989744"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Node.js + TypeScript</a:t>
            </a:r>
            <a:endParaRPr lang="en-US" sz="800" dirty="0"/>
          </a:p>
        </p:txBody>
      </p:sp>
      <p:pic>
        <p:nvPicPr>
          <p:cNvPr id="32" name="Image 4" descr="preencoded.png">    </p:cNvPr>
          <p:cNvPicPr>
            <a:picLocks noChangeAspect="1"/>
          </p:cNvPicPr>
          <p:nvPr/>
        </p:nvPicPr>
        <p:blipFill>
          <a:blip r:embed="rId5"/>
          <a:stretch>
            <a:fillRect/>
          </a:stretch>
        </p:blipFill>
        <p:spPr>
          <a:xfrm>
            <a:off x="6572250" y="1512298"/>
            <a:ext cx="100013" cy="100013"/>
          </a:xfrm>
          <a:prstGeom prst="rect">
            <a:avLst/>
          </a:prstGeom>
        </p:spPr>
      </p:pic>
      <p:sp>
        <p:nvSpPr>
          <p:cNvPr id="33" name="Text 25"/>
          <p:cNvSpPr/>
          <p:nvPr/>
        </p:nvSpPr>
        <p:spPr>
          <a:xfrm>
            <a:off x="6743700" y="1501583"/>
            <a:ext cx="476455"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Express 5</a:t>
            </a:r>
            <a:endParaRPr lang="en-US" sz="800" dirty="0"/>
          </a:p>
        </p:txBody>
      </p:sp>
      <p:pic>
        <p:nvPicPr>
          <p:cNvPr id="34" name="Image 5" descr="preencoded.png">    </p:cNvPr>
          <p:cNvPicPr>
            <a:picLocks noChangeAspect="1"/>
          </p:cNvPicPr>
          <p:nvPr/>
        </p:nvPicPr>
        <p:blipFill>
          <a:blip r:embed="rId6"/>
          <a:stretch>
            <a:fillRect/>
          </a:stretch>
        </p:blipFill>
        <p:spPr>
          <a:xfrm>
            <a:off x="4607719" y="1740898"/>
            <a:ext cx="89297" cy="100013"/>
          </a:xfrm>
          <a:prstGeom prst="rect">
            <a:avLst/>
          </a:prstGeom>
        </p:spPr>
      </p:pic>
      <p:sp>
        <p:nvSpPr>
          <p:cNvPr id="35" name="Text 26"/>
          <p:cNvSpPr/>
          <p:nvPr/>
        </p:nvSpPr>
        <p:spPr>
          <a:xfrm>
            <a:off x="4768453" y="1730183"/>
            <a:ext cx="987568"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Prisma 6 + MySQL 8</a:t>
            </a:r>
            <a:endParaRPr lang="en-US" sz="800" dirty="0"/>
          </a:p>
        </p:txBody>
      </p:sp>
      <p:pic>
        <p:nvPicPr>
          <p:cNvPr id="36" name="Image 6" descr="preencoded.png">    </p:cNvPr>
          <p:cNvPicPr>
            <a:picLocks noChangeAspect="1"/>
          </p:cNvPicPr>
          <p:nvPr/>
        </p:nvPicPr>
        <p:blipFill>
          <a:blip r:embed="rId7"/>
          <a:stretch>
            <a:fillRect/>
          </a:stretch>
        </p:blipFill>
        <p:spPr>
          <a:xfrm>
            <a:off x="6572250" y="1740898"/>
            <a:ext cx="75009" cy="100013"/>
          </a:xfrm>
          <a:prstGeom prst="rect">
            <a:avLst/>
          </a:prstGeom>
        </p:spPr>
      </p:pic>
      <p:sp>
        <p:nvSpPr>
          <p:cNvPr id="37" name="Text 27"/>
          <p:cNvSpPr/>
          <p:nvPr/>
        </p:nvSpPr>
        <p:spPr>
          <a:xfrm>
            <a:off x="6718697" y="1730183"/>
            <a:ext cx="976685"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Redis 7 (Fila/Cache)</a:t>
            </a:r>
            <a:endParaRPr lang="en-US" sz="800" dirty="0"/>
          </a:p>
        </p:txBody>
      </p:sp>
      <p:pic>
        <p:nvPicPr>
          <p:cNvPr id="38" name="Image 7" descr="preencoded.png">    </p:cNvPr>
          <p:cNvPicPr>
            <a:picLocks noChangeAspect="1"/>
          </p:cNvPicPr>
          <p:nvPr/>
        </p:nvPicPr>
        <p:blipFill>
          <a:blip r:embed="rId8"/>
          <a:stretch>
            <a:fillRect/>
          </a:stretch>
        </p:blipFill>
        <p:spPr>
          <a:xfrm>
            <a:off x="4607719" y="1969498"/>
            <a:ext cx="100013" cy="100013"/>
          </a:xfrm>
          <a:prstGeom prst="rect">
            <a:avLst/>
          </a:prstGeom>
        </p:spPr>
      </p:pic>
      <p:sp>
        <p:nvSpPr>
          <p:cNvPr id="39" name="Text 28"/>
          <p:cNvSpPr/>
          <p:nvPr/>
        </p:nvSpPr>
        <p:spPr>
          <a:xfrm>
            <a:off x="4779169" y="1958783"/>
            <a:ext cx="823094"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React 19 + Vite 7</a:t>
            </a:r>
            <a:endParaRPr lang="en-US" sz="800" dirty="0"/>
          </a:p>
        </p:txBody>
      </p:sp>
      <p:pic>
        <p:nvPicPr>
          <p:cNvPr id="40" name="Image 8" descr="preencoded.png">    </p:cNvPr>
          <p:cNvPicPr>
            <a:picLocks noChangeAspect="1"/>
          </p:cNvPicPr>
          <p:nvPr/>
        </p:nvPicPr>
        <p:blipFill>
          <a:blip r:embed="rId9"/>
          <a:stretch>
            <a:fillRect/>
          </a:stretch>
        </p:blipFill>
        <p:spPr>
          <a:xfrm>
            <a:off x="6572250" y="1969498"/>
            <a:ext cx="100013" cy="100013"/>
          </a:xfrm>
          <a:prstGeom prst="rect">
            <a:avLst/>
          </a:prstGeom>
        </p:spPr>
      </p:pic>
      <p:sp>
        <p:nvSpPr>
          <p:cNvPr id="41" name="Text 29"/>
          <p:cNvSpPr/>
          <p:nvPr/>
        </p:nvSpPr>
        <p:spPr>
          <a:xfrm>
            <a:off x="6743700" y="1958783"/>
            <a:ext cx="988851" cy="121444"/>
          </a:xfrm>
          <a:prstGeom prst="rect">
            <a:avLst/>
          </a:prstGeom>
          <a:noFill/>
          <a:ln/>
        </p:spPr>
        <p:txBody>
          <a:bodyPr wrap="none" lIns="0" tIns="0" rIns="0" bIns="0" rtlCol="0" anchor="t">
            <a:spAutoFit/>
          </a:bodyPr>
          <a:lstStyle/>
          <a:p>
            <a:pPr algn="l" indent="0" marL="0">
              <a:buNone/>
            </a:pPr>
            <a:r>
              <a:rPr lang="en-US" sz="800" dirty="0">
                <a:solidFill>
                  <a:srgbClr val="4A5568"/>
                </a:solidFill>
                <a:latin typeface="Arial" pitchFamily="34" charset="0"/>
                <a:ea typeface="Arial" pitchFamily="34" charset="-122"/>
                <a:cs typeface="Arial" pitchFamily="34" charset="-120"/>
              </a:rPr>
              <a:t>OpenAI Embeddings</a:t>
            </a:r>
            <a:endParaRPr lang="en-US" sz="800" dirty="0"/>
          </a:p>
        </p:txBody>
      </p:sp>
      <p:sp>
        <p:nvSpPr>
          <p:cNvPr id="42" name="Shape 30"/>
          <p:cNvSpPr/>
          <p:nvPr/>
        </p:nvSpPr>
        <p:spPr>
          <a:xfrm>
            <a:off x="4464844" y="2437414"/>
            <a:ext cx="4107656" cy="1632347"/>
          </a:xfrm>
          <a:prstGeom prst="rect">
            <a:avLst/>
          </a:prstGeom>
          <a:solidFill>
            <a:srgbClr val="0B1D51"/>
          </a:solidFill>
          <a:ln/>
        </p:spPr>
      </p:sp>
      <p:sp>
        <p:nvSpPr>
          <p:cNvPr id="43" name="Shape 31"/>
          <p:cNvSpPr/>
          <p:nvPr/>
        </p:nvSpPr>
        <p:spPr>
          <a:xfrm>
            <a:off x="4464844" y="2437414"/>
            <a:ext cx="4107656" cy="42863"/>
          </a:xfrm>
          <a:prstGeom prst="rect">
            <a:avLst/>
          </a:prstGeom>
          <a:solidFill>
            <a:srgbClr val="F4B942"/>
          </a:solidFill>
          <a:ln/>
        </p:spPr>
      </p:sp>
      <p:sp>
        <p:nvSpPr>
          <p:cNvPr id="44" name="Text 32"/>
          <p:cNvSpPr/>
          <p:nvPr/>
        </p:nvSpPr>
        <p:spPr>
          <a:xfrm>
            <a:off x="4607719" y="2580289"/>
            <a:ext cx="3821906" cy="160734"/>
          </a:xfrm>
          <a:prstGeom prst="rect">
            <a:avLst/>
          </a:prstGeom>
          <a:noFill/>
          <a:ln/>
        </p:spPr>
        <p:txBody>
          <a:bodyPr wrap="square" lIns="0" tIns="0" rIns="0" bIns="0" rtlCol="0" anchor="t">
            <a:spAutoFit/>
          </a:bodyPr>
          <a:lstStyle/>
          <a:p>
            <a:pPr algn="l" indent="0" marL="0">
              <a:buNone/>
            </a:pPr>
            <a:r>
              <a:rPr lang="en-US" sz="1000" b="1" dirty="0">
                <a:solidFill>
                  <a:srgbClr val="F4B942"/>
                </a:solidFill>
                <a:latin typeface="Arial" pitchFamily="34" charset="0"/>
                <a:ea typeface="Arial" pitchFamily="34" charset="-122"/>
                <a:cs typeface="Arial" pitchFamily="34" charset="-120"/>
              </a:rPr>
              <a:t>CRONOGRAMA TÉCNICO</a:t>
            </a:r>
            <a:endParaRPr lang="en-US" sz="1000" dirty="0"/>
          </a:p>
        </p:txBody>
      </p:sp>
      <p:sp>
        <p:nvSpPr>
          <p:cNvPr id="45" name="Text 33"/>
          <p:cNvSpPr/>
          <p:nvPr/>
        </p:nvSpPr>
        <p:spPr>
          <a:xfrm>
            <a:off x="4607719" y="2848180"/>
            <a:ext cx="122337" cy="114300"/>
          </a:xfrm>
          <a:prstGeom prst="rect">
            <a:avLst/>
          </a:prstGeom>
          <a:noFill/>
          <a:ln/>
        </p:spPr>
        <p:txBody>
          <a:bodyPr wrap="none" lIns="0" tIns="0" rIns="0" bIns="0" rtlCol="0" anchor="t">
            <a:spAutoFit/>
          </a:bodyPr>
          <a:lstStyle/>
          <a:p>
            <a:pPr algn="l" indent="0" marL="0">
              <a:buNone/>
            </a:pPr>
            <a:r>
              <a:rPr lang="en-US" sz="700" b="1" dirty="0">
                <a:solidFill>
                  <a:srgbClr val="F4B942"/>
                </a:solidFill>
                <a:latin typeface="Arial" pitchFamily="34" charset="0"/>
                <a:ea typeface="Arial" pitchFamily="34" charset="-122"/>
                <a:cs typeface="Arial" pitchFamily="34" charset="-120"/>
              </a:rPr>
              <a:t>S1</a:t>
            </a:r>
            <a:endParaRPr lang="en-US" sz="700" dirty="0"/>
          </a:p>
        </p:txBody>
      </p:sp>
      <p:sp>
        <p:nvSpPr>
          <p:cNvPr id="46" name="Text 34"/>
          <p:cNvSpPr/>
          <p:nvPr/>
        </p:nvSpPr>
        <p:spPr>
          <a:xfrm>
            <a:off x="6810784" y="2848180"/>
            <a:ext cx="1618841" cy="114300"/>
          </a:xfrm>
          <a:prstGeom prst="rect">
            <a:avLst/>
          </a:prstGeom>
          <a:noFill/>
          <a:ln/>
        </p:spPr>
        <p:txBody>
          <a:bodyPr wrap="square" lIns="0" tIns="0" rIns="0" bIns="0" rtlCol="0" anchor="t">
            <a:spAutoFit/>
          </a:bodyPr>
          <a:lstStyle/>
          <a:p>
            <a:pPr algn="l" indent="0" marL="0">
              <a:buNone/>
            </a:pPr>
            <a:r>
              <a:rPr lang="en-US" sz="750" dirty="0">
                <a:solidFill>
                  <a:srgbClr val="FFFFFF"/>
                </a:solidFill>
                <a:latin typeface="Arial" pitchFamily="34" charset="0"/>
                <a:ea typeface="Arial" pitchFamily="34" charset="-122"/>
                <a:cs typeface="Arial" pitchFamily="34" charset="-120"/>
              </a:rPr>
              <a:t>Scaffold Monorepo + Auth cross-app</a:t>
            </a:r>
            <a:endParaRPr lang="en-US" sz="750" dirty="0"/>
          </a:p>
        </p:txBody>
      </p:sp>
      <p:sp>
        <p:nvSpPr>
          <p:cNvPr id="47" name="Text 35"/>
          <p:cNvSpPr/>
          <p:nvPr/>
        </p:nvSpPr>
        <p:spPr>
          <a:xfrm>
            <a:off x="4607719" y="3055348"/>
            <a:ext cx="277992" cy="114300"/>
          </a:xfrm>
          <a:prstGeom prst="rect">
            <a:avLst/>
          </a:prstGeom>
          <a:noFill/>
          <a:ln/>
        </p:spPr>
        <p:txBody>
          <a:bodyPr wrap="none" lIns="0" tIns="0" rIns="0" bIns="0" rtlCol="0" anchor="t">
            <a:spAutoFit/>
          </a:bodyPr>
          <a:lstStyle/>
          <a:p>
            <a:pPr algn="l" indent="0" marL="0">
              <a:buNone/>
            </a:pPr>
            <a:r>
              <a:rPr lang="en-US" sz="700" b="1" dirty="0">
                <a:solidFill>
                  <a:srgbClr val="F4B942"/>
                </a:solidFill>
                <a:latin typeface="Arial" pitchFamily="34" charset="0"/>
                <a:ea typeface="Arial" pitchFamily="34" charset="-122"/>
                <a:cs typeface="Arial" pitchFamily="34" charset="-120"/>
              </a:rPr>
              <a:t>S2-S3</a:t>
            </a:r>
            <a:endParaRPr lang="en-US" sz="700" dirty="0"/>
          </a:p>
        </p:txBody>
      </p:sp>
      <p:sp>
        <p:nvSpPr>
          <p:cNvPr id="48" name="Text 36"/>
          <p:cNvSpPr/>
          <p:nvPr/>
        </p:nvSpPr>
        <p:spPr>
          <a:xfrm>
            <a:off x="6601104" y="3055348"/>
            <a:ext cx="1828521" cy="114300"/>
          </a:xfrm>
          <a:prstGeom prst="rect">
            <a:avLst/>
          </a:prstGeom>
          <a:noFill/>
          <a:ln/>
        </p:spPr>
        <p:txBody>
          <a:bodyPr wrap="square" lIns="0" tIns="0" rIns="0" bIns="0" rtlCol="0" anchor="t">
            <a:spAutoFit/>
          </a:bodyPr>
          <a:lstStyle/>
          <a:p>
            <a:pPr algn="l" indent="0" marL="0">
              <a:buNone/>
            </a:pPr>
            <a:r>
              <a:rPr lang="en-US" sz="750" dirty="0">
                <a:solidFill>
                  <a:srgbClr val="FFFFFF"/>
                </a:solidFill>
                <a:latin typeface="Arial" pitchFamily="34" charset="0"/>
                <a:ea typeface="Arial" pitchFamily="34" charset="-122"/>
                <a:cs typeface="Arial" pitchFamily="34" charset="-120"/>
              </a:rPr>
              <a:t>CRUDs API + Portal www + Wizards web</a:t>
            </a:r>
            <a:endParaRPr lang="en-US" sz="750" dirty="0"/>
          </a:p>
        </p:txBody>
      </p:sp>
      <p:sp>
        <p:nvSpPr>
          <p:cNvPr id="49" name="Text 37"/>
          <p:cNvSpPr/>
          <p:nvPr/>
        </p:nvSpPr>
        <p:spPr>
          <a:xfrm>
            <a:off x="4607719" y="3262517"/>
            <a:ext cx="122337" cy="114300"/>
          </a:xfrm>
          <a:prstGeom prst="rect">
            <a:avLst/>
          </a:prstGeom>
          <a:noFill/>
          <a:ln/>
        </p:spPr>
        <p:txBody>
          <a:bodyPr wrap="none" lIns="0" tIns="0" rIns="0" bIns="0" rtlCol="0" anchor="t">
            <a:spAutoFit/>
          </a:bodyPr>
          <a:lstStyle/>
          <a:p>
            <a:pPr algn="l" indent="0" marL="0">
              <a:buNone/>
            </a:pPr>
            <a:r>
              <a:rPr lang="en-US" sz="700" b="1" dirty="0">
                <a:solidFill>
                  <a:srgbClr val="F4B942"/>
                </a:solidFill>
                <a:latin typeface="Arial" pitchFamily="34" charset="0"/>
                <a:ea typeface="Arial" pitchFamily="34" charset="-122"/>
                <a:cs typeface="Arial" pitchFamily="34" charset="-120"/>
              </a:rPr>
              <a:t>S4</a:t>
            </a:r>
            <a:endParaRPr lang="en-US" sz="700" dirty="0"/>
          </a:p>
        </p:txBody>
      </p:sp>
      <p:sp>
        <p:nvSpPr>
          <p:cNvPr id="50" name="Text 38"/>
          <p:cNvSpPr/>
          <p:nvPr/>
        </p:nvSpPr>
        <p:spPr>
          <a:xfrm>
            <a:off x="6645250" y="3262517"/>
            <a:ext cx="1784375" cy="114300"/>
          </a:xfrm>
          <a:prstGeom prst="rect">
            <a:avLst/>
          </a:prstGeom>
          <a:noFill/>
          <a:ln/>
        </p:spPr>
        <p:txBody>
          <a:bodyPr wrap="square" lIns="0" tIns="0" rIns="0" bIns="0" rtlCol="0" anchor="t">
            <a:spAutoFit/>
          </a:bodyPr>
          <a:lstStyle/>
          <a:p>
            <a:pPr algn="l" indent="0" marL="0">
              <a:buNone/>
            </a:pPr>
            <a:r>
              <a:rPr lang="en-US" sz="750" dirty="0">
                <a:solidFill>
                  <a:srgbClr val="FFFFFF"/>
                </a:solidFill>
                <a:latin typeface="Arial" pitchFamily="34" charset="0"/>
                <a:ea typeface="Arial" pitchFamily="34" charset="-122"/>
                <a:cs typeface="Arial" pitchFamily="34" charset="-120"/>
              </a:rPr>
              <a:t>Motor de Search &amp; Match (Embeddings)</a:t>
            </a:r>
            <a:endParaRPr lang="en-US" sz="750" dirty="0"/>
          </a:p>
        </p:txBody>
      </p:sp>
      <p:sp>
        <p:nvSpPr>
          <p:cNvPr id="51" name="Text 39"/>
          <p:cNvSpPr/>
          <p:nvPr/>
        </p:nvSpPr>
        <p:spPr>
          <a:xfrm>
            <a:off x="4607719" y="3469686"/>
            <a:ext cx="122337" cy="114300"/>
          </a:xfrm>
          <a:prstGeom prst="rect">
            <a:avLst/>
          </a:prstGeom>
          <a:noFill/>
          <a:ln/>
        </p:spPr>
        <p:txBody>
          <a:bodyPr wrap="none" lIns="0" tIns="0" rIns="0" bIns="0" rtlCol="0" anchor="t">
            <a:spAutoFit/>
          </a:bodyPr>
          <a:lstStyle/>
          <a:p>
            <a:pPr algn="l" indent="0" marL="0">
              <a:buNone/>
            </a:pPr>
            <a:r>
              <a:rPr lang="en-US" sz="700" b="1" dirty="0">
                <a:solidFill>
                  <a:srgbClr val="F4B942"/>
                </a:solidFill>
                <a:latin typeface="Arial" pitchFamily="34" charset="0"/>
                <a:ea typeface="Arial" pitchFamily="34" charset="-122"/>
                <a:cs typeface="Arial" pitchFamily="34" charset="-120"/>
              </a:rPr>
              <a:t>S5</a:t>
            </a:r>
            <a:endParaRPr lang="en-US" sz="700" dirty="0"/>
          </a:p>
        </p:txBody>
      </p:sp>
      <p:sp>
        <p:nvSpPr>
          <p:cNvPr id="52" name="Text 40"/>
          <p:cNvSpPr/>
          <p:nvPr/>
        </p:nvSpPr>
        <p:spPr>
          <a:xfrm>
            <a:off x="6903709" y="3469686"/>
            <a:ext cx="1525916" cy="114300"/>
          </a:xfrm>
          <a:prstGeom prst="rect">
            <a:avLst/>
          </a:prstGeom>
          <a:noFill/>
          <a:ln/>
        </p:spPr>
        <p:txBody>
          <a:bodyPr wrap="square" lIns="0" tIns="0" rIns="0" bIns="0" rtlCol="0" anchor="t">
            <a:spAutoFit/>
          </a:bodyPr>
          <a:lstStyle/>
          <a:p>
            <a:pPr algn="l" indent="0" marL="0">
              <a:buNone/>
            </a:pPr>
            <a:r>
              <a:rPr lang="en-US" sz="750" dirty="0">
                <a:solidFill>
                  <a:srgbClr val="FFFFFF"/>
                </a:solidFill>
                <a:latin typeface="Arial" pitchFamily="34" charset="0"/>
                <a:ea typeface="Arial" pitchFamily="34" charset="-122"/>
                <a:cs typeface="Arial" pitchFamily="34" charset="-120"/>
              </a:rPr>
              <a:t>Conexões (E-mail) + Painel Admin</a:t>
            </a:r>
            <a:endParaRPr lang="en-US" sz="750" dirty="0"/>
          </a:p>
        </p:txBody>
      </p:sp>
      <p:sp>
        <p:nvSpPr>
          <p:cNvPr id="53" name="Text 41"/>
          <p:cNvSpPr/>
          <p:nvPr/>
        </p:nvSpPr>
        <p:spPr>
          <a:xfrm>
            <a:off x="4607719" y="3676855"/>
            <a:ext cx="122337" cy="114300"/>
          </a:xfrm>
          <a:prstGeom prst="rect">
            <a:avLst/>
          </a:prstGeom>
          <a:noFill/>
          <a:ln/>
        </p:spPr>
        <p:txBody>
          <a:bodyPr wrap="none" lIns="0" tIns="0" rIns="0" bIns="0" rtlCol="0" anchor="t">
            <a:spAutoFit/>
          </a:bodyPr>
          <a:lstStyle/>
          <a:p>
            <a:pPr algn="l" indent="0" marL="0">
              <a:buNone/>
            </a:pPr>
            <a:r>
              <a:rPr lang="en-US" sz="700" b="1" dirty="0">
                <a:solidFill>
                  <a:srgbClr val="F4B942"/>
                </a:solidFill>
                <a:latin typeface="Arial" pitchFamily="34" charset="0"/>
                <a:ea typeface="Arial" pitchFamily="34" charset="-122"/>
                <a:cs typeface="Arial" pitchFamily="34" charset="-120"/>
              </a:rPr>
              <a:t>S6</a:t>
            </a:r>
            <a:endParaRPr lang="en-US" sz="700" dirty="0"/>
          </a:p>
        </p:txBody>
      </p:sp>
      <p:sp>
        <p:nvSpPr>
          <p:cNvPr id="54" name="Text 42"/>
          <p:cNvSpPr/>
          <p:nvPr/>
        </p:nvSpPr>
        <p:spPr>
          <a:xfrm>
            <a:off x="7025767" y="3676855"/>
            <a:ext cx="1403858" cy="114300"/>
          </a:xfrm>
          <a:prstGeom prst="rect">
            <a:avLst/>
          </a:prstGeom>
          <a:noFill/>
          <a:ln/>
        </p:spPr>
        <p:txBody>
          <a:bodyPr wrap="square" lIns="0" tIns="0" rIns="0" bIns="0" rtlCol="0" anchor="t">
            <a:spAutoFit/>
          </a:bodyPr>
          <a:lstStyle/>
          <a:p>
            <a:pPr algn="l" indent="0" marL="0">
              <a:buNone/>
            </a:pPr>
            <a:r>
              <a:rPr lang="en-US" sz="750" dirty="0">
                <a:solidFill>
                  <a:srgbClr val="FFFFFF"/>
                </a:solidFill>
                <a:latin typeface="Arial" pitchFamily="34" charset="0"/>
                <a:ea typeface="Arial" pitchFamily="34" charset="-122"/>
                <a:cs typeface="Arial" pitchFamily="34" charset="-120"/>
              </a:rPr>
              <a:t>Seed Embrapa + Staging Nginx</a:t>
            </a:r>
            <a:endParaRPr lang="en-US" sz="750" dirty="0"/>
          </a:p>
        </p:txBody>
      </p:sp>
      <p:sp>
        <p:nvSpPr>
          <p:cNvPr id="55" name="Shape 43"/>
          <p:cNvSpPr/>
          <p:nvPr/>
        </p:nvSpPr>
        <p:spPr>
          <a:xfrm>
            <a:off x="4464844" y="4384086"/>
            <a:ext cx="4107656" cy="285750"/>
          </a:xfrm>
          <a:prstGeom prst="rect">
            <a:avLst/>
          </a:prstGeom>
          <a:solidFill>
            <a:srgbClr val="EBF8FF"/>
          </a:solidFill>
          <a:ln/>
        </p:spPr>
      </p:sp>
      <p:sp>
        <p:nvSpPr>
          <p:cNvPr id="56" name="Shape 44"/>
          <p:cNvSpPr/>
          <p:nvPr/>
        </p:nvSpPr>
        <p:spPr>
          <a:xfrm>
            <a:off x="4464844" y="4384086"/>
            <a:ext cx="28575" cy="285750"/>
          </a:xfrm>
          <a:prstGeom prst="rect">
            <a:avLst/>
          </a:prstGeom>
          <a:solidFill>
            <a:srgbClr val="00B4D8"/>
          </a:solidFill>
          <a:ln/>
        </p:spPr>
      </p:sp>
      <p:pic>
        <p:nvPicPr>
          <p:cNvPr id="57" name="Image 9" descr="preencoded.png">    </p:cNvPr>
          <p:cNvPicPr>
            <a:picLocks noChangeAspect="1"/>
          </p:cNvPicPr>
          <p:nvPr/>
        </p:nvPicPr>
        <p:blipFill>
          <a:blip r:embed="rId10"/>
          <a:stretch>
            <a:fillRect/>
          </a:stretch>
        </p:blipFill>
        <p:spPr>
          <a:xfrm>
            <a:off x="4607719" y="4473383"/>
            <a:ext cx="89297" cy="100013"/>
          </a:xfrm>
          <a:prstGeom prst="rect">
            <a:avLst/>
          </a:prstGeom>
        </p:spPr>
      </p:pic>
      <p:sp>
        <p:nvSpPr>
          <p:cNvPr id="58" name="Text 45"/>
          <p:cNvSpPr/>
          <p:nvPr/>
        </p:nvSpPr>
        <p:spPr>
          <a:xfrm>
            <a:off x="4697016" y="4469811"/>
            <a:ext cx="3317770" cy="110728"/>
          </a:xfrm>
          <a:prstGeom prst="rect">
            <a:avLst/>
          </a:prstGeom>
          <a:noFill/>
          <a:ln/>
        </p:spPr>
        <p:txBody>
          <a:bodyPr wrap="square" lIns="0" tIns="0" rIns="0" bIns="0" rtlCol="0" anchor="t">
            <a:spAutoFit/>
          </a:bodyPr>
          <a:lstStyle/>
          <a:p>
            <a:pPr algn="l" indent="0" marL="0">
              <a:buNone/>
            </a:pPr>
            <a:r>
              <a:rPr lang="en-US" sz="700" b="1" dirty="0">
                <a:solidFill>
                  <a:srgbClr val="2C5282"/>
                </a:solidFill>
                <a:latin typeface="Arial" pitchFamily="34" charset="0"/>
                <a:ea typeface="Arial" pitchFamily="34" charset="-122"/>
                <a:cs typeface="Arial" pitchFamily="34" charset="-120"/>
              </a:rPr>
              <a:t>Infra: Docker Compose (MySQL + Redis + 3 Apps) em Staging HTTPS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28625"/>
            <a:ext cx="8001000" cy="150019"/>
          </a:xfrm>
          <a:prstGeom prst="rect">
            <a:avLst/>
          </a:prstGeom>
          <a:noFill/>
          <a:ln/>
        </p:spPr>
        <p:txBody>
          <a:bodyPr wrap="square" lIns="0" tIns="0" rIns="0" bIns="0" rtlCol="0" anchor="t">
            <a:spAutoFit/>
          </a:bodyPr>
          <a:lstStyle/>
          <a:p>
            <a:pPr algn="l" indent="0" marL="0">
              <a:buNone/>
            </a:pPr>
            <a:r>
              <a:rPr lang="en-US" sz="900" b="1" spc="2" kern="0" dirty="0">
                <a:solidFill>
                  <a:srgbClr val="00B4D8"/>
                </a:solidFill>
                <a:latin typeface="Arial" pitchFamily="34" charset="0"/>
                <a:ea typeface="Arial" pitchFamily="34" charset="-122"/>
                <a:cs typeface="Arial" pitchFamily="34" charset="-120"/>
              </a:rPr>
              <a:t>11 · CRONOGRAMA E EXECUÇÃO</a:t>
            </a:r>
            <a:endParaRPr lang="en-US" sz="900" dirty="0"/>
          </a:p>
        </p:txBody>
      </p:sp>
      <p:sp>
        <p:nvSpPr>
          <p:cNvPr id="5" name="Text 1"/>
          <p:cNvSpPr/>
          <p:nvPr/>
        </p:nvSpPr>
        <p:spPr>
          <a:xfrm>
            <a:off x="571500" y="650081"/>
            <a:ext cx="8001000" cy="408589"/>
          </a:xfrm>
          <a:prstGeom prst="rect">
            <a:avLst/>
          </a:prstGeom>
          <a:noFill/>
          <a:ln/>
        </p:spPr>
        <p:txBody>
          <a:bodyPr wrap="none" lIns="0" tIns="0" rIns="0" bIns="0" rtlCol="0" anchor="t">
            <a:spAutoFit/>
          </a:bodyPr>
          <a:lstStyle/>
          <a:p>
            <a:pPr algn="l" indent="0" marL="0">
              <a:lnSpc>
                <a:spcPct val="88000"/>
              </a:lnSpc>
              <a:buNone/>
            </a:pPr>
            <a:r>
              <a:rPr lang="en-US" sz="2650" b="1" spc="-1" kern="0" dirty="0">
                <a:solidFill>
                  <a:srgbClr val="0B1D51"/>
                </a:solidFill>
                <a:latin typeface="Arial" pitchFamily="34" charset="0"/>
                <a:ea typeface="Arial" pitchFamily="34" charset="-122"/>
                <a:cs typeface="Arial" pitchFamily="34" charset="-120"/>
              </a:rPr>
              <a:t>Seis semanas para provar o ciclo completo</a:t>
            </a:r>
            <a:endParaRPr lang="en-US" sz="2650" dirty="0"/>
          </a:p>
        </p:txBody>
      </p:sp>
      <p:sp>
        <p:nvSpPr>
          <p:cNvPr id="6" name="Shape 2"/>
          <p:cNvSpPr/>
          <p:nvPr/>
        </p:nvSpPr>
        <p:spPr>
          <a:xfrm>
            <a:off x="550069" y="1344420"/>
            <a:ext cx="85725" cy="85725"/>
          </a:xfrm>
          <a:prstGeom prst="rect">
            <a:avLst/>
          </a:prstGeom>
          <a:solidFill>
            <a:srgbClr val="00B4D8"/>
          </a:solidFill>
          <a:ln w="18288">
            <a:solidFill>
              <a:srgbClr val="FFFFFF"/>
            </a:solidFill>
            <a:prstDash val="solid"/>
          </a:ln>
        </p:spPr>
      </p:sp>
      <p:sp>
        <p:nvSpPr>
          <p:cNvPr id="7" name="Text 3"/>
          <p:cNvSpPr/>
          <p:nvPr/>
        </p:nvSpPr>
        <p:spPr>
          <a:xfrm>
            <a:off x="814388" y="1308702"/>
            <a:ext cx="3926439" cy="114300"/>
          </a:xfrm>
          <a:prstGeom prst="rect">
            <a:avLst/>
          </a:prstGeom>
          <a:noFill/>
          <a:ln/>
        </p:spPr>
        <p:txBody>
          <a:bodyPr wrap="square" lIns="0" tIns="0" rIns="0" bIns="0" rtlCol="0" anchor="t">
            <a:spAutoFit/>
          </a:bodyPr>
          <a:lstStyle/>
          <a:p>
            <a:pPr algn="l" indent="0" marL="0">
              <a:buNone/>
            </a:pPr>
            <a:r>
              <a:rPr lang="en-US" sz="700" b="1" dirty="0">
                <a:solidFill>
                  <a:srgbClr val="718096"/>
                </a:solidFill>
                <a:latin typeface="Arial" pitchFamily="34" charset="0"/>
                <a:ea typeface="Arial" pitchFamily="34" charset="-122"/>
                <a:cs typeface="Arial" pitchFamily="34" charset="-120"/>
              </a:rPr>
              <a:t>02 – 13 SETEMBRO</a:t>
            </a:r>
            <a:endParaRPr lang="en-US" sz="700" dirty="0"/>
          </a:p>
        </p:txBody>
      </p:sp>
      <p:sp>
        <p:nvSpPr>
          <p:cNvPr id="8" name="Text 4"/>
          <p:cNvSpPr/>
          <p:nvPr/>
        </p:nvSpPr>
        <p:spPr>
          <a:xfrm>
            <a:off x="814388" y="1437289"/>
            <a:ext cx="3926439" cy="153591"/>
          </a:xfrm>
          <a:prstGeom prst="rect">
            <a:avLst/>
          </a:prstGeom>
          <a:noFill/>
          <a:ln/>
        </p:spPr>
        <p:txBody>
          <a:bodyPr wrap="squar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Fundação e Cadastros</a:t>
            </a:r>
            <a:endParaRPr lang="en-US" sz="950" dirty="0"/>
          </a:p>
        </p:txBody>
      </p:sp>
      <p:sp>
        <p:nvSpPr>
          <p:cNvPr id="9" name="Text 5"/>
          <p:cNvSpPr/>
          <p:nvPr/>
        </p:nvSpPr>
        <p:spPr>
          <a:xfrm>
            <a:off x="814388" y="1605167"/>
            <a:ext cx="3926439" cy="132159"/>
          </a:xfrm>
          <a:prstGeom prst="rect">
            <a:avLst/>
          </a:prstGeom>
          <a:noFill/>
          <a:ln/>
        </p:spPr>
        <p:txBody>
          <a:bodyPr wrap="square" lIns="0" tIns="0" rIns="0" bIns="0" rtlCol="0" anchor="t">
            <a:spAutoFit/>
          </a:bodyPr>
          <a:lstStyle/>
          <a:p>
            <a:pPr algn="l" indent="0" marL="0">
              <a:buNone/>
            </a:pPr>
            <a:r>
              <a:rPr lang="en-US" sz="850" dirty="0">
                <a:solidFill>
                  <a:srgbClr val="4A5568"/>
                </a:solidFill>
                <a:latin typeface="Arial" pitchFamily="34" charset="0"/>
                <a:ea typeface="Arial" pitchFamily="34" charset="-122"/>
                <a:cs typeface="Arial" pitchFamily="34" charset="-120"/>
              </a:rPr>
              <a:t>Estrutura, login e criação de organizações/soluções.</a:t>
            </a:r>
            <a:endParaRPr lang="en-US" sz="850" dirty="0"/>
          </a:p>
        </p:txBody>
      </p:sp>
      <p:sp>
        <p:nvSpPr>
          <p:cNvPr id="10" name="Shape 6"/>
          <p:cNvSpPr/>
          <p:nvPr/>
        </p:nvSpPr>
        <p:spPr>
          <a:xfrm>
            <a:off x="550069" y="1930208"/>
            <a:ext cx="85725" cy="85725"/>
          </a:xfrm>
          <a:prstGeom prst="rect">
            <a:avLst/>
          </a:prstGeom>
          <a:solidFill>
            <a:srgbClr val="00B4D8"/>
          </a:solidFill>
          <a:ln w="18288">
            <a:solidFill>
              <a:srgbClr val="FFFFFF"/>
            </a:solidFill>
            <a:prstDash val="solid"/>
          </a:ln>
        </p:spPr>
      </p:sp>
      <p:sp>
        <p:nvSpPr>
          <p:cNvPr id="11" name="Text 7"/>
          <p:cNvSpPr/>
          <p:nvPr/>
        </p:nvSpPr>
        <p:spPr>
          <a:xfrm>
            <a:off x="814388" y="1894489"/>
            <a:ext cx="3926439" cy="114300"/>
          </a:xfrm>
          <a:prstGeom prst="rect">
            <a:avLst/>
          </a:prstGeom>
          <a:noFill/>
          <a:ln/>
        </p:spPr>
        <p:txBody>
          <a:bodyPr wrap="square" lIns="0" tIns="0" rIns="0" bIns="0" rtlCol="0" anchor="t">
            <a:spAutoFit/>
          </a:bodyPr>
          <a:lstStyle/>
          <a:p>
            <a:pPr algn="l" indent="0" marL="0">
              <a:buNone/>
            </a:pPr>
            <a:r>
              <a:rPr lang="en-US" sz="700" b="1" dirty="0">
                <a:solidFill>
                  <a:srgbClr val="718096"/>
                </a:solidFill>
                <a:latin typeface="Arial" pitchFamily="34" charset="0"/>
                <a:ea typeface="Arial" pitchFamily="34" charset="-122"/>
                <a:cs typeface="Arial" pitchFamily="34" charset="-120"/>
              </a:rPr>
              <a:t>16 – 27 SETEMBRO</a:t>
            </a:r>
            <a:endParaRPr lang="en-US" sz="700" dirty="0"/>
          </a:p>
        </p:txBody>
      </p:sp>
      <p:sp>
        <p:nvSpPr>
          <p:cNvPr id="12" name="Text 8"/>
          <p:cNvSpPr/>
          <p:nvPr/>
        </p:nvSpPr>
        <p:spPr>
          <a:xfrm>
            <a:off x="814388" y="2023077"/>
            <a:ext cx="3926439" cy="153591"/>
          </a:xfrm>
          <a:prstGeom prst="rect">
            <a:avLst/>
          </a:prstGeom>
          <a:noFill/>
          <a:ln/>
        </p:spPr>
        <p:txBody>
          <a:bodyPr wrap="squar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Portal, Busca e Match</a:t>
            </a:r>
            <a:endParaRPr lang="en-US" sz="950" dirty="0"/>
          </a:p>
        </p:txBody>
      </p:sp>
      <p:sp>
        <p:nvSpPr>
          <p:cNvPr id="13" name="Text 9"/>
          <p:cNvSpPr/>
          <p:nvPr/>
        </p:nvSpPr>
        <p:spPr>
          <a:xfrm>
            <a:off x="814388" y="2190955"/>
            <a:ext cx="3926439" cy="132159"/>
          </a:xfrm>
          <a:prstGeom prst="rect">
            <a:avLst/>
          </a:prstGeom>
          <a:noFill/>
          <a:ln/>
        </p:spPr>
        <p:txBody>
          <a:bodyPr wrap="square" lIns="0" tIns="0" rIns="0" bIns="0" rtlCol="0" anchor="t">
            <a:spAutoFit/>
          </a:bodyPr>
          <a:lstStyle/>
          <a:p>
            <a:pPr algn="l" indent="0" marL="0">
              <a:buNone/>
            </a:pPr>
            <a:r>
              <a:rPr lang="en-US" sz="850" dirty="0">
                <a:solidFill>
                  <a:srgbClr val="4A5568"/>
                </a:solidFill>
                <a:latin typeface="Arial" pitchFamily="34" charset="0"/>
                <a:ea typeface="Arial" pitchFamily="34" charset="-122"/>
                <a:cs typeface="Arial" pitchFamily="34" charset="-120"/>
              </a:rPr>
              <a:t>Catálogo navegável e motor de score em funcionamento.</a:t>
            </a:r>
            <a:endParaRPr lang="en-US" sz="850" dirty="0"/>
          </a:p>
        </p:txBody>
      </p:sp>
      <p:sp>
        <p:nvSpPr>
          <p:cNvPr id="14" name="Shape 10"/>
          <p:cNvSpPr/>
          <p:nvPr/>
        </p:nvSpPr>
        <p:spPr>
          <a:xfrm>
            <a:off x="550069" y="2515995"/>
            <a:ext cx="85725" cy="85725"/>
          </a:xfrm>
          <a:prstGeom prst="rect">
            <a:avLst/>
          </a:prstGeom>
          <a:solidFill>
            <a:srgbClr val="00B4D8"/>
          </a:solidFill>
          <a:ln w="18288">
            <a:solidFill>
              <a:srgbClr val="FFFFFF"/>
            </a:solidFill>
            <a:prstDash val="solid"/>
          </a:ln>
        </p:spPr>
      </p:sp>
      <p:sp>
        <p:nvSpPr>
          <p:cNvPr id="15" name="Text 11"/>
          <p:cNvSpPr/>
          <p:nvPr/>
        </p:nvSpPr>
        <p:spPr>
          <a:xfrm>
            <a:off x="814388" y="2480277"/>
            <a:ext cx="3926439" cy="114300"/>
          </a:xfrm>
          <a:prstGeom prst="rect">
            <a:avLst/>
          </a:prstGeom>
          <a:noFill/>
          <a:ln/>
        </p:spPr>
        <p:txBody>
          <a:bodyPr wrap="square" lIns="0" tIns="0" rIns="0" bIns="0" rtlCol="0" anchor="t">
            <a:spAutoFit/>
          </a:bodyPr>
          <a:lstStyle/>
          <a:p>
            <a:pPr algn="l" indent="0" marL="0">
              <a:buNone/>
            </a:pPr>
            <a:r>
              <a:rPr lang="en-US" sz="700" b="1" dirty="0">
                <a:solidFill>
                  <a:srgbClr val="718096"/>
                </a:solidFill>
                <a:latin typeface="Arial" pitchFamily="34" charset="0"/>
                <a:ea typeface="Arial" pitchFamily="34" charset="-122"/>
                <a:cs typeface="Arial" pitchFamily="34" charset="-120"/>
              </a:rPr>
              <a:t>30 SET – 04 OUTUBRO</a:t>
            </a:r>
            <a:endParaRPr lang="en-US" sz="700" dirty="0"/>
          </a:p>
        </p:txBody>
      </p:sp>
      <p:sp>
        <p:nvSpPr>
          <p:cNvPr id="16" name="Text 12"/>
          <p:cNvSpPr/>
          <p:nvPr/>
        </p:nvSpPr>
        <p:spPr>
          <a:xfrm>
            <a:off x="814388" y="2608864"/>
            <a:ext cx="3926439" cy="153591"/>
          </a:xfrm>
          <a:prstGeom prst="rect">
            <a:avLst/>
          </a:prstGeom>
          <a:noFill/>
          <a:ln/>
        </p:spPr>
        <p:txBody>
          <a:bodyPr wrap="squar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Conexões e Curadoria</a:t>
            </a:r>
            <a:endParaRPr lang="en-US" sz="950" dirty="0"/>
          </a:p>
        </p:txBody>
      </p:sp>
      <p:sp>
        <p:nvSpPr>
          <p:cNvPr id="17" name="Text 13"/>
          <p:cNvSpPr/>
          <p:nvPr/>
        </p:nvSpPr>
        <p:spPr>
          <a:xfrm>
            <a:off x="814388" y="2776742"/>
            <a:ext cx="3926439" cy="132159"/>
          </a:xfrm>
          <a:prstGeom prst="rect">
            <a:avLst/>
          </a:prstGeom>
          <a:noFill/>
          <a:ln/>
        </p:spPr>
        <p:txBody>
          <a:bodyPr wrap="square" lIns="0" tIns="0" rIns="0" bIns="0" rtlCol="0" anchor="t">
            <a:spAutoFit/>
          </a:bodyPr>
          <a:lstStyle/>
          <a:p>
            <a:pPr algn="l" indent="0" marL="0">
              <a:buNone/>
            </a:pPr>
            <a:r>
              <a:rPr lang="en-US" sz="850" dirty="0">
                <a:solidFill>
                  <a:srgbClr val="4A5568"/>
                </a:solidFill>
                <a:latin typeface="Arial" pitchFamily="34" charset="0"/>
                <a:ea typeface="Arial" pitchFamily="34" charset="-122"/>
                <a:cs typeface="Arial" pitchFamily="34" charset="-120"/>
              </a:rPr>
              <a:t>Solicitações, notificações por e-mail e revisão administrativa.</a:t>
            </a:r>
            <a:endParaRPr lang="en-US" sz="850" dirty="0"/>
          </a:p>
        </p:txBody>
      </p:sp>
      <p:sp>
        <p:nvSpPr>
          <p:cNvPr id="18" name="Shape 14"/>
          <p:cNvSpPr/>
          <p:nvPr/>
        </p:nvSpPr>
        <p:spPr>
          <a:xfrm>
            <a:off x="550069" y="3101783"/>
            <a:ext cx="85725" cy="85725"/>
          </a:xfrm>
          <a:prstGeom prst="rect">
            <a:avLst/>
          </a:prstGeom>
          <a:solidFill>
            <a:srgbClr val="00B4D8"/>
          </a:solidFill>
          <a:ln w="18288">
            <a:solidFill>
              <a:srgbClr val="FFFFFF"/>
            </a:solidFill>
            <a:prstDash val="solid"/>
          </a:ln>
        </p:spPr>
      </p:sp>
      <p:sp>
        <p:nvSpPr>
          <p:cNvPr id="19" name="Text 15"/>
          <p:cNvSpPr/>
          <p:nvPr/>
        </p:nvSpPr>
        <p:spPr>
          <a:xfrm>
            <a:off x="814388" y="3066064"/>
            <a:ext cx="3926439" cy="114300"/>
          </a:xfrm>
          <a:prstGeom prst="rect">
            <a:avLst/>
          </a:prstGeom>
          <a:noFill/>
          <a:ln/>
        </p:spPr>
        <p:txBody>
          <a:bodyPr wrap="square" lIns="0" tIns="0" rIns="0" bIns="0" rtlCol="0" anchor="t">
            <a:spAutoFit/>
          </a:bodyPr>
          <a:lstStyle/>
          <a:p>
            <a:pPr algn="l" indent="0" marL="0">
              <a:buNone/>
            </a:pPr>
            <a:r>
              <a:rPr lang="en-US" sz="700" b="1" dirty="0">
                <a:solidFill>
                  <a:srgbClr val="718096"/>
                </a:solidFill>
                <a:latin typeface="Arial" pitchFamily="34" charset="0"/>
                <a:ea typeface="Arial" pitchFamily="34" charset="-122"/>
                <a:cs typeface="Arial" pitchFamily="34" charset="-120"/>
              </a:rPr>
              <a:t>07 – 11 OUTUBRO</a:t>
            </a:r>
            <a:endParaRPr lang="en-US" sz="700" dirty="0"/>
          </a:p>
        </p:txBody>
      </p:sp>
      <p:sp>
        <p:nvSpPr>
          <p:cNvPr id="20" name="Text 16"/>
          <p:cNvSpPr/>
          <p:nvPr/>
        </p:nvSpPr>
        <p:spPr>
          <a:xfrm>
            <a:off x="814388" y="3194652"/>
            <a:ext cx="3926439" cy="153591"/>
          </a:xfrm>
          <a:prstGeom prst="rect">
            <a:avLst/>
          </a:prstGeom>
          <a:noFill/>
          <a:ln/>
        </p:spPr>
        <p:txBody>
          <a:bodyPr wrap="squar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Conteúdo e Preparação</a:t>
            </a:r>
            <a:endParaRPr lang="en-US" sz="950" dirty="0"/>
          </a:p>
        </p:txBody>
      </p:sp>
      <p:sp>
        <p:nvSpPr>
          <p:cNvPr id="21" name="Text 17"/>
          <p:cNvSpPr/>
          <p:nvPr/>
        </p:nvSpPr>
        <p:spPr>
          <a:xfrm>
            <a:off x="814388" y="3362530"/>
            <a:ext cx="3926439" cy="132159"/>
          </a:xfrm>
          <a:prstGeom prst="rect">
            <a:avLst/>
          </a:prstGeom>
          <a:noFill/>
          <a:ln/>
        </p:spPr>
        <p:txBody>
          <a:bodyPr wrap="square" lIns="0" tIns="0" rIns="0" bIns="0" rtlCol="0" anchor="t">
            <a:spAutoFit/>
          </a:bodyPr>
          <a:lstStyle/>
          <a:p>
            <a:pPr algn="l" indent="0" marL="0">
              <a:buNone/>
            </a:pPr>
            <a:r>
              <a:rPr lang="en-US" sz="850" dirty="0">
                <a:solidFill>
                  <a:srgbClr val="4A5568"/>
                </a:solidFill>
                <a:latin typeface="Arial" pitchFamily="34" charset="0"/>
                <a:ea typeface="Arial" pitchFamily="34" charset="-122"/>
                <a:cs typeface="Arial" pitchFamily="34" charset="-120"/>
              </a:rPr>
              <a:t>Carga de catálogo Embrapa e ambiente de demonstração.</a:t>
            </a:r>
            <a:endParaRPr lang="en-US" sz="850" dirty="0"/>
          </a:p>
        </p:txBody>
      </p:sp>
      <p:sp>
        <p:nvSpPr>
          <p:cNvPr id="22" name="Shape 18"/>
          <p:cNvSpPr/>
          <p:nvPr/>
        </p:nvSpPr>
        <p:spPr>
          <a:xfrm>
            <a:off x="535781" y="3687570"/>
            <a:ext cx="114300" cy="114300"/>
          </a:xfrm>
          <a:prstGeom prst="rect">
            <a:avLst/>
          </a:prstGeom>
          <a:solidFill>
            <a:srgbClr val="F4B942"/>
          </a:solidFill>
          <a:ln w="18288">
            <a:solidFill>
              <a:srgbClr val="FFFFFF"/>
            </a:solidFill>
            <a:prstDash val="solid"/>
          </a:ln>
        </p:spPr>
      </p:sp>
      <p:sp>
        <p:nvSpPr>
          <p:cNvPr id="23" name="Text 19"/>
          <p:cNvSpPr/>
          <p:nvPr/>
        </p:nvSpPr>
        <p:spPr>
          <a:xfrm>
            <a:off x="814388" y="3651852"/>
            <a:ext cx="3926439" cy="114300"/>
          </a:xfrm>
          <a:prstGeom prst="rect">
            <a:avLst/>
          </a:prstGeom>
          <a:noFill/>
          <a:ln/>
        </p:spPr>
        <p:txBody>
          <a:bodyPr wrap="square" lIns="0" tIns="0" rIns="0" bIns="0" rtlCol="0" anchor="t">
            <a:spAutoFit/>
          </a:bodyPr>
          <a:lstStyle/>
          <a:p>
            <a:pPr algn="l" indent="0" marL="0">
              <a:buNone/>
            </a:pPr>
            <a:r>
              <a:rPr lang="en-US" sz="700" b="1" dirty="0">
                <a:solidFill>
                  <a:srgbClr val="718096"/>
                </a:solidFill>
                <a:latin typeface="Arial" pitchFamily="34" charset="0"/>
                <a:ea typeface="Arial" pitchFamily="34" charset="-122"/>
                <a:cs typeface="Arial" pitchFamily="34" charset="-120"/>
              </a:rPr>
              <a:t>15 OUTUBRO</a:t>
            </a:r>
            <a:endParaRPr lang="en-US" sz="700" dirty="0"/>
          </a:p>
        </p:txBody>
      </p:sp>
      <p:sp>
        <p:nvSpPr>
          <p:cNvPr id="24" name="Text 20"/>
          <p:cNvSpPr/>
          <p:nvPr/>
        </p:nvSpPr>
        <p:spPr>
          <a:xfrm>
            <a:off x="814388" y="3780439"/>
            <a:ext cx="3926439" cy="153591"/>
          </a:xfrm>
          <a:prstGeom prst="rect">
            <a:avLst/>
          </a:prstGeom>
          <a:noFill/>
          <a:ln/>
        </p:spPr>
        <p:txBody>
          <a:bodyPr wrap="square" lIns="0" tIns="0" rIns="0" bIns="0" rtlCol="0" anchor="t">
            <a:spAutoFit/>
          </a:bodyPr>
          <a:lstStyle/>
          <a:p>
            <a:pPr algn="l" indent="0" marL="0">
              <a:buNone/>
            </a:pPr>
            <a:r>
              <a:rPr lang="en-US" sz="950" b="1" dirty="0">
                <a:solidFill>
                  <a:srgbClr val="0B1D51"/>
                </a:solidFill>
                <a:latin typeface="Arial" pitchFamily="34" charset="0"/>
                <a:ea typeface="Arial" pitchFamily="34" charset="-122"/>
                <a:cs typeface="Arial" pitchFamily="34" charset="-120"/>
              </a:rPr>
              <a:t>DEMONSTRAÇÃO DO MVP</a:t>
            </a:r>
            <a:endParaRPr lang="en-US" sz="950" dirty="0"/>
          </a:p>
        </p:txBody>
      </p:sp>
      <p:sp>
        <p:nvSpPr>
          <p:cNvPr id="25" name="Text 21"/>
          <p:cNvSpPr/>
          <p:nvPr/>
        </p:nvSpPr>
        <p:spPr>
          <a:xfrm>
            <a:off x="814388" y="3948317"/>
            <a:ext cx="3926439" cy="132159"/>
          </a:xfrm>
          <a:prstGeom prst="rect">
            <a:avLst/>
          </a:prstGeom>
          <a:noFill/>
          <a:ln/>
        </p:spPr>
        <p:txBody>
          <a:bodyPr wrap="square" lIns="0" tIns="0" rIns="0" bIns="0" rtlCol="0" anchor="t">
            <a:spAutoFit/>
          </a:bodyPr>
          <a:lstStyle/>
          <a:p>
            <a:pPr algn="l" indent="0" marL="0">
              <a:buNone/>
            </a:pPr>
            <a:r>
              <a:rPr lang="en-US" sz="850" dirty="0">
                <a:solidFill>
                  <a:srgbClr val="4A5568"/>
                </a:solidFill>
                <a:latin typeface="Arial" pitchFamily="34" charset="0"/>
                <a:ea typeface="Arial" pitchFamily="34" charset="-122"/>
                <a:cs typeface="Arial" pitchFamily="34" charset="-120"/>
              </a:rPr>
              <a:t>Apresentação ponta a ponta da jornada de implementação.</a:t>
            </a:r>
            <a:endParaRPr lang="en-US" sz="850" dirty="0"/>
          </a:p>
        </p:txBody>
      </p:sp>
      <p:sp>
        <p:nvSpPr>
          <p:cNvPr id="26" name="Shape 22"/>
          <p:cNvSpPr/>
          <p:nvPr/>
        </p:nvSpPr>
        <p:spPr>
          <a:xfrm>
            <a:off x="5098014" y="1308702"/>
            <a:ext cx="3474430" cy="3007519"/>
          </a:xfrm>
          <a:prstGeom prst="rect">
            <a:avLst/>
          </a:prstGeom>
          <a:solidFill>
            <a:srgbClr val="F7FAFC"/>
          </a:solidFill>
          <a:ln/>
        </p:spPr>
      </p:sp>
      <p:sp>
        <p:nvSpPr>
          <p:cNvPr id="27" name="Shape 23"/>
          <p:cNvSpPr/>
          <p:nvPr/>
        </p:nvSpPr>
        <p:spPr>
          <a:xfrm>
            <a:off x="5098014" y="1308702"/>
            <a:ext cx="3474430" cy="57150"/>
          </a:xfrm>
          <a:prstGeom prst="rect">
            <a:avLst/>
          </a:prstGeom>
          <a:solidFill>
            <a:srgbClr val="0B1D51"/>
          </a:solidFill>
          <a:ln/>
        </p:spPr>
      </p:sp>
      <p:sp>
        <p:nvSpPr>
          <p:cNvPr id="28" name="Text 24"/>
          <p:cNvSpPr/>
          <p:nvPr/>
        </p:nvSpPr>
        <p:spPr>
          <a:xfrm>
            <a:off x="5312327" y="1523014"/>
            <a:ext cx="3045805" cy="160734"/>
          </a:xfrm>
          <a:prstGeom prst="rect">
            <a:avLst/>
          </a:prstGeom>
          <a:noFill/>
          <a:ln/>
        </p:spPr>
        <p:txBody>
          <a:bodyPr wrap="square" lIns="0" tIns="0" rIns="0" bIns="0" rtlCol="0" anchor="t">
            <a:spAutoFit/>
          </a:bodyPr>
          <a:lstStyle/>
          <a:p>
            <a:pPr algn="l" indent="0" marL="0">
              <a:buNone/>
            </a:pPr>
            <a:r>
              <a:rPr lang="en-US" sz="1000" b="1" dirty="0">
                <a:solidFill>
                  <a:srgbClr val="0B1D51"/>
                </a:solidFill>
                <a:latin typeface="Arial" pitchFamily="34" charset="0"/>
                <a:ea typeface="Arial" pitchFamily="34" charset="-122"/>
                <a:cs typeface="Arial" pitchFamily="34" charset="-120"/>
              </a:rPr>
              <a:t>PREMISSAS E RISCOS</a:t>
            </a:r>
            <a:endParaRPr lang="en-US" sz="1000" dirty="0"/>
          </a:p>
        </p:txBody>
      </p:sp>
      <p:pic>
        <p:nvPicPr>
          <p:cNvPr id="29" name="Image 1" descr="preencoded.png">    </p:cNvPr>
          <p:cNvPicPr>
            <a:picLocks noChangeAspect="1"/>
          </p:cNvPicPr>
          <p:nvPr/>
        </p:nvPicPr>
        <p:blipFill>
          <a:blip r:embed="rId2"/>
          <a:stretch>
            <a:fillRect/>
          </a:stretch>
        </p:blipFill>
        <p:spPr>
          <a:xfrm>
            <a:off x="5312327" y="1848055"/>
            <a:ext cx="160734" cy="128588"/>
          </a:xfrm>
          <a:prstGeom prst="rect">
            <a:avLst/>
          </a:prstGeom>
        </p:spPr>
      </p:pic>
      <p:sp>
        <p:nvSpPr>
          <p:cNvPr id="30" name="Text 25"/>
          <p:cNvSpPr/>
          <p:nvPr/>
        </p:nvSpPr>
        <p:spPr>
          <a:xfrm>
            <a:off x="5558786" y="1826623"/>
            <a:ext cx="2799345" cy="139303"/>
          </a:xfrm>
          <a:prstGeom prst="rect">
            <a:avLst/>
          </a:prstGeom>
          <a:noFill/>
          <a:ln/>
        </p:spPr>
        <p:txBody>
          <a:bodyPr wrap="square" lIns="0" tIns="0" rIns="0" bIns="0" rtlCol="0" anchor="t">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Equipe e Conteúdo</a:t>
            </a:r>
            <a:endParaRPr lang="en-US" sz="850" dirty="0"/>
          </a:p>
        </p:txBody>
      </p:sp>
      <p:sp>
        <p:nvSpPr>
          <p:cNvPr id="31" name="Text 26"/>
          <p:cNvSpPr/>
          <p:nvPr/>
        </p:nvSpPr>
        <p:spPr>
          <a:xfrm>
            <a:off x="5558786" y="1994502"/>
            <a:ext cx="2406718"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2 desenvolvedores dedicados e catálogo Embrapa</a:t>
            </a:r>
            <a:endParaRPr lang="en-US" sz="800" dirty="0"/>
          </a:p>
        </p:txBody>
      </p:sp>
      <p:sp>
        <p:nvSpPr>
          <p:cNvPr id="32" name="Text 27"/>
          <p:cNvSpPr/>
          <p:nvPr/>
        </p:nvSpPr>
        <p:spPr>
          <a:xfrm>
            <a:off x="5558786" y="2144520"/>
            <a:ext cx="1054373"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disponível para carga.</a:t>
            </a:r>
            <a:endParaRPr lang="en-US" sz="800" dirty="0"/>
          </a:p>
        </p:txBody>
      </p:sp>
      <p:pic>
        <p:nvPicPr>
          <p:cNvPr id="33" name="Image 2" descr="preencoded.png">    </p:cNvPr>
          <p:cNvPicPr>
            <a:picLocks noChangeAspect="1"/>
          </p:cNvPicPr>
          <p:nvPr/>
        </p:nvPicPr>
        <p:blipFill>
          <a:blip r:embed="rId3"/>
          <a:stretch>
            <a:fillRect/>
          </a:stretch>
        </p:blipFill>
        <p:spPr>
          <a:xfrm>
            <a:off x="5312327" y="2444558"/>
            <a:ext cx="128588" cy="128588"/>
          </a:xfrm>
          <a:prstGeom prst="rect">
            <a:avLst/>
          </a:prstGeom>
        </p:spPr>
      </p:pic>
      <p:sp>
        <p:nvSpPr>
          <p:cNvPr id="34" name="Text 28"/>
          <p:cNvSpPr/>
          <p:nvPr/>
        </p:nvSpPr>
        <p:spPr>
          <a:xfrm>
            <a:off x="5526639" y="2423127"/>
            <a:ext cx="2831492" cy="139303"/>
          </a:xfrm>
          <a:prstGeom prst="rect">
            <a:avLst/>
          </a:prstGeom>
          <a:noFill/>
          <a:ln/>
        </p:spPr>
        <p:txBody>
          <a:bodyPr wrap="square" lIns="0" tIns="0" rIns="0" bIns="0" rtlCol="0" anchor="t">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Risco de Escopo</a:t>
            </a:r>
            <a:endParaRPr lang="en-US" sz="850" dirty="0"/>
          </a:p>
        </p:txBody>
      </p:sp>
      <p:sp>
        <p:nvSpPr>
          <p:cNvPr id="35" name="Text 29"/>
          <p:cNvSpPr/>
          <p:nvPr/>
        </p:nvSpPr>
        <p:spPr>
          <a:xfrm>
            <a:off x="5526639" y="2591005"/>
            <a:ext cx="2430103"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Mitigação: Priorizar jornada demo e postergar itens</a:t>
            </a:r>
            <a:endParaRPr lang="en-US" sz="800" dirty="0"/>
          </a:p>
        </p:txBody>
      </p:sp>
      <p:sp>
        <p:nvSpPr>
          <p:cNvPr id="36" name="Text 30"/>
          <p:cNvSpPr/>
          <p:nvPr/>
        </p:nvSpPr>
        <p:spPr>
          <a:xfrm>
            <a:off x="5526639" y="2741023"/>
            <a:ext cx="612186"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"desejáveis".</a:t>
            </a:r>
            <a:endParaRPr lang="en-US" sz="800" dirty="0"/>
          </a:p>
        </p:txBody>
      </p:sp>
      <p:pic>
        <p:nvPicPr>
          <p:cNvPr id="37" name="Image 3" descr="preencoded.png">    </p:cNvPr>
          <p:cNvPicPr>
            <a:picLocks noChangeAspect="1"/>
          </p:cNvPicPr>
          <p:nvPr/>
        </p:nvPicPr>
        <p:blipFill>
          <a:blip r:embed="rId4"/>
          <a:stretch>
            <a:fillRect/>
          </a:stretch>
        </p:blipFill>
        <p:spPr>
          <a:xfrm>
            <a:off x="5312327" y="3041061"/>
            <a:ext cx="128588" cy="128588"/>
          </a:xfrm>
          <a:prstGeom prst="rect">
            <a:avLst/>
          </a:prstGeom>
        </p:spPr>
      </p:pic>
      <p:sp>
        <p:nvSpPr>
          <p:cNvPr id="38" name="Text 31"/>
          <p:cNvSpPr/>
          <p:nvPr/>
        </p:nvSpPr>
        <p:spPr>
          <a:xfrm>
            <a:off x="5526639" y="3019630"/>
            <a:ext cx="2831492" cy="139303"/>
          </a:xfrm>
          <a:prstGeom prst="rect">
            <a:avLst/>
          </a:prstGeom>
          <a:noFill/>
          <a:ln/>
        </p:spPr>
        <p:txBody>
          <a:bodyPr wrap="square" lIns="0" tIns="0" rIns="0" bIns="0" rtlCol="0" anchor="t">
            <a:spAutoFit/>
          </a:bodyPr>
          <a:lstStyle/>
          <a:p>
            <a:pPr algn="l" indent="0" marL="0">
              <a:buNone/>
            </a:pPr>
            <a:r>
              <a:rPr lang="en-US" sz="850" b="1" dirty="0">
                <a:solidFill>
                  <a:srgbClr val="0B1D51"/>
                </a:solidFill>
                <a:latin typeface="Arial" pitchFamily="34" charset="0"/>
                <a:ea typeface="Arial" pitchFamily="34" charset="-122"/>
                <a:cs typeface="Arial" pitchFamily="34" charset="-120"/>
              </a:rPr>
              <a:t>Governança Inicial</a:t>
            </a:r>
            <a:endParaRPr lang="en-US" sz="850" dirty="0"/>
          </a:p>
        </p:txBody>
      </p:sp>
      <p:sp>
        <p:nvSpPr>
          <p:cNvPr id="39" name="Text 32"/>
          <p:cNvSpPr/>
          <p:nvPr/>
        </p:nvSpPr>
        <p:spPr>
          <a:xfrm>
            <a:off x="5526639" y="3187508"/>
            <a:ext cx="2591005"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Fluxo manual com curador centralizado para a fase de</a:t>
            </a:r>
            <a:endParaRPr lang="en-US" sz="800" dirty="0"/>
          </a:p>
        </p:txBody>
      </p:sp>
      <p:sp>
        <p:nvSpPr>
          <p:cNvPr id="40" name="Text 33"/>
          <p:cNvSpPr/>
          <p:nvPr/>
        </p:nvSpPr>
        <p:spPr>
          <a:xfrm>
            <a:off x="5526639" y="3337527"/>
            <a:ext cx="708850" cy="117872"/>
          </a:xfrm>
          <a:prstGeom prst="rect">
            <a:avLst/>
          </a:prstGeom>
          <a:noFill/>
          <a:ln/>
        </p:spPr>
        <p:txBody>
          <a:bodyPr wrap="none" lIns="0" tIns="0" rIns="0" bIns="0" rtlCol="0" anchor="t">
            <a:spAutoFit/>
          </a:bodyPr>
          <a:lstStyle/>
          <a:p>
            <a:pPr algn="l" indent="0" marL="0">
              <a:lnSpc>
                <a:spcPct val="112000"/>
              </a:lnSpc>
              <a:buNone/>
            </a:pPr>
            <a:r>
              <a:rPr lang="en-US" sz="800" dirty="0">
                <a:solidFill>
                  <a:srgbClr val="4A5568"/>
                </a:solidFill>
                <a:latin typeface="Arial" pitchFamily="34" charset="0"/>
                <a:ea typeface="Arial" pitchFamily="34" charset="-122"/>
                <a:cs typeface="Arial" pitchFamily="34" charset="-120"/>
              </a:rPr>
              <a:t>demonstração.</a:t>
            </a:r>
            <a:endParaRPr lang="en-US" sz="800" dirty="0"/>
          </a:p>
        </p:txBody>
      </p:sp>
      <p:sp>
        <p:nvSpPr>
          <p:cNvPr id="41" name="Shape 34"/>
          <p:cNvSpPr/>
          <p:nvPr/>
        </p:nvSpPr>
        <p:spPr>
          <a:xfrm>
            <a:off x="5312327" y="3687570"/>
            <a:ext cx="3045805" cy="571500"/>
          </a:xfrm>
          <a:prstGeom prst="rect">
            <a:avLst/>
          </a:prstGeom>
          <a:solidFill>
            <a:srgbClr val="F4B942"/>
          </a:solidFill>
          <a:ln/>
        </p:spPr>
      </p:sp>
      <p:pic>
        <p:nvPicPr>
          <p:cNvPr id="42" name="Image 4" descr="preencoded.png">    </p:cNvPr>
          <p:cNvPicPr>
            <a:picLocks noChangeAspect="1"/>
          </p:cNvPicPr>
          <p:nvPr/>
        </p:nvPicPr>
        <p:blipFill>
          <a:blip r:embed="rId5"/>
          <a:stretch>
            <a:fillRect/>
          </a:stretch>
        </p:blipFill>
        <p:spPr>
          <a:xfrm>
            <a:off x="5490921" y="3966177"/>
            <a:ext cx="157163" cy="157163"/>
          </a:xfrm>
          <a:prstGeom prst="rect">
            <a:avLst/>
          </a:prstGeom>
        </p:spPr>
      </p:pic>
      <p:sp>
        <p:nvSpPr>
          <p:cNvPr id="43" name="Text 35"/>
          <p:cNvSpPr/>
          <p:nvPr/>
        </p:nvSpPr>
        <p:spPr>
          <a:xfrm>
            <a:off x="5755239" y="3866164"/>
            <a:ext cx="2424299" cy="357188"/>
          </a:xfrm>
          <a:prstGeom prst="rect">
            <a:avLst/>
          </a:prstGeom>
          <a:noFill/>
          <a:ln/>
        </p:spPr>
        <p:txBody>
          <a:bodyPr wrap="square" lIns="0" tIns="0" rIns="0" bIns="0" rtlCol="0" anchor="t">
            <a:spAutoFit/>
          </a:bodyPr>
          <a:lstStyle/>
          <a:p>
            <a:pPr algn="l" indent="0" marL="0">
              <a:buNone/>
            </a:pPr>
            <a:r>
              <a:rPr lang="en-US" sz="1100" b="1" dirty="0">
                <a:solidFill>
                  <a:srgbClr val="0B1D51"/>
                </a:solidFill>
                <a:latin typeface="Arial" pitchFamily="34" charset="0"/>
                <a:ea typeface="Arial" pitchFamily="34" charset="-122"/>
                <a:cs typeface="Arial" pitchFamily="34" charset="-120"/>
              </a:rPr>
              <a:t>PRÓXIMO PASSO: VALIDAR NÚCLEO DO MVP</a:t>
            </a:r>
            <a:endParaRPr lang="en-US" sz="1100" dirty="0"/>
          </a:p>
        </p:txBody>
      </p:sp>
      <p:sp>
        <p:nvSpPr>
          <p:cNvPr id="44" name="Text 36"/>
          <p:cNvSpPr/>
          <p:nvPr/>
        </p:nvSpPr>
        <p:spPr>
          <a:xfrm>
            <a:off x="571500" y="4707731"/>
            <a:ext cx="4180377" cy="150019"/>
          </a:xfrm>
          <a:prstGeom prst="rect">
            <a:avLst/>
          </a:prstGeom>
          <a:noFill/>
          <a:ln/>
        </p:spPr>
        <p:txBody>
          <a:bodyPr wrap="square" lIns="0" tIns="0" rIns="0" bIns="0" rtlCol="0" anchor="t">
            <a:spAutoFit/>
          </a:bodyPr>
          <a:lstStyle/>
          <a:p>
            <a:pPr algn="l" indent="0" marL="0">
              <a:buNone/>
            </a:pPr>
            <a:r>
              <a:rPr lang="en-US" sz="950" i="1" dirty="0">
                <a:solidFill>
                  <a:srgbClr val="718096"/>
                </a:solidFill>
                <a:latin typeface="Georgia" pitchFamily="34" charset="0"/>
                <a:ea typeface="Georgia" pitchFamily="34" charset="-122"/>
                <a:cs typeface="Georgia" pitchFamily="34" charset="-120"/>
              </a:rPr>
              <a:t>"O objetivo é provar que podemos descobrir, compreender e conectar para agir."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2026-09-03T00:31:41Z</dcterms:created>
  <dcterms:modified xsi:type="dcterms:W3CDTF">2026-09-03T00:31:41Z</dcterms:modified>
</cp:coreProperties>
</file>